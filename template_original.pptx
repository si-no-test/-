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0.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 id="2147483708" r:id="rId2"/>
  </p:sldMasterIdLst>
  <p:notesMasterIdLst>
    <p:notesMasterId r:id="rId14"/>
  </p:notesMasterIdLst>
  <p:handoutMasterIdLst>
    <p:handoutMasterId r:id="rId15"/>
  </p:handoutMasterIdLst>
  <p:sldIdLst>
    <p:sldId id="9315" r:id="rId3"/>
    <p:sldId id="9375" r:id="rId4"/>
    <p:sldId id="9389" r:id="rId5"/>
    <p:sldId id="9390" r:id="rId6"/>
    <p:sldId id="9388" r:id="rId7"/>
    <p:sldId id="9361" r:id="rId8"/>
    <p:sldId id="9385" r:id="rId9"/>
    <p:sldId id="9374" r:id="rId10"/>
    <p:sldId id="9387" r:id="rId11"/>
    <p:sldId id="9380" r:id="rId12"/>
    <p:sldId id="9384" r:id="rId13"/>
  </p:sldIdLst>
  <p:sldSz cx="11949113" cy="6721475"/>
  <p:notesSz cx="6807200" cy="9939338"/>
  <p:custDataLst>
    <p:tags r:id="rId16"/>
  </p:custDataLst>
  <p:defaultTextStyle>
    <a:defPPr>
      <a:defRPr lang="en-US"/>
    </a:defPPr>
    <a:lvl1pPr algn="l" rtl="0" fontAlgn="base">
      <a:spcBef>
        <a:spcPct val="0"/>
      </a:spcBef>
      <a:spcAft>
        <a:spcPct val="0"/>
      </a:spcAft>
      <a:defRPr sz="4000" b="1" kern="1200">
        <a:solidFill>
          <a:schemeClr val="tx1"/>
        </a:solidFill>
        <a:latin typeface="Arial" charset="0"/>
        <a:ea typeface="华文楷体" pitchFamily="2" charset="-122"/>
        <a:cs typeface="+mn-cs"/>
      </a:defRPr>
    </a:lvl1pPr>
    <a:lvl2pPr marL="457200" algn="l" rtl="0" fontAlgn="base">
      <a:spcBef>
        <a:spcPct val="0"/>
      </a:spcBef>
      <a:spcAft>
        <a:spcPct val="0"/>
      </a:spcAft>
      <a:defRPr sz="4000" b="1" kern="1200">
        <a:solidFill>
          <a:schemeClr val="tx1"/>
        </a:solidFill>
        <a:latin typeface="Arial" charset="0"/>
        <a:ea typeface="华文楷体" pitchFamily="2" charset="-122"/>
        <a:cs typeface="+mn-cs"/>
      </a:defRPr>
    </a:lvl2pPr>
    <a:lvl3pPr marL="914400" algn="l" rtl="0" fontAlgn="base">
      <a:spcBef>
        <a:spcPct val="0"/>
      </a:spcBef>
      <a:spcAft>
        <a:spcPct val="0"/>
      </a:spcAft>
      <a:defRPr sz="4000" b="1" kern="1200">
        <a:solidFill>
          <a:schemeClr val="tx1"/>
        </a:solidFill>
        <a:latin typeface="Arial" charset="0"/>
        <a:ea typeface="华文楷体" pitchFamily="2" charset="-122"/>
        <a:cs typeface="+mn-cs"/>
      </a:defRPr>
    </a:lvl3pPr>
    <a:lvl4pPr marL="1371600" algn="l" rtl="0" fontAlgn="base">
      <a:spcBef>
        <a:spcPct val="0"/>
      </a:spcBef>
      <a:spcAft>
        <a:spcPct val="0"/>
      </a:spcAft>
      <a:defRPr sz="4000" b="1" kern="1200">
        <a:solidFill>
          <a:schemeClr val="tx1"/>
        </a:solidFill>
        <a:latin typeface="Arial" charset="0"/>
        <a:ea typeface="华文楷体" pitchFamily="2" charset="-122"/>
        <a:cs typeface="+mn-cs"/>
      </a:defRPr>
    </a:lvl4pPr>
    <a:lvl5pPr marL="1828800" algn="l" rtl="0" fontAlgn="base">
      <a:spcBef>
        <a:spcPct val="0"/>
      </a:spcBef>
      <a:spcAft>
        <a:spcPct val="0"/>
      </a:spcAft>
      <a:defRPr sz="4000" b="1" kern="1200">
        <a:solidFill>
          <a:schemeClr val="tx1"/>
        </a:solidFill>
        <a:latin typeface="Arial" charset="0"/>
        <a:ea typeface="华文楷体" pitchFamily="2" charset="-122"/>
        <a:cs typeface="+mn-cs"/>
      </a:defRPr>
    </a:lvl5pPr>
    <a:lvl6pPr marL="2286000" algn="l" defTabSz="914400" rtl="0" eaLnBrk="1" latinLnBrk="0" hangingPunct="1">
      <a:defRPr sz="4000" b="1" kern="1200">
        <a:solidFill>
          <a:schemeClr val="tx1"/>
        </a:solidFill>
        <a:latin typeface="Arial" charset="0"/>
        <a:ea typeface="华文楷体" pitchFamily="2" charset="-122"/>
        <a:cs typeface="+mn-cs"/>
      </a:defRPr>
    </a:lvl6pPr>
    <a:lvl7pPr marL="2743200" algn="l" defTabSz="914400" rtl="0" eaLnBrk="1" latinLnBrk="0" hangingPunct="1">
      <a:defRPr sz="4000" b="1" kern="1200">
        <a:solidFill>
          <a:schemeClr val="tx1"/>
        </a:solidFill>
        <a:latin typeface="Arial" charset="0"/>
        <a:ea typeface="华文楷体" pitchFamily="2" charset="-122"/>
        <a:cs typeface="+mn-cs"/>
      </a:defRPr>
    </a:lvl7pPr>
    <a:lvl8pPr marL="3200400" algn="l" defTabSz="914400" rtl="0" eaLnBrk="1" latinLnBrk="0" hangingPunct="1">
      <a:defRPr sz="4000" b="1" kern="1200">
        <a:solidFill>
          <a:schemeClr val="tx1"/>
        </a:solidFill>
        <a:latin typeface="Arial" charset="0"/>
        <a:ea typeface="华文楷体" pitchFamily="2" charset="-122"/>
        <a:cs typeface="+mn-cs"/>
      </a:defRPr>
    </a:lvl8pPr>
    <a:lvl9pPr marL="3657600" algn="l" defTabSz="914400" rtl="0" eaLnBrk="1" latinLnBrk="0" hangingPunct="1">
      <a:defRPr sz="4000" b="1" kern="1200">
        <a:solidFill>
          <a:schemeClr val="tx1"/>
        </a:solidFill>
        <a:latin typeface="Arial" charset="0"/>
        <a:ea typeface="华文楷体" pitchFamily="2" charset="-122"/>
        <a:cs typeface="+mn-cs"/>
      </a:defRPr>
    </a:lvl9pPr>
  </p:defaultTextStyle>
  <p:extLst>
    <p:ext uri="{521415D9-36F7-43E2-AB2F-B90AF26B5E84}">
      <p14:sectionLst xmlns:p14="http://schemas.microsoft.com/office/powerpoint/2010/main">
        <p14:section name="預設章節" id="{3438D600-9FA4-45AF-B9D1-5BB8B99E8939}">
          <p14:sldIdLst>
            <p14:sldId id="9315"/>
            <p14:sldId id="9375"/>
            <p14:sldId id="9389"/>
            <p14:sldId id="9390"/>
            <p14:sldId id="9388"/>
            <p14:sldId id="9361"/>
          </p14:sldIdLst>
        </p14:section>
        <p14:section name="備用" id="{2947FAB9-B8FB-4719-B878-73CAFADD4A8F}">
          <p14:sldIdLst>
            <p14:sldId id="9385"/>
            <p14:sldId id="9374"/>
            <p14:sldId id="9387"/>
            <p14:sldId id="9380"/>
            <p14:sldId id="9384"/>
          </p14:sldIdLst>
        </p14:section>
      </p14:sectionLst>
    </p:ext>
    <p:ext uri="{EFAFB233-063F-42B5-8137-9DF3F51BA10A}">
      <p15:sldGuideLst xmlns:p15="http://schemas.microsoft.com/office/powerpoint/2012/main">
        <p15:guide id="1" orient="horz" pos="2094" userDrawn="1">
          <p15:clr>
            <a:srgbClr val="A4A3A4"/>
          </p15:clr>
        </p15:guide>
        <p15:guide id="2" pos="243" userDrawn="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99FF"/>
    <a:srgbClr val="FFFF99"/>
    <a:srgbClr val="262626"/>
    <a:srgbClr val="FF0000"/>
    <a:srgbClr val="FFCCFF"/>
    <a:srgbClr val="FFCC00"/>
    <a:srgbClr val="66CCFF"/>
    <a:srgbClr val="99CCFF"/>
    <a:srgbClr val="FF33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151B63-1897-44B0-894E-9940F259E519}" v="1" dt="2026-03-26T16:25:14.585"/>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1" autoAdjust="0"/>
    <p:restoredTop sz="90702" autoAdjust="0"/>
  </p:normalViewPr>
  <p:slideViewPr>
    <p:cSldViewPr snapToGrid="0">
      <p:cViewPr>
        <p:scale>
          <a:sx n="142" d="100"/>
          <a:sy n="142" d="100"/>
        </p:scale>
        <p:origin x="900" y="96"/>
      </p:cViewPr>
      <p:guideLst>
        <p:guide orient="horz" pos="2094"/>
        <p:guide pos="24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48" d="100"/>
        <a:sy n="148" d="100"/>
      </p:scale>
      <p:origin x="0" y="-3744"/>
    </p:cViewPr>
  </p:sorterViewPr>
  <p:notesViewPr>
    <p:cSldViewPr snapToGrid="0">
      <p:cViewPr varScale="1">
        <p:scale>
          <a:sx n="57" d="100"/>
          <a:sy n="57" d="100"/>
        </p:scale>
        <p:origin x="3269" y="48"/>
      </p:cViewPr>
      <p:guideLst>
        <p:guide orient="horz" pos="3131"/>
        <p:guide pos="214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ownloads\2-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Downloads\2-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0070C0"/>
            </a:solidFill>
            <a:ln>
              <a:solidFill>
                <a:srgbClr val="0070C0"/>
              </a:solidFill>
            </a:ln>
            <a:effectLst/>
          </c:spPr>
          <c:invertIfNegative val="0"/>
          <c:dLbls>
            <c:dLbl>
              <c:idx val="4"/>
              <c:spPr>
                <a:noFill/>
                <a:ln>
                  <a:noFill/>
                </a:ln>
                <a:effectLst/>
              </c:spPr>
              <c:txPr>
                <a:bodyPr rot="0" spcFirstLastPara="1" vertOverflow="ellipsis" vert="horz" wrap="square" anchor="ctr" anchorCtr="1"/>
                <a:lstStyle/>
                <a:p>
                  <a:pPr>
                    <a:defRPr sz="1050" b="1"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dLblPos val="outEnd"/>
              <c:showLegendKey val="0"/>
              <c:showVal val="1"/>
              <c:showCatName val="0"/>
              <c:showSerName val="0"/>
              <c:showPercent val="0"/>
              <c:showBubbleSize val="0"/>
              <c:extLst>
                <c:ext xmlns:c16="http://schemas.microsoft.com/office/drawing/2014/chart" uri="{C3380CC4-5D6E-409C-BE32-E72D297353CC}">
                  <c16:uniqueId val="{00000001-80A8-4361-81A2-F46F11AFE4EB}"/>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'2-1'!$I$62:$I$66</c:f>
              <c:strCache>
                <c:ptCount val="5"/>
                <c:pt idx="0">
                  <c:v>21/12月</c:v>
                </c:pt>
                <c:pt idx="1">
                  <c:v>22/12月</c:v>
                </c:pt>
                <c:pt idx="2">
                  <c:v>23/12月</c:v>
                </c:pt>
                <c:pt idx="3">
                  <c:v>24/12月</c:v>
                </c:pt>
                <c:pt idx="4">
                  <c:v>25/12月</c:v>
                </c:pt>
              </c:strCache>
            </c:strRef>
          </c:cat>
          <c:val>
            <c:numRef>
              <c:f>'2-1'!$J$62:$J$66</c:f>
              <c:numCache>
                <c:formatCode>#,##0.0</c:formatCode>
                <c:ptCount val="5"/>
                <c:pt idx="0">
                  <c:v>5.6</c:v>
                </c:pt>
                <c:pt idx="1">
                  <c:v>8.3000000000000007</c:v>
                </c:pt>
                <c:pt idx="2">
                  <c:v>15.5</c:v>
                </c:pt>
                <c:pt idx="3">
                  <c:v>19.600000000000001</c:v>
                </c:pt>
                <c:pt idx="4">
                  <c:v>22.1</c:v>
                </c:pt>
              </c:numCache>
            </c:numRef>
          </c:val>
          <c:extLst>
            <c:ext xmlns:c16="http://schemas.microsoft.com/office/drawing/2014/chart" uri="{C3380CC4-5D6E-409C-BE32-E72D297353CC}">
              <c16:uniqueId val="{00000000-80A8-4361-81A2-F46F11AFE4EB}"/>
            </c:ext>
          </c:extLst>
        </c:ser>
        <c:dLbls>
          <c:showLegendKey val="0"/>
          <c:showVal val="0"/>
          <c:showCatName val="0"/>
          <c:showSerName val="0"/>
          <c:showPercent val="0"/>
          <c:showBubbleSize val="0"/>
        </c:dLbls>
        <c:gapWidth val="80"/>
        <c:overlap val="-27"/>
        <c:axId val="395647504"/>
        <c:axId val="395648464"/>
      </c:barChart>
      <c:catAx>
        <c:axId val="3956475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395648464"/>
        <c:crosses val="autoZero"/>
        <c:auto val="1"/>
        <c:lblAlgn val="ctr"/>
        <c:lblOffset val="100"/>
        <c:noMultiLvlLbl val="0"/>
      </c:catAx>
      <c:valAx>
        <c:axId val="395648464"/>
        <c:scaling>
          <c:orientation val="minMax"/>
        </c:scaling>
        <c:delete val="1"/>
        <c:axPos val="l"/>
        <c:majorGridlines>
          <c:spPr>
            <a:ln w="9525" cap="flat" cmpd="sng" algn="ctr">
              <a:noFill/>
              <a:round/>
            </a:ln>
            <a:effectLst/>
          </c:spPr>
        </c:majorGridlines>
        <c:numFmt formatCode="#,##0.0" sourceLinked="1"/>
        <c:majorTickMark val="none"/>
        <c:minorTickMark val="none"/>
        <c:tickLblPos val="nextTo"/>
        <c:crossAx val="3956475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rgbClr val="CC99FF"/>
      </a:solidFill>
    </a:ln>
    <a:effectLst/>
  </c:spPr>
  <c:txPr>
    <a:bodyPr/>
    <a:lstStyle/>
    <a:p>
      <a:pPr>
        <a:defRPr>
          <a:latin typeface="微軟正黑體" panose="020B0604030504040204" pitchFamily="34" charset="-120"/>
          <a:ea typeface="微軟正黑體" panose="020B0604030504040204" pitchFamily="34" charset="-120"/>
        </a:defRPr>
      </a:pPr>
      <a:endParaRPr lang="zh-T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0070C0"/>
            </a:solidFill>
            <a:ln>
              <a:solidFill>
                <a:srgbClr val="0070C0"/>
              </a:solidFill>
            </a:ln>
            <a:effectLst/>
          </c:spPr>
          <c:invertIfNegative val="0"/>
          <c:dLbls>
            <c:dLbl>
              <c:idx val="4"/>
              <c:spPr>
                <a:noFill/>
                <a:ln>
                  <a:noFill/>
                </a:ln>
                <a:effectLst/>
              </c:spPr>
              <c:txPr>
                <a:bodyPr rot="0" spcFirstLastPara="1" vertOverflow="ellipsis" vert="horz" wrap="square" anchor="ctr" anchorCtr="1"/>
                <a:lstStyle/>
                <a:p>
                  <a:pPr>
                    <a:defRPr sz="1050" b="1"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dLblPos val="outEnd"/>
              <c:showLegendKey val="0"/>
              <c:showVal val="1"/>
              <c:showCatName val="0"/>
              <c:showSerName val="0"/>
              <c:showPercent val="0"/>
              <c:showBubbleSize val="0"/>
              <c:extLst>
                <c:ext xmlns:c16="http://schemas.microsoft.com/office/drawing/2014/chart" uri="{C3380CC4-5D6E-409C-BE32-E72D297353CC}">
                  <c16:uniqueId val="{00000001-9CAB-4238-BAE5-5D1248E39E2B}"/>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'2-1'!$L$62:$L$66</c:f>
              <c:strCache>
                <c:ptCount val="5"/>
                <c:pt idx="0">
                  <c:v>21/12月</c:v>
                </c:pt>
                <c:pt idx="1">
                  <c:v>22/12月</c:v>
                </c:pt>
                <c:pt idx="2">
                  <c:v>23/12月</c:v>
                </c:pt>
                <c:pt idx="3">
                  <c:v>24/12月</c:v>
                </c:pt>
                <c:pt idx="4">
                  <c:v>25/12月</c:v>
                </c:pt>
              </c:strCache>
            </c:strRef>
          </c:cat>
          <c:val>
            <c:numRef>
              <c:f>'2-1'!$M$62:$M$66</c:f>
              <c:numCache>
                <c:formatCode>General</c:formatCode>
                <c:ptCount val="5"/>
                <c:pt idx="0">
                  <c:v>503</c:v>
                </c:pt>
                <c:pt idx="1">
                  <c:v>816</c:v>
                </c:pt>
                <c:pt idx="2" formatCode="#,##0">
                  <c:v>1232</c:v>
                </c:pt>
                <c:pt idx="3" formatCode="#,##0">
                  <c:v>1579</c:v>
                </c:pt>
                <c:pt idx="4" formatCode="#,##0">
                  <c:v>1844</c:v>
                </c:pt>
              </c:numCache>
            </c:numRef>
          </c:val>
          <c:extLst>
            <c:ext xmlns:c16="http://schemas.microsoft.com/office/drawing/2014/chart" uri="{C3380CC4-5D6E-409C-BE32-E72D297353CC}">
              <c16:uniqueId val="{00000000-9CAB-4238-BAE5-5D1248E39E2B}"/>
            </c:ext>
          </c:extLst>
        </c:ser>
        <c:dLbls>
          <c:showLegendKey val="0"/>
          <c:showVal val="0"/>
          <c:showCatName val="0"/>
          <c:showSerName val="0"/>
          <c:showPercent val="0"/>
          <c:showBubbleSize val="0"/>
        </c:dLbls>
        <c:gapWidth val="80"/>
        <c:overlap val="-27"/>
        <c:axId val="407903232"/>
        <c:axId val="407903712"/>
      </c:barChart>
      <c:catAx>
        <c:axId val="4079032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407903712"/>
        <c:crosses val="autoZero"/>
        <c:auto val="1"/>
        <c:lblAlgn val="ctr"/>
        <c:lblOffset val="100"/>
        <c:noMultiLvlLbl val="0"/>
      </c:catAx>
      <c:valAx>
        <c:axId val="407903712"/>
        <c:scaling>
          <c:orientation val="minMax"/>
        </c:scaling>
        <c:delete val="1"/>
        <c:axPos val="l"/>
        <c:majorGridlines>
          <c:spPr>
            <a:ln w="9525" cap="flat" cmpd="sng" algn="ctr">
              <a:solidFill>
                <a:schemeClr val="bg1"/>
              </a:solidFill>
              <a:round/>
            </a:ln>
            <a:effectLst/>
          </c:spPr>
        </c:majorGridlines>
        <c:numFmt formatCode="General" sourceLinked="1"/>
        <c:majorTickMark val="none"/>
        <c:minorTickMark val="none"/>
        <c:tickLblPos val="nextTo"/>
        <c:crossAx val="40790323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rgbClr val="CC99FF"/>
      </a:solidFill>
    </a:ln>
    <a:effectLst/>
  </c:spPr>
  <c:txPr>
    <a:bodyPr/>
    <a:lstStyle/>
    <a:p>
      <a:pPr>
        <a:defRPr>
          <a:latin typeface="微軟正黑體" panose="020B0604030504040204" pitchFamily="34" charset="-120"/>
          <a:ea typeface="微軟正黑體" panose="020B0604030504040204" pitchFamily="34" charset="-120"/>
        </a:defRPr>
      </a:pPr>
      <a:endParaRPr lang="zh-TW"/>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工作表1!$L$61</c:f>
              <c:strCache>
                <c:ptCount val="1"/>
                <c:pt idx="0">
                  <c:v>放款餘額 (億元)</c:v>
                </c:pt>
              </c:strCache>
            </c:strRef>
          </c:tx>
          <c:spPr>
            <a:solidFill>
              <a:srgbClr val="0070C0"/>
            </a:solidFill>
            <a:ln>
              <a:solidFill>
                <a:srgbClr val="0070C0"/>
              </a:solidFill>
            </a:ln>
            <a:effectLst/>
          </c:spPr>
          <c:invertIfNegative val="0"/>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CC7-4511-BCE6-B8E8B265CA4C}"/>
                </c:ext>
              </c:extLst>
            </c:dLbl>
            <c:dLbl>
              <c:idx val="1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CC7-4511-BCE6-B8E8B265CA4C}"/>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工作表1!$K$62:$K$73</c:f>
              <c:numCache>
                <c:formatCode>yy/m</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工作表1!$L$62:$L$73</c:f>
              <c:numCache>
                <c:formatCode>#,##0</c:formatCode>
                <c:ptCount val="12"/>
                <c:pt idx="0">
                  <c:v>103687</c:v>
                </c:pt>
                <c:pt idx="1">
                  <c:v>104117</c:v>
                </c:pt>
                <c:pt idx="2">
                  <c:v>104642</c:v>
                </c:pt>
                <c:pt idx="3">
                  <c:v>104670</c:v>
                </c:pt>
                <c:pt idx="4">
                  <c:v>105690</c:v>
                </c:pt>
                <c:pt idx="5">
                  <c:v>106835</c:v>
                </c:pt>
                <c:pt idx="6">
                  <c:v>107077</c:v>
                </c:pt>
                <c:pt idx="7">
                  <c:v>107709</c:v>
                </c:pt>
                <c:pt idx="8">
                  <c:v>108202</c:v>
                </c:pt>
                <c:pt idx="9">
                  <c:v>108222</c:v>
                </c:pt>
                <c:pt idx="10">
                  <c:v>108884</c:v>
                </c:pt>
                <c:pt idx="11">
                  <c:v>109160</c:v>
                </c:pt>
              </c:numCache>
            </c:numRef>
          </c:val>
          <c:extLst>
            <c:ext xmlns:c16="http://schemas.microsoft.com/office/drawing/2014/chart" uri="{C3380CC4-5D6E-409C-BE32-E72D297353CC}">
              <c16:uniqueId val="{00000002-2CC7-4511-BCE6-B8E8B265CA4C}"/>
            </c:ext>
          </c:extLst>
        </c:ser>
        <c:dLbls>
          <c:showLegendKey val="0"/>
          <c:showVal val="0"/>
          <c:showCatName val="0"/>
          <c:showSerName val="0"/>
          <c:showPercent val="0"/>
          <c:showBubbleSize val="0"/>
        </c:dLbls>
        <c:gapWidth val="66"/>
        <c:axId val="111874368"/>
        <c:axId val="111873408"/>
      </c:barChart>
      <c:lineChart>
        <c:grouping val="standard"/>
        <c:varyColors val="0"/>
        <c:ser>
          <c:idx val="1"/>
          <c:order val="1"/>
          <c:tx>
            <c:strRef>
              <c:f>工作表1!$M$61</c:f>
              <c:strCache>
                <c:ptCount val="1"/>
                <c:pt idx="0">
                  <c:v>單月增額 (億元)</c:v>
                </c:pt>
              </c:strCache>
            </c:strRef>
          </c:tx>
          <c:spPr>
            <a:ln w="28575" cap="rnd">
              <a:solidFill>
                <a:srgbClr val="C00000"/>
              </a:solidFill>
              <a:round/>
            </a:ln>
            <a:effectLst/>
          </c:spPr>
          <c:marker>
            <c:symbol val="circle"/>
            <c:size val="5"/>
            <c:spPr>
              <a:solidFill>
                <a:srgbClr val="C00000"/>
              </a:solidFill>
              <a:ln w="9525">
                <a:solidFill>
                  <a:srgbClr val="C00000"/>
                </a:solidFill>
              </a:ln>
              <a:effectLst/>
            </c:spPr>
          </c:marker>
          <c:dLbls>
            <c:dLbl>
              <c:idx val="11"/>
              <c:layout>
                <c:manualLayout>
                  <c:x val="-3.1936127744510975E-2"/>
                  <c:y val="-0.1274175655648654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CC7-4511-BCE6-B8E8B265CA4C}"/>
                </c:ext>
              </c:extLst>
            </c:dLbl>
            <c:spPr>
              <a:noFill/>
              <a:ln>
                <a:noFill/>
              </a:ln>
              <a:effectLst/>
            </c:spPr>
            <c:txPr>
              <a:bodyPr rot="0" spcFirstLastPara="1" vertOverflow="ellipsis" vert="horz" wrap="square" anchor="ctr" anchorCtr="1"/>
              <a:lstStyle/>
              <a:p>
                <a:pPr>
                  <a:defRPr sz="900" b="1" i="0" u="none" strike="noStrike" kern="1200" baseline="0">
                    <a:solidFill>
                      <a:srgbClr val="C00000"/>
                    </a:solidFill>
                    <a:latin typeface="微軟正黑體" panose="020B0604030504040204" pitchFamily="34" charset="-120"/>
                    <a:ea typeface="微軟正黑體" panose="020B0604030504040204" pitchFamily="34" charset="-120"/>
                    <a:cs typeface="+mn-cs"/>
                  </a:defRPr>
                </a:pPr>
                <a:endParaRPr lang="zh-TW"/>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工作表1!$K$62:$K$73</c:f>
              <c:numCache>
                <c:formatCode>yy/m</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工作表1!$M$62:$M$73</c:f>
              <c:numCache>
                <c:formatCode>#,##0</c:formatCode>
                <c:ptCount val="12"/>
                <c:pt idx="0">
                  <c:v>68</c:v>
                </c:pt>
                <c:pt idx="1">
                  <c:v>430</c:v>
                </c:pt>
                <c:pt idx="2">
                  <c:v>525</c:v>
                </c:pt>
                <c:pt idx="3">
                  <c:v>28</c:v>
                </c:pt>
                <c:pt idx="4">
                  <c:v>1020</c:v>
                </c:pt>
                <c:pt idx="5">
                  <c:v>1145</c:v>
                </c:pt>
                <c:pt idx="6">
                  <c:v>242</c:v>
                </c:pt>
                <c:pt idx="7">
                  <c:v>632</c:v>
                </c:pt>
                <c:pt idx="8">
                  <c:v>493</c:v>
                </c:pt>
                <c:pt idx="9">
                  <c:v>20</c:v>
                </c:pt>
                <c:pt idx="10">
                  <c:v>662</c:v>
                </c:pt>
                <c:pt idx="11">
                  <c:v>276</c:v>
                </c:pt>
              </c:numCache>
            </c:numRef>
          </c:val>
          <c:smooth val="0"/>
          <c:extLst>
            <c:ext xmlns:c16="http://schemas.microsoft.com/office/drawing/2014/chart" uri="{C3380CC4-5D6E-409C-BE32-E72D297353CC}">
              <c16:uniqueId val="{00000004-2CC7-4511-BCE6-B8E8B265CA4C}"/>
            </c:ext>
          </c:extLst>
        </c:ser>
        <c:dLbls>
          <c:showLegendKey val="0"/>
          <c:showVal val="0"/>
          <c:showCatName val="0"/>
          <c:showSerName val="0"/>
          <c:showPercent val="0"/>
          <c:showBubbleSize val="0"/>
        </c:dLbls>
        <c:marker val="1"/>
        <c:smooth val="0"/>
        <c:axId val="111808128"/>
        <c:axId val="111816288"/>
      </c:lineChart>
      <c:dateAx>
        <c:axId val="111874368"/>
        <c:scaling>
          <c:orientation val="minMax"/>
        </c:scaling>
        <c:delete val="0"/>
        <c:axPos val="b"/>
        <c:numFmt formatCode="yy/m"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111873408"/>
        <c:crosses val="autoZero"/>
        <c:auto val="1"/>
        <c:lblOffset val="100"/>
        <c:baseTimeUnit val="months"/>
      </c:dateAx>
      <c:valAx>
        <c:axId val="11187340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111874368"/>
        <c:crosses val="autoZero"/>
        <c:crossBetween val="between"/>
        <c:majorUnit val="2000"/>
      </c:valAx>
      <c:valAx>
        <c:axId val="111816288"/>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111808128"/>
        <c:crosses val="max"/>
        <c:crossBetween val="between"/>
      </c:valAx>
      <c:dateAx>
        <c:axId val="111808128"/>
        <c:scaling>
          <c:orientation val="minMax"/>
        </c:scaling>
        <c:delete val="1"/>
        <c:axPos val="b"/>
        <c:numFmt formatCode="yy/m" sourceLinked="1"/>
        <c:majorTickMark val="out"/>
        <c:minorTickMark val="none"/>
        <c:tickLblPos val="nextTo"/>
        <c:crossAx val="111816288"/>
        <c:crosses val="autoZero"/>
        <c:auto val="1"/>
        <c:lblOffset val="100"/>
        <c:baseTimeUnit val="months"/>
      </c:date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solidFill>
      <a:sysClr val="window" lastClr="FFFFFF"/>
    </a:solidFill>
    <a:ln>
      <a:noFill/>
    </a:ln>
    <a:effectLst/>
  </c:spPr>
  <c:txPr>
    <a:bodyPr/>
    <a:lstStyle/>
    <a:p>
      <a:pPr>
        <a:defRPr>
          <a:latin typeface="微軟正黑體" panose="020B0604030504040204" pitchFamily="34" charset="-120"/>
          <a:ea typeface="微軟正黑體" panose="020B0604030504040204" pitchFamily="34" charset="-120"/>
        </a:defRPr>
      </a:pPr>
      <a:endParaRPr lang="zh-TW"/>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52119" cy="497444"/>
          </a:xfrm>
          <a:prstGeom prst="rect">
            <a:avLst/>
          </a:prstGeom>
          <a:noFill/>
          <a:ln w="9525">
            <a:noFill/>
            <a:miter lim="800000"/>
            <a:headEnd/>
            <a:tailEnd/>
          </a:ln>
          <a:effectLst/>
        </p:spPr>
        <p:txBody>
          <a:bodyPr vert="horz" wrap="square" lIns="99054" tIns="49526" rIns="99054" bIns="49526" numCol="1" anchor="t" anchorCtr="0" compatLnSpc="1">
            <a:prstTxWarp prst="textNoShape">
              <a:avLst/>
            </a:prstTxWarp>
          </a:bodyPr>
          <a:lstStyle>
            <a:lvl1pPr defTabSz="990200">
              <a:defRPr sz="1200" b="0">
                <a:latin typeface="Times New Roman" charset="0"/>
                <a:ea typeface="新細明體" pitchFamily="18" charset="-120"/>
              </a:defRPr>
            </a:lvl1pPr>
          </a:lstStyle>
          <a:p>
            <a:pPr>
              <a:defRPr/>
            </a:pPr>
            <a:endParaRPr lang="en-US" altLang="zh-TW"/>
          </a:p>
        </p:txBody>
      </p:sp>
      <p:sp>
        <p:nvSpPr>
          <p:cNvPr id="7171" name="Rectangle 3"/>
          <p:cNvSpPr>
            <a:spLocks noGrp="1" noChangeArrowheads="1"/>
          </p:cNvSpPr>
          <p:nvPr>
            <p:ph type="dt" sz="quarter" idx="1"/>
          </p:nvPr>
        </p:nvSpPr>
        <p:spPr bwMode="auto">
          <a:xfrm>
            <a:off x="3855083" y="0"/>
            <a:ext cx="2952118" cy="497444"/>
          </a:xfrm>
          <a:prstGeom prst="rect">
            <a:avLst/>
          </a:prstGeom>
          <a:noFill/>
          <a:ln w="9525">
            <a:noFill/>
            <a:miter lim="800000"/>
            <a:headEnd/>
            <a:tailEnd/>
          </a:ln>
          <a:effectLst/>
        </p:spPr>
        <p:txBody>
          <a:bodyPr vert="horz" wrap="square" lIns="99054" tIns="49526" rIns="99054" bIns="49526" numCol="1" anchor="t" anchorCtr="0" compatLnSpc="1">
            <a:prstTxWarp prst="textNoShape">
              <a:avLst/>
            </a:prstTxWarp>
          </a:bodyPr>
          <a:lstStyle>
            <a:lvl1pPr algn="r" defTabSz="990200">
              <a:defRPr sz="1200" b="0">
                <a:latin typeface="Times New Roman" charset="0"/>
                <a:ea typeface="新細明體" pitchFamily="18" charset="-120"/>
              </a:defRPr>
            </a:lvl1pPr>
          </a:lstStyle>
          <a:p>
            <a:pPr>
              <a:defRPr/>
            </a:pPr>
            <a:fld id="{81C88EAB-EE0A-4154-B212-2925DF29A372}" type="datetime1">
              <a:rPr lang="zh-TW" altLang="en-US"/>
              <a:pPr>
                <a:defRPr/>
              </a:pPr>
              <a:t>2026/4/25</a:t>
            </a:fld>
            <a:endParaRPr lang="en-US" altLang="zh-TW"/>
          </a:p>
        </p:txBody>
      </p:sp>
      <p:sp>
        <p:nvSpPr>
          <p:cNvPr id="7172" name="Rectangle 4"/>
          <p:cNvSpPr>
            <a:spLocks noGrp="1" noChangeArrowheads="1"/>
          </p:cNvSpPr>
          <p:nvPr>
            <p:ph type="ftr" sz="quarter" idx="2"/>
          </p:nvPr>
        </p:nvSpPr>
        <p:spPr bwMode="auto">
          <a:xfrm>
            <a:off x="0" y="9441895"/>
            <a:ext cx="2952119" cy="497443"/>
          </a:xfrm>
          <a:prstGeom prst="rect">
            <a:avLst/>
          </a:prstGeom>
          <a:noFill/>
          <a:ln w="9525">
            <a:noFill/>
            <a:miter lim="800000"/>
            <a:headEnd/>
            <a:tailEnd/>
          </a:ln>
          <a:effectLst/>
        </p:spPr>
        <p:txBody>
          <a:bodyPr vert="horz" wrap="square" lIns="99054" tIns="49526" rIns="99054" bIns="49526" numCol="1" anchor="b" anchorCtr="0" compatLnSpc="1">
            <a:prstTxWarp prst="textNoShape">
              <a:avLst/>
            </a:prstTxWarp>
          </a:bodyPr>
          <a:lstStyle>
            <a:lvl1pPr defTabSz="990200">
              <a:defRPr sz="1200" b="0">
                <a:latin typeface="Times New Roman" charset="0"/>
                <a:ea typeface="新細明體" pitchFamily="18" charset="-120"/>
              </a:defRPr>
            </a:lvl1pPr>
          </a:lstStyle>
          <a:p>
            <a:pPr>
              <a:defRPr/>
            </a:pPr>
            <a:r>
              <a:rPr lang="zh-TW" altLang="en-US"/>
              <a:t>20060726 STCv1</a:t>
            </a:r>
            <a:endParaRPr lang="en-US" altLang="zh-TW"/>
          </a:p>
        </p:txBody>
      </p:sp>
      <p:sp>
        <p:nvSpPr>
          <p:cNvPr id="7173" name="Rectangle 5"/>
          <p:cNvSpPr>
            <a:spLocks noGrp="1" noChangeArrowheads="1"/>
          </p:cNvSpPr>
          <p:nvPr>
            <p:ph type="sldNum" sz="quarter" idx="3"/>
          </p:nvPr>
        </p:nvSpPr>
        <p:spPr bwMode="auto">
          <a:xfrm>
            <a:off x="3855083" y="9441895"/>
            <a:ext cx="2952118" cy="497443"/>
          </a:xfrm>
          <a:prstGeom prst="rect">
            <a:avLst/>
          </a:prstGeom>
          <a:noFill/>
          <a:ln w="9525">
            <a:noFill/>
            <a:miter lim="800000"/>
            <a:headEnd/>
            <a:tailEnd/>
          </a:ln>
          <a:effectLst/>
        </p:spPr>
        <p:txBody>
          <a:bodyPr vert="horz" wrap="square" lIns="99054" tIns="49526" rIns="99054" bIns="49526" numCol="1" anchor="b" anchorCtr="0" compatLnSpc="1">
            <a:prstTxWarp prst="textNoShape">
              <a:avLst/>
            </a:prstTxWarp>
          </a:bodyPr>
          <a:lstStyle>
            <a:lvl1pPr algn="r" defTabSz="990200">
              <a:defRPr sz="1200" b="0">
                <a:latin typeface="Times New Roman" charset="0"/>
                <a:ea typeface="新細明體" pitchFamily="18" charset="-120"/>
              </a:defRPr>
            </a:lvl1pPr>
          </a:lstStyle>
          <a:p>
            <a:pPr>
              <a:defRPr/>
            </a:pPr>
            <a:fld id="{21C6206E-F53A-43CF-8083-2B602C0BB7D5}" type="slidenum">
              <a:rPr lang="zh-TW" altLang="en-US"/>
              <a:pPr>
                <a:defRPr/>
              </a:pPr>
              <a:t>‹#›</a:t>
            </a:fld>
            <a:endParaRPr lang="en-US" altLang="zh-TW"/>
          </a:p>
        </p:txBody>
      </p:sp>
    </p:spTree>
    <p:extLst>
      <p:ext uri="{BB962C8B-B14F-4D97-AF65-F5344CB8AC3E}">
        <p14:creationId xmlns:p14="http://schemas.microsoft.com/office/powerpoint/2010/main" val="810698500"/>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4"/>
          <p:cNvSpPr>
            <a:spLocks noGrp="1" noRot="1" noChangeAspect="1" noChangeArrowheads="1" noTextEdit="1"/>
          </p:cNvSpPr>
          <p:nvPr>
            <p:ph type="sldImg" idx="2"/>
          </p:nvPr>
        </p:nvSpPr>
        <p:spPr bwMode="auto">
          <a:xfrm>
            <a:off x="-4167188" y="1281113"/>
            <a:ext cx="15097126" cy="849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
        <p:nvSpPr>
          <p:cNvPr id="5125" name="Rectangle 5"/>
          <p:cNvSpPr>
            <a:spLocks noGrp="1" noChangeArrowheads="1"/>
          </p:cNvSpPr>
          <p:nvPr>
            <p:ph type="body" sz="quarter" idx="3"/>
          </p:nvPr>
        </p:nvSpPr>
        <p:spPr bwMode="auto">
          <a:xfrm>
            <a:off x="815529" y="367123"/>
            <a:ext cx="5653060" cy="32898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altLang="zh-TW" noProof="0"/>
              <a:t>Click to edit Master text styles</a:t>
            </a:r>
          </a:p>
        </p:txBody>
      </p:sp>
      <p:sp>
        <p:nvSpPr>
          <p:cNvPr id="5126" name="doc id"/>
          <p:cNvSpPr>
            <a:spLocks noGrp="1" noChangeArrowheads="1"/>
          </p:cNvSpPr>
          <p:nvPr>
            <p:ph type="ftr" sz="quarter" idx="4"/>
          </p:nvPr>
        </p:nvSpPr>
        <p:spPr bwMode="auto">
          <a:xfrm>
            <a:off x="5797419" y="112103"/>
            <a:ext cx="804707" cy="12311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lgn="r" defTabSz="990200">
              <a:defRPr sz="800" b="0">
                <a:latin typeface="Arial" charset="0"/>
                <a:ea typeface="新細明體" pitchFamily="18" charset="-120"/>
              </a:defRPr>
            </a:lvl1pPr>
          </a:lstStyle>
          <a:p>
            <a:pPr>
              <a:defRPr/>
            </a:pPr>
            <a:r>
              <a:rPr lang="en-US" altLang="zh-TW"/>
              <a:t>20060726 STCv1</a:t>
            </a:r>
            <a:endParaRPr lang="zh-TW" altLang="en-US"/>
          </a:p>
        </p:txBody>
      </p:sp>
      <p:sp>
        <p:nvSpPr>
          <p:cNvPr id="5127" name="pg num"/>
          <p:cNvSpPr>
            <a:spLocks noGrp="1" noChangeArrowheads="1"/>
          </p:cNvSpPr>
          <p:nvPr>
            <p:ph type="sldNum" sz="quarter" idx="5"/>
          </p:nvPr>
        </p:nvSpPr>
        <p:spPr bwMode="auto">
          <a:xfrm>
            <a:off x="6060029" y="9557912"/>
            <a:ext cx="542097" cy="184356"/>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r" defTabSz="990200">
              <a:defRPr sz="1200" b="0">
                <a:latin typeface="Arial" charset="0"/>
                <a:ea typeface="新細明體" pitchFamily="18" charset="-120"/>
              </a:defRPr>
            </a:lvl1pPr>
          </a:lstStyle>
          <a:p>
            <a:pPr>
              <a:defRPr/>
            </a:pPr>
            <a:fld id="{B1E6EC91-7DF2-43D3-8AD2-388AEE0713B1}" type="slidenum">
              <a:rPr lang="zh-TW" altLang="en-US"/>
              <a:pPr>
                <a:defRPr/>
              </a:pPr>
              <a:t>‹#›</a:t>
            </a:fld>
            <a:endParaRPr lang="en-US" altLang="zh-TW"/>
          </a:p>
        </p:txBody>
      </p:sp>
      <p:sp>
        <p:nvSpPr>
          <p:cNvPr id="2" name="McK Separator" hidden="1"/>
          <p:cNvSpPr>
            <a:spLocks noChangeShapeType="1"/>
          </p:cNvSpPr>
          <p:nvPr/>
        </p:nvSpPr>
        <p:spPr bwMode="auto">
          <a:xfrm>
            <a:off x="815530" y="1511403"/>
            <a:ext cx="520475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1550" tIns="45775" rIns="91550" bIns="45775"/>
          <a:lstStyle/>
          <a:p>
            <a:endParaRPr lang="zh-TW" altLang="en-US"/>
          </a:p>
        </p:txBody>
      </p:sp>
    </p:spTree>
    <p:extLst>
      <p:ext uri="{BB962C8B-B14F-4D97-AF65-F5344CB8AC3E}">
        <p14:creationId xmlns:p14="http://schemas.microsoft.com/office/powerpoint/2010/main" val="2244334656"/>
      </p:ext>
    </p:extLst>
  </p:cSld>
  <p:clrMap bg1="lt1" tx1="dk1" bg2="lt2" tx2="dk2" accent1="accent1" accent2="accent2" accent3="accent3" accent4="accent4" accent5="accent5" accent6="accent6" hlink="hlink" folHlink="folHlink"/>
  <p:hf sldNum="0" hdr="0"/>
  <p:notesStyle>
    <a:lvl1pPr algn="l" rtl="0" eaLnBrk="0" fontAlgn="base" hangingPunct="0">
      <a:lnSpc>
        <a:spcPct val="90000"/>
      </a:lnSpc>
      <a:spcBef>
        <a:spcPct val="30000"/>
      </a:spcBef>
      <a:spcAft>
        <a:spcPct val="0"/>
      </a:spcAft>
      <a:defRPr sz="1600" b="1" kern="1200">
        <a:solidFill>
          <a:schemeClr val="tx1"/>
        </a:solidFill>
        <a:latin typeface="Arial"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algn="l" fontAlgn="base"/>
            <a:endParaRPr lang="zh-TW" altLang="en-US" b="1" i="0" dirty="0">
              <a:solidFill>
                <a:srgbClr val="000000"/>
              </a:solidFill>
              <a:effectLst/>
              <a:latin typeface="Noto Sans TC"/>
            </a:endParaRPr>
          </a:p>
        </p:txBody>
      </p:sp>
      <p:sp>
        <p:nvSpPr>
          <p:cNvPr id="4" name="投影片編號版面配置區 3"/>
          <p:cNvSpPr>
            <a:spLocks noGrp="1"/>
          </p:cNvSpPr>
          <p:nvPr>
            <p:ph type="sldNum" sz="quarter" idx="10"/>
          </p:nvPr>
        </p:nvSpPr>
        <p:spPr/>
        <p:txBody>
          <a:bodyPr/>
          <a:lstStyle/>
          <a:p>
            <a:fld id="{10AFA9A1-37D8-4003-8D63-EF65B25B54F3}" type="slidenum">
              <a:rPr lang="zh-TW" altLang="en-US" smtClean="0"/>
              <a:t>1</a:t>
            </a:fld>
            <a:endParaRPr lang="zh-TW" altLang="en-US"/>
          </a:p>
        </p:txBody>
      </p:sp>
    </p:spTree>
    <p:extLst>
      <p:ext uri="{BB962C8B-B14F-4D97-AF65-F5344CB8AC3E}">
        <p14:creationId xmlns:p14="http://schemas.microsoft.com/office/powerpoint/2010/main" val="3812598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E4347-F00A-3ABA-B516-28A6B125603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8CCDD65-4B04-77F3-2F8C-40B91CCB0A73}"/>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0B3EF1ED-6DF9-613B-8AD7-9B523AA7762C}"/>
              </a:ext>
            </a:extLst>
          </p:cNvPr>
          <p:cNvSpPr>
            <a:spLocks noGrp="1"/>
          </p:cNvSpPr>
          <p:nvPr>
            <p:ph type="body" idx="1"/>
          </p:nvPr>
        </p:nvSpPr>
        <p:spPr/>
        <p:txBody>
          <a:bodyPr/>
          <a:lstStyle/>
          <a:p>
            <a:r>
              <a:rPr lang="en-US" altLang="zh-TW" dirty="0"/>
              <a:t>https://www.cardu.com.tw/news/detail.php?62559</a:t>
            </a:r>
            <a:endParaRPr lang="zh-TW" altLang="en-US" dirty="0"/>
          </a:p>
        </p:txBody>
      </p:sp>
      <p:sp>
        <p:nvSpPr>
          <p:cNvPr id="4" name="頁尾版面配置區 3">
            <a:extLst>
              <a:ext uri="{FF2B5EF4-FFF2-40B4-BE49-F238E27FC236}">
                <a16:creationId xmlns:a16="http://schemas.microsoft.com/office/drawing/2014/main" id="{2C5D8134-9597-4B91-EAC3-410170A72200}"/>
              </a:ext>
            </a:extLst>
          </p:cNvPr>
          <p:cNvSpPr>
            <a:spLocks noGrp="1"/>
          </p:cNvSpPr>
          <p:nvPr>
            <p:ph type="ftr" sz="quarter" idx="4"/>
          </p:nvPr>
        </p:nvSpPr>
        <p:spPr/>
        <p:txBody>
          <a:bodyPr/>
          <a:lstStyle/>
          <a:p>
            <a:pPr>
              <a:defRPr/>
            </a:pPr>
            <a:r>
              <a:rPr lang="en-US" altLang="zh-TW">
                <a:solidFill>
                  <a:srgbClr val="000000"/>
                </a:solidFill>
              </a:rPr>
              <a:t>20060726 STCv1</a:t>
            </a:r>
            <a:endParaRPr lang="zh-TW" altLang="en-US">
              <a:solidFill>
                <a:srgbClr val="000000"/>
              </a:solidFill>
            </a:endParaRPr>
          </a:p>
        </p:txBody>
      </p:sp>
    </p:spTree>
    <p:extLst>
      <p:ext uri="{BB962C8B-B14F-4D97-AF65-F5344CB8AC3E}">
        <p14:creationId xmlns:p14="http://schemas.microsoft.com/office/powerpoint/2010/main" val="711066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89FEC-1A41-850F-9449-95D5B4AC703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586B71D-0C2F-16A4-A07B-4DE511E91AA7}"/>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E2457ACC-0B39-47EE-A756-3EC2682A92B4}"/>
              </a:ext>
            </a:extLst>
          </p:cNvPr>
          <p:cNvSpPr>
            <a:spLocks noGrp="1"/>
          </p:cNvSpPr>
          <p:nvPr>
            <p:ph type="body" idx="1"/>
          </p:nvPr>
        </p:nvSpPr>
        <p:spPr/>
        <p:txBody>
          <a:bodyPr/>
          <a:lstStyle/>
          <a:p>
            <a:r>
              <a:rPr lang="en-US" altLang="zh-TW" dirty="0"/>
              <a:t>https://money.udn.com/money/story/5612/9463612?from=udnamp-referralnews_ch1001artbottom</a:t>
            </a:r>
          </a:p>
        </p:txBody>
      </p:sp>
      <p:sp>
        <p:nvSpPr>
          <p:cNvPr id="4" name="頁尾版面配置區 3">
            <a:extLst>
              <a:ext uri="{FF2B5EF4-FFF2-40B4-BE49-F238E27FC236}">
                <a16:creationId xmlns:a16="http://schemas.microsoft.com/office/drawing/2014/main" id="{7C39810A-44E8-D326-6259-0D8FA690FDFA}"/>
              </a:ext>
            </a:extLst>
          </p:cNvPr>
          <p:cNvSpPr>
            <a:spLocks noGrp="1"/>
          </p:cNvSpPr>
          <p:nvPr>
            <p:ph type="ftr" sz="quarter" idx="4"/>
          </p:nvPr>
        </p:nvSpPr>
        <p:spPr/>
        <p:txBody>
          <a:bodyPr/>
          <a:lstStyle/>
          <a:p>
            <a:pPr>
              <a:defRPr/>
            </a:pPr>
            <a:r>
              <a:rPr lang="en-US" altLang="zh-TW">
                <a:solidFill>
                  <a:srgbClr val="000000"/>
                </a:solidFill>
              </a:rPr>
              <a:t>20060726 STCv1</a:t>
            </a:r>
            <a:endParaRPr lang="zh-TW" altLang="en-US">
              <a:solidFill>
                <a:srgbClr val="000000"/>
              </a:solidFill>
            </a:endParaRPr>
          </a:p>
        </p:txBody>
      </p:sp>
    </p:spTree>
    <p:extLst>
      <p:ext uri="{BB962C8B-B14F-4D97-AF65-F5344CB8AC3E}">
        <p14:creationId xmlns:p14="http://schemas.microsoft.com/office/powerpoint/2010/main" val="977617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C6A94-D071-139F-62DF-BD208CACA50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43511AF-DFA4-8868-970D-BED54EBC5CE3}"/>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9AF9B5D7-8CAC-C9D6-90AC-7232F35C2A3D}"/>
              </a:ext>
            </a:extLst>
          </p:cNvPr>
          <p:cNvSpPr>
            <a:spLocks noGrp="1"/>
          </p:cNvSpPr>
          <p:nvPr>
            <p:ph type="body" idx="1"/>
          </p:nvPr>
        </p:nvSpPr>
        <p:spPr/>
        <p:txBody>
          <a:bodyPr/>
          <a:lstStyle/>
          <a:p>
            <a:r>
              <a:rPr lang="en-US" altLang="zh-TW" dirty="0"/>
              <a:t>https://money.udn.com/money/story/122376/9441959</a:t>
            </a:r>
          </a:p>
        </p:txBody>
      </p:sp>
      <p:sp>
        <p:nvSpPr>
          <p:cNvPr id="4" name="頁尾版面配置區 3">
            <a:extLst>
              <a:ext uri="{FF2B5EF4-FFF2-40B4-BE49-F238E27FC236}">
                <a16:creationId xmlns:a16="http://schemas.microsoft.com/office/drawing/2014/main" id="{D49093DF-CFBE-4EFC-4EAA-DDE31C975C43}"/>
              </a:ext>
            </a:extLst>
          </p:cNvPr>
          <p:cNvSpPr>
            <a:spLocks noGrp="1"/>
          </p:cNvSpPr>
          <p:nvPr>
            <p:ph type="ftr" sz="quarter" idx="4"/>
          </p:nvPr>
        </p:nvSpPr>
        <p:spPr/>
        <p:txBody>
          <a:bodyPr/>
          <a:lstStyle/>
          <a:p>
            <a:pPr>
              <a:defRPr/>
            </a:pPr>
            <a:r>
              <a:rPr lang="en-US" altLang="zh-TW">
                <a:solidFill>
                  <a:srgbClr val="000000"/>
                </a:solidFill>
              </a:rPr>
              <a:t>20060726 STCv1</a:t>
            </a:r>
            <a:endParaRPr lang="zh-TW" altLang="en-US">
              <a:solidFill>
                <a:srgbClr val="000000"/>
              </a:solidFill>
            </a:endParaRPr>
          </a:p>
        </p:txBody>
      </p:sp>
    </p:spTree>
    <p:extLst>
      <p:ext uri="{BB962C8B-B14F-4D97-AF65-F5344CB8AC3E}">
        <p14:creationId xmlns:p14="http://schemas.microsoft.com/office/powerpoint/2010/main" val="2000986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F4028-29AA-5245-9D77-5473EA02CE7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369475E-19B6-949C-6B16-C6C6FACF2A4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420751D4-E645-4EE1-7E7B-D0ECE0F96339}"/>
              </a:ext>
            </a:extLst>
          </p:cNvPr>
          <p:cNvSpPr>
            <a:spLocks noGrp="1"/>
          </p:cNvSpPr>
          <p:nvPr>
            <p:ph type="body" idx="1"/>
          </p:nvPr>
        </p:nvSpPr>
        <p:spPr/>
        <p:txBody>
          <a:bodyPr/>
          <a:lstStyle/>
          <a:p>
            <a:r>
              <a:rPr lang="en-US" altLang="zh-TW" dirty="0"/>
              <a:t>https://money.udn.com/money/story/5613/9434616</a:t>
            </a:r>
          </a:p>
          <a:p>
            <a:r>
              <a:rPr lang="en-US" altLang="zh-TW" dirty="0"/>
              <a:t>https://www.ctee.com.tw/news/20260411700099-430303</a:t>
            </a:r>
          </a:p>
        </p:txBody>
      </p:sp>
      <p:sp>
        <p:nvSpPr>
          <p:cNvPr id="4" name="頁尾版面配置區 3">
            <a:extLst>
              <a:ext uri="{FF2B5EF4-FFF2-40B4-BE49-F238E27FC236}">
                <a16:creationId xmlns:a16="http://schemas.microsoft.com/office/drawing/2014/main" id="{0B62323D-D71D-FD17-97D3-7F02E4D7B0D0}"/>
              </a:ext>
            </a:extLst>
          </p:cNvPr>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2313696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en-US" altLang="zh-TW" dirty="0"/>
              <a:t>https://news.cnyes.com/news/id/6420652</a:t>
            </a:r>
          </a:p>
        </p:txBody>
      </p:sp>
      <p:sp>
        <p:nvSpPr>
          <p:cNvPr id="4" name="頁尾版面配置區 3"/>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1152718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ABE7F-4362-8C21-1EFE-02C901B7274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5AE70C0-3A0D-834C-5DEB-41E5BA53876B}"/>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8D55FDED-1A65-F229-7C05-01A8E5B1188C}"/>
              </a:ext>
            </a:extLst>
          </p:cNvPr>
          <p:cNvSpPr>
            <a:spLocks noGrp="1"/>
          </p:cNvSpPr>
          <p:nvPr>
            <p:ph type="body" idx="1"/>
          </p:nvPr>
        </p:nvSpPr>
        <p:spPr/>
        <p:txBody>
          <a:bodyPr/>
          <a:lstStyle/>
          <a:p>
            <a:r>
              <a:rPr lang="en-US" altLang="zh-TW" dirty="0"/>
              <a:t>https://www.ctee.com.tw/news/20260407700284-439901</a:t>
            </a:r>
          </a:p>
          <a:p>
            <a:r>
              <a:rPr lang="zh-TW" altLang="en-US" dirty="0"/>
              <a:t>遠東：</a:t>
            </a:r>
            <a:r>
              <a:rPr lang="en-US" altLang="zh-TW" dirty="0"/>
              <a:t>https://ecard.feib.com.tw/Activity/2026H1OverSea/</a:t>
            </a:r>
          </a:p>
          <a:p>
            <a:r>
              <a:rPr lang="zh-TW" altLang="en-US" dirty="0"/>
              <a:t>兆豐：</a:t>
            </a:r>
            <a:r>
              <a:rPr lang="en-US" altLang="zh-TW" dirty="0"/>
              <a:t>https://www.megabank.com.tw/personal/credit-card/event/overview/115q1ftc</a:t>
            </a:r>
            <a:endParaRPr lang="zh-TW" altLang="en-US" dirty="0"/>
          </a:p>
        </p:txBody>
      </p:sp>
      <p:sp>
        <p:nvSpPr>
          <p:cNvPr id="4" name="頁尾版面配置區 3">
            <a:extLst>
              <a:ext uri="{FF2B5EF4-FFF2-40B4-BE49-F238E27FC236}">
                <a16:creationId xmlns:a16="http://schemas.microsoft.com/office/drawing/2014/main" id="{80FAAC79-9467-4652-6B29-964CEFECE90D}"/>
              </a:ext>
            </a:extLst>
          </p:cNvPr>
          <p:cNvSpPr>
            <a:spLocks noGrp="1"/>
          </p:cNvSpPr>
          <p:nvPr>
            <p:ph type="ftr" sz="quarter" idx="4"/>
          </p:nvPr>
        </p:nvSpPr>
        <p:spPr/>
        <p:txBody>
          <a:bodyPr/>
          <a:lstStyle/>
          <a:p>
            <a:pPr>
              <a:defRPr/>
            </a:pPr>
            <a:r>
              <a:rPr lang="en-US" altLang="zh-TW">
                <a:solidFill>
                  <a:srgbClr val="000000"/>
                </a:solidFill>
              </a:rPr>
              <a:t>20060726 STCv1</a:t>
            </a:r>
            <a:endParaRPr lang="zh-TW" altLang="en-US">
              <a:solidFill>
                <a:srgbClr val="000000"/>
              </a:solidFill>
            </a:endParaRPr>
          </a:p>
        </p:txBody>
      </p:sp>
    </p:spTree>
    <p:extLst>
      <p:ext uri="{BB962C8B-B14F-4D97-AF65-F5344CB8AC3E}">
        <p14:creationId xmlns:p14="http://schemas.microsoft.com/office/powerpoint/2010/main" val="2034746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en-US" altLang="zh-TW" dirty="0"/>
              <a:t>https://money.udn.com/money/story/5613/9398336</a:t>
            </a:r>
            <a:endParaRPr lang="zh-TW" altLang="en-US" dirty="0"/>
          </a:p>
        </p:txBody>
      </p:sp>
      <p:sp>
        <p:nvSpPr>
          <p:cNvPr id="4" name="頁尾版面配置區 3"/>
          <p:cNvSpPr>
            <a:spLocks noGrp="1"/>
          </p:cNvSpPr>
          <p:nvPr>
            <p:ph type="ftr" sz="quarter" idx="4"/>
          </p:nvPr>
        </p:nvSpPr>
        <p:spPr/>
        <p:txBody>
          <a:bodyPr/>
          <a:lstStyle/>
          <a:p>
            <a:pPr>
              <a:defRPr/>
            </a:pPr>
            <a:r>
              <a:rPr lang="en-US" altLang="zh-TW">
                <a:solidFill>
                  <a:srgbClr val="000000"/>
                </a:solidFill>
              </a:rPr>
              <a:t>20060726 STCv1</a:t>
            </a:r>
            <a:endParaRPr lang="zh-TW" altLang="en-US">
              <a:solidFill>
                <a:srgbClr val="000000"/>
              </a:solidFill>
            </a:endParaRPr>
          </a:p>
        </p:txBody>
      </p:sp>
    </p:spTree>
    <p:extLst>
      <p:ext uri="{BB962C8B-B14F-4D97-AF65-F5344CB8AC3E}">
        <p14:creationId xmlns:p14="http://schemas.microsoft.com/office/powerpoint/2010/main" val="1887309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C420F-E0F4-D72A-9FD9-98F86557630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31B709C-40F9-8B3B-33AF-4650E1815112}"/>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BEDB1B12-54A1-CA30-E8B0-623E5BFBC5A3}"/>
              </a:ext>
            </a:extLst>
          </p:cNvPr>
          <p:cNvSpPr>
            <a:spLocks noGrp="1"/>
          </p:cNvSpPr>
          <p:nvPr>
            <p:ph type="body" idx="1"/>
          </p:nvPr>
        </p:nvSpPr>
        <p:spPr/>
        <p:txBody>
          <a:bodyPr/>
          <a:lstStyle/>
          <a:p>
            <a:r>
              <a:rPr lang="en-US" altLang="zh-TW" dirty="0"/>
              <a:t>https://www.ctee.com.tw/news/20260327700170-439901</a:t>
            </a:r>
          </a:p>
        </p:txBody>
      </p:sp>
      <p:sp>
        <p:nvSpPr>
          <p:cNvPr id="4" name="頁尾版面配置區 3">
            <a:extLst>
              <a:ext uri="{FF2B5EF4-FFF2-40B4-BE49-F238E27FC236}">
                <a16:creationId xmlns:a16="http://schemas.microsoft.com/office/drawing/2014/main" id="{82FF44B0-8D67-25B9-27E2-CED7EAC8995F}"/>
              </a:ext>
            </a:extLst>
          </p:cNvPr>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1589406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01D49-80F0-A3CF-1135-1D4404E5DDA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2C7AD98-E3AC-FBFE-5947-6EB571A41ED5}"/>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81D3C961-97FD-D089-4D50-7F2EFFC95D5E}"/>
              </a:ext>
            </a:extLst>
          </p:cNvPr>
          <p:cNvSpPr>
            <a:spLocks noGrp="1"/>
          </p:cNvSpPr>
          <p:nvPr>
            <p:ph type="body" idx="1"/>
          </p:nvPr>
        </p:nvSpPr>
        <p:spPr/>
        <p:txBody>
          <a:bodyPr/>
          <a:lstStyle/>
          <a:p>
            <a:r>
              <a:rPr lang="en-US" altLang="zh-TW" dirty="0"/>
              <a:t>https://www.cardu.com.tw/news/detail.php?61977</a:t>
            </a:r>
          </a:p>
          <a:p>
            <a:r>
              <a:rPr lang="zh-TW" altLang="en-US" dirty="0"/>
              <a:t>資料來源：</a:t>
            </a:r>
            <a:r>
              <a:rPr lang="en-US" altLang="zh-TW" dirty="0"/>
              <a:t>https://www.fsc.gov.tw/ch/home.jsp?id=96&amp;parentpath=0&amp;mcustomize=news_view.jsp&amp;dataserno=202603170001&amp;dtable=News</a:t>
            </a:r>
          </a:p>
          <a:p>
            <a:r>
              <a:rPr lang="en-US" altLang="zh-TW" dirty="0"/>
              <a:t>https://www.banking.gov.tw/ch/home.jsp?id=590&amp;parentpath=0</a:t>
            </a:r>
            <a:endParaRPr lang="zh-TW" altLang="en-US" dirty="0"/>
          </a:p>
          <a:p>
            <a:endParaRPr lang="zh-TW" altLang="en-US" dirty="0"/>
          </a:p>
        </p:txBody>
      </p:sp>
      <p:sp>
        <p:nvSpPr>
          <p:cNvPr id="4" name="頁尾版面配置區 3">
            <a:extLst>
              <a:ext uri="{FF2B5EF4-FFF2-40B4-BE49-F238E27FC236}">
                <a16:creationId xmlns:a16="http://schemas.microsoft.com/office/drawing/2014/main" id="{B2C8344E-C963-9502-DD75-2C029A4A8394}"/>
              </a:ext>
            </a:extLst>
          </p:cNvPr>
          <p:cNvSpPr>
            <a:spLocks noGrp="1"/>
          </p:cNvSpPr>
          <p:nvPr>
            <p:ph type="ftr" sz="quarter" idx="4"/>
          </p:nvPr>
        </p:nvSpPr>
        <p:spPr/>
        <p:txBody>
          <a:bodyPr/>
          <a:lstStyle/>
          <a:p>
            <a:pPr>
              <a:defRPr/>
            </a:pPr>
            <a:r>
              <a:rPr lang="en-US" altLang="zh-TW">
                <a:solidFill>
                  <a:srgbClr val="000000"/>
                </a:solidFill>
              </a:rPr>
              <a:t>20060726 STCv1</a:t>
            </a:r>
            <a:endParaRPr lang="zh-TW" altLang="en-US">
              <a:solidFill>
                <a:srgbClr val="000000"/>
              </a:solidFill>
            </a:endParaRPr>
          </a:p>
        </p:txBody>
      </p:sp>
    </p:spTree>
    <p:extLst>
      <p:ext uri="{BB962C8B-B14F-4D97-AF65-F5344CB8AC3E}">
        <p14:creationId xmlns:p14="http://schemas.microsoft.com/office/powerpoint/2010/main" val="36451662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29A7F-C1A4-5852-5C04-5A8305D8A3B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643671B-3BDB-B84A-0D24-86CA86F8B9B5}"/>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6ECB2F60-DFEB-460E-E4FD-36B110951F82}"/>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en-US" sz="1600" b="1" i="0" kern="1200" dirty="0">
                <a:solidFill>
                  <a:schemeClr val="tx1"/>
                </a:solidFill>
                <a:effectLst/>
                <a:latin typeface="Arial" charset="0"/>
                <a:ea typeface="+mn-ea"/>
                <a:cs typeface="+mn-cs"/>
              </a:rPr>
              <a:t>亞洲首例！中國信託攜手台積電、木酢達人打造「校樹治理永續信託」</a:t>
            </a:r>
          </a:p>
          <a:p>
            <a:r>
              <a:rPr lang="en-US" altLang="zh-TW" dirty="0"/>
              <a:t>https://www.ctee.com.tw/news/20260422701921-430301</a:t>
            </a:r>
          </a:p>
          <a:p>
            <a:endParaRPr lang="en-US" altLang="zh-TW" dirty="0"/>
          </a:p>
          <a:p>
            <a:r>
              <a:rPr lang="en-US" altLang="zh-TW" dirty="0"/>
              <a:t>https://www.ctee.com.tw/news/20260416700102-439901</a:t>
            </a:r>
          </a:p>
          <a:p>
            <a:pPr fontAlgn="base"/>
            <a:r>
              <a:rPr lang="zh-TW" altLang="en-US" sz="1600" b="1" i="0" kern="1200" dirty="0">
                <a:solidFill>
                  <a:schemeClr val="tx1"/>
                </a:solidFill>
                <a:effectLst/>
                <a:latin typeface="Arial" charset="0"/>
                <a:ea typeface="+mn-ea"/>
                <a:cs typeface="+mn-cs"/>
              </a:rPr>
              <a:t>中信卡綜所稅回饋無上限 繳稅大戶回饋率最高</a:t>
            </a:r>
            <a:r>
              <a:rPr lang="en-US" altLang="zh-TW" sz="1600" b="1" i="0" kern="1200" dirty="0">
                <a:solidFill>
                  <a:schemeClr val="tx1"/>
                </a:solidFill>
                <a:effectLst/>
                <a:latin typeface="Arial" charset="0"/>
                <a:ea typeface="+mn-ea"/>
                <a:cs typeface="+mn-cs"/>
              </a:rPr>
              <a:t>2.5</a:t>
            </a:r>
            <a:r>
              <a:rPr lang="zh-TW" altLang="en-US" sz="1600" b="1" i="0" kern="1200">
                <a:solidFill>
                  <a:schemeClr val="tx1"/>
                </a:solidFill>
                <a:effectLst/>
                <a:latin typeface="Arial" charset="0"/>
                <a:ea typeface="+mn-ea"/>
                <a:cs typeface="+mn-cs"/>
              </a:rPr>
              <a:t>％</a:t>
            </a:r>
          </a:p>
          <a:p>
            <a:r>
              <a:rPr lang="en-US" altLang="zh-TW"/>
              <a:t>https</a:t>
            </a:r>
            <a:r>
              <a:rPr lang="en-US" altLang="zh-TW" dirty="0"/>
              <a:t>://ec.ltn.com.tw/article/breakingnews/5411443</a:t>
            </a:r>
            <a:endParaRPr lang="zh-TW" altLang="en-US" dirty="0"/>
          </a:p>
        </p:txBody>
      </p:sp>
      <p:sp>
        <p:nvSpPr>
          <p:cNvPr id="4" name="頁尾版面配置區 3">
            <a:extLst>
              <a:ext uri="{FF2B5EF4-FFF2-40B4-BE49-F238E27FC236}">
                <a16:creationId xmlns:a16="http://schemas.microsoft.com/office/drawing/2014/main" id="{603B80FF-4891-3BA3-85A7-6590BD43D739}"/>
              </a:ext>
            </a:extLst>
          </p:cNvPr>
          <p:cNvSpPr>
            <a:spLocks noGrp="1"/>
          </p:cNvSpPr>
          <p:nvPr>
            <p:ph type="ftr" sz="quarter" idx="4"/>
          </p:nvPr>
        </p:nvSpPr>
        <p:spPr/>
        <p:txBody>
          <a:bodyPr/>
          <a:lstStyle/>
          <a:p>
            <a:pPr>
              <a:defRPr/>
            </a:pPr>
            <a:r>
              <a:rPr lang="en-US" altLang="zh-TW">
                <a:solidFill>
                  <a:srgbClr val="000000"/>
                </a:solidFill>
              </a:rPr>
              <a:t>20060726 STCv1</a:t>
            </a:r>
            <a:endParaRPr lang="zh-TW" altLang="en-US">
              <a:solidFill>
                <a:srgbClr val="000000"/>
              </a:solidFill>
            </a:endParaRPr>
          </a:p>
        </p:txBody>
      </p:sp>
    </p:spTree>
    <p:extLst>
      <p:ext uri="{BB962C8B-B14F-4D97-AF65-F5344CB8AC3E}">
        <p14:creationId xmlns:p14="http://schemas.microsoft.com/office/powerpoint/2010/main" val="37011809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2627295"/>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3" name="內容版面配置區 2"/>
          <p:cNvSpPr>
            <a:spLocks noGrp="1"/>
          </p:cNvSpPr>
          <p:nvPr>
            <p:ph sz="quarter" idx="10"/>
          </p:nvPr>
        </p:nvSpPr>
        <p:spPr>
          <a:xfrm>
            <a:off x="397951" y="889000"/>
            <a:ext cx="11110876" cy="5365750"/>
          </a:xfrm>
          <a:prstGeom prst="rect">
            <a:avLst/>
          </a:prstGeom>
        </p:spPr>
        <p:txBody>
          <a:bodyPr/>
          <a:lstStyle>
            <a:lvl1pPr>
              <a:spcBef>
                <a:spcPts val="0"/>
              </a:spcBef>
              <a:spcAft>
                <a:spcPts val="600"/>
              </a:spcAft>
              <a:defRPr sz="2400">
                <a:latin typeface="微軟正黑體" panose="020B0604030504040204" pitchFamily="34" charset="-120"/>
                <a:ea typeface="微軟正黑體" panose="020B0604030504040204" pitchFamily="34" charset="-120"/>
                <a:cs typeface="Arial" panose="020B0604020202020204" pitchFamily="34" charset="0"/>
              </a:defRPr>
            </a:lvl1pPr>
            <a:lvl2pPr marL="144463" indent="-142875">
              <a:spcBef>
                <a:spcPts val="0"/>
              </a:spcBef>
              <a:spcAft>
                <a:spcPts val="600"/>
              </a:spcAft>
              <a:buFont typeface="Wingdings" panose="05000000000000000000" pitchFamily="2" charset="2"/>
              <a:buChar char="n"/>
              <a:defRPr sz="2000">
                <a:latin typeface="微軟正黑體" panose="020B0604030504040204" pitchFamily="34" charset="-120"/>
                <a:ea typeface="微軟正黑體" panose="020B0604030504040204" pitchFamily="34" charset="-120"/>
                <a:cs typeface="Arial" panose="020B0604020202020204" pitchFamily="34" charset="0"/>
              </a:defRPr>
            </a:lvl2pPr>
            <a:lvl3pPr marL="295275" indent="-149225">
              <a:spcBef>
                <a:spcPts val="0"/>
              </a:spcBef>
              <a:spcAft>
                <a:spcPts val="600"/>
              </a:spcAft>
              <a:buFont typeface="Wingdings" panose="05000000000000000000" pitchFamily="2" charset="2"/>
              <a:buChar char="l"/>
              <a:defRPr sz="1800">
                <a:latin typeface="微軟正黑體" panose="020B0604030504040204" pitchFamily="34" charset="-120"/>
                <a:ea typeface="微軟正黑體" panose="020B0604030504040204" pitchFamily="34" charset="-120"/>
                <a:cs typeface="Arial" panose="020B0604020202020204" pitchFamily="34" charset="0"/>
              </a:defRPr>
            </a:lvl3pPr>
            <a:lvl4pPr marL="431800" indent="-134938">
              <a:spcBef>
                <a:spcPts val="0"/>
              </a:spcBef>
              <a:spcAft>
                <a:spcPts val="600"/>
              </a:spcAft>
              <a:buFont typeface="Wingdings" panose="05000000000000000000" pitchFamily="2" charset="2"/>
              <a:buChar char="u"/>
              <a:defRPr sz="1600">
                <a:latin typeface="微軟正黑體" panose="020B0604030504040204" pitchFamily="34" charset="-120"/>
                <a:ea typeface="微軟正黑體" panose="020B0604030504040204" pitchFamily="34" charset="-120"/>
                <a:cs typeface="Arial" panose="020B0604020202020204" pitchFamily="34" charset="0"/>
              </a:defRPr>
            </a:lvl4pPr>
            <a:lvl5pPr marL="582613" indent="-149225">
              <a:spcBef>
                <a:spcPts val="0"/>
              </a:spcBef>
              <a:spcAft>
                <a:spcPts val="600"/>
              </a:spcAft>
              <a:buFont typeface="Arial" panose="020B0604020202020204" pitchFamily="34" charset="0"/>
              <a:buChar char="•"/>
              <a:defRPr sz="1400">
                <a:latin typeface="微軟正黑體" panose="020B0604030504040204" pitchFamily="34" charset="-120"/>
                <a:ea typeface="微軟正黑體" panose="020B0604030504040204" pitchFamily="34" charset="-120"/>
                <a:cs typeface="Arial" panose="020B0604020202020204" pitchFamily="34" charset="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extLst>
      <p:ext uri="{BB962C8B-B14F-4D97-AF65-F5344CB8AC3E}">
        <p14:creationId xmlns:p14="http://schemas.microsoft.com/office/powerpoint/2010/main" val="371846315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A8AE6801-0935-4DDB-9F1D-37BC2745F310}"/>
              </a:ext>
            </a:extLst>
          </p:cNvPr>
          <p:cNvSpPr>
            <a:spLocks noGrp="1"/>
          </p:cNvSpPr>
          <p:nvPr>
            <p:ph sz="quarter" idx="10"/>
          </p:nvPr>
        </p:nvSpPr>
        <p:spPr>
          <a:xfrm>
            <a:off x="301725"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內容版面配置區 3">
            <a:extLst>
              <a:ext uri="{FF2B5EF4-FFF2-40B4-BE49-F238E27FC236}">
                <a16:creationId xmlns:a16="http://schemas.microsoft.com/office/drawing/2014/main" id="{C5A0BBB7-1B89-4C34-A1C9-9CEE207EB87D}"/>
              </a:ext>
            </a:extLst>
          </p:cNvPr>
          <p:cNvSpPr>
            <a:spLocks noGrp="1"/>
          </p:cNvSpPr>
          <p:nvPr>
            <p:ph sz="quarter" idx="11"/>
          </p:nvPr>
        </p:nvSpPr>
        <p:spPr>
          <a:xfrm>
            <a:off x="5991372"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extLst>
      <p:ext uri="{BB962C8B-B14F-4D97-AF65-F5344CB8AC3E}">
        <p14:creationId xmlns:p14="http://schemas.microsoft.com/office/powerpoint/2010/main" val="2840032455"/>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標題及內容">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5A936644-8B67-420E-9B58-FEDE5BAD0E65}"/>
              </a:ext>
            </a:extLst>
          </p:cNvPr>
          <p:cNvSpPr>
            <a:spLocks noGrp="1"/>
          </p:cNvSpPr>
          <p:nvPr>
            <p:ph idx="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標題 6">
            <a:extLst>
              <a:ext uri="{FF2B5EF4-FFF2-40B4-BE49-F238E27FC236}">
                <a16:creationId xmlns:a16="http://schemas.microsoft.com/office/drawing/2014/main" id="{2B53EA66-E7D9-24DB-78D4-DFAD28F57FAC}"/>
              </a:ext>
            </a:extLst>
          </p:cNvPr>
          <p:cNvSpPr>
            <a:spLocks noGrp="1"/>
          </p:cNvSpPr>
          <p:nvPr>
            <p:ph type="title"/>
          </p:nvPr>
        </p:nvSpPr>
        <p:spPr/>
        <p:txBody>
          <a:bodyPr/>
          <a:lstStyle/>
          <a:p>
            <a:r>
              <a:rPr lang="zh-TW" altLang="en-US" dirty="0"/>
              <a:t>按一下以編輯母片標題樣式</a:t>
            </a:r>
          </a:p>
        </p:txBody>
      </p:sp>
      <p:sp>
        <p:nvSpPr>
          <p:cNvPr id="8" name="日期版面配置區 7">
            <a:extLst>
              <a:ext uri="{FF2B5EF4-FFF2-40B4-BE49-F238E27FC236}">
                <a16:creationId xmlns:a16="http://schemas.microsoft.com/office/drawing/2014/main" id="{88B097B8-145F-5CAE-4DFF-7822348D7CE5}"/>
              </a:ext>
            </a:extLst>
          </p:cNvPr>
          <p:cNvSpPr>
            <a:spLocks noGrp="1"/>
          </p:cNvSpPr>
          <p:nvPr>
            <p:ph type="dt" sz="half" idx="10"/>
          </p:nvPr>
        </p:nvSpPr>
        <p:spPr/>
        <p:txBody>
          <a:bodyPr/>
          <a:lstStyle/>
          <a:p>
            <a:endParaRPr lang="zh-TW" altLang="en-US" dirty="0"/>
          </a:p>
        </p:txBody>
      </p:sp>
      <p:sp>
        <p:nvSpPr>
          <p:cNvPr id="9" name="投影片編號版面配置區 8">
            <a:extLst>
              <a:ext uri="{FF2B5EF4-FFF2-40B4-BE49-F238E27FC236}">
                <a16:creationId xmlns:a16="http://schemas.microsoft.com/office/drawing/2014/main" id="{FC823235-DF36-D00E-48AB-3C7589CE7C25}"/>
              </a:ext>
            </a:extLst>
          </p:cNvPr>
          <p:cNvSpPr>
            <a:spLocks noGrp="1"/>
          </p:cNvSpPr>
          <p:nvPr>
            <p:ph type="sldNum" sz="quarter" idx="11"/>
          </p:nvPr>
        </p:nvSpPr>
        <p:spPr/>
        <p:txBody>
          <a:bodyPr/>
          <a:lstStyle/>
          <a:p>
            <a:fld id="{7C1318EF-881E-4C57-88FC-4A50CED04FA3}" type="slidenum">
              <a:rPr lang="zh-TW" altLang="en-US" smtClean="0"/>
              <a:t>‹#›</a:t>
            </a:fld>
            <a:endParaRPr lang="zh-TW" altLang="en-US" dirty="0"/>
          </a:p>
        </p:txBody>
      </p:sp>
    </p:spTree>
    <p:extLst>
      <p:ext uri="{BB962C8B-B14F-4D97-AF65-F5344CB8AC3E}">
        <p14:creationId xmlns:p14="http://schemas.microsoft.com/office/powerpoint/2010/main" val="4021111961"/>
      </p:ext>
    </p:extLst>
  </p:cSld>
  <p:clrMapOvr>
    <a:masterClrMapping/>
  </p:clrMapOvr>
  <p:extLst>
    <p:ext uri="{DCECCB84-F9BA-43D5-87BE-67443E8EF086}">
      <p15:sldGuideLst xmlns:p15="http://schemas.microsoft.com/office/powerpoint/2012/main">
        <p15:guide id="1" orient="horz" pos="2117" userDrawn="1">
          <p15:clr>
            <a:srgbClr val="FBAE40"/>
          </p15:clr>
        </p15:guide>
        <p15:guide id="2" pos="376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Tree>
    <p:extLst>
      <p:ext uri="{BB962C8B-B14F-4D97-AF65-F5344CB8AC3E}">
        <p14:creationId xmlns:p14="http://schemas.microsoft.com/office/powerpoint/2010/main" val="566688807"/>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3" name="內容版面配置區 2"/>
          <p:cNvSpPr>
            <a:spLocks noGrp="1"/>
          </p:cNvSpPr>
          <p:nvPr>
            <p:ph sz="quarter" idx="10"/>
          </p:nvPr>
        </p:nvSpPr>
        <p:spPr>
          <a:xfrm>
            <a:off x="397951" y="889000"/>
            <a:ext cx="11110876" cy="5365750"/>
          </a:xfrm>
          <a:prstGeom prst="rect">
            <a:avLst/>
          </a:prstGeom>
        </p:spPr>
        <p:txBody>
          <a:bodyPr/>
          <a:lstStyle>
            <a:lvl1pPr>
              <a:spcBef>
                <a:spcPts val="0"/>
              </a:spcBef>
              <a:spcAft>
                <a:spcPts val="600"/>
              </a:spcAft>
              <a:defRPr sz="2400">
                <a:latin typeface="微軟正黑體" panose="020B0604030504040204" pitchFamily="34" charset="-120"/>
                <a:ea typeface="微軟正黑體" panose="020B0604030504040204" pitchFamily="34" charset="-120"/>
                <a:cs typeface="Arial" panose="020B0604020202020204" pitchFamily="34" charset="0"/>
              </a:defRPr>
            </a:lvl1pPr>
            <a:lvl2pPr marL="144463" indent="-142875">
              <a:spcBef>
                <a:spcPts val="0"/>
              </a:spcBef>
              <a:spcAft>
                <a:spcPts val="600"/>
              </a:spcAft>
              <a:buFont typeface="Wingdings" panose="05000000000000000000" pitchFamily="2" charset="2"/>
              <a:buChar char="n"/>
              <a:defRPr sz="2000">
                <a:latin typeface="微軟正黑體" panose="020B0604030504040204" pitchFamily="34" charset="-120"/>
                <a:ea typeface="微軟正黑體" panose="020B0604030504040204" pitchFamily="34" charset="-120"/>
                <a:cs typeface="Arial" panose="020B0604020202020204" pitchFamily="34" charset="0"/>
              </a:defRPr>
            </a:lvl2pPr>
            <a:lvl3pPr marL="295275" indent="-149225">
              <a:spcBef>
                <a:spcPts val="0"/>
              </a:spcBef>
              <a:spcAft>
                <a:spcPts val="600"/>
              </a:spcAft>
              <a:buFont typeface="Wingdings" panose="05000000000000000000" pitchFamily="2" charset="2"/>
              <a:buChar char="l"/>
              <a:defRPr sz="1800">
                <a:latin typeface="微軟正黑體" panose="020B0604030504040204" pitchFamily="34" charset="-120"/>
                <a:ea typeface="微軟正黑體" panose="020B0604030504040204" pitchFamily="34" charset="-120"/>
                <a:cs typeface="Arial" panose="020B0604020202020204" pitchFamily="34" charset="0"/>
              </a:defRPr>
            </a:lvl3pPr>
            <a:lvl4pPr marL="431800" indent="-134938">
              <a:spcBef>
                <a:spcPts val="0"/>
              </a:spcBef>
              <a:spcAft>
                <a:spcPts val="600"/>
              </a:spcAft>
              <a:buFont typeface="Wingdings" panose="05000000000000000000" pitchFamily="2" charset="2"/>
              <a:buChar char="u"/>
              <a:defRPr sz="1600">
                <a:latin typeface="微軟正黑體" panose="020B0604030504040204" pitchFamily="34" charset="-120"/>
                <a:ea typeface="微軟正黑體" panose="020B0604030504040204" pitchFamily="34" charset="-120"/>
                <a:cs typeface="Arial" panose="020B0604020202020204" pitchFamily="34" charset="0"/>
              </a:defRPr>
            </a:lvl4pPr>
            <a:lvl5pPr marL="582613" indent="-149225">
              <a:spcBef>
                <a:spcPts val="0"/>
              </a:spcBef>
              <a:spcAft>
                <a:spcPts val="600"/>
              </a:spcAft>
              <a:buFont typeface="Arial" panose="020B0604020202020204" pitchFamily="34" charset="0"/>
              <a:buChar char="•"/>
              <a:defRPr sz="1400">
                <a:latin typeface="微軟正黑體" panose="020B0604030504040204" pitchFamily="34" charset="-120"/>
                <a:ea typeface="微軟正黑體" panose="020B0604030504040204" pitchFamily="34" charset="-120"/>
                <a:cs typeface="Arial" panose="020B0604020202020204" pitchFamily="34" charset="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extLst>
      <p:ext uri="{BB962C8B-B14F-4D97-AF65-F5344CB8AC3E}">
        <p14:creationId xmlns:p14="http://schemas.microsoft.com/office/powerpoint/2010/main" val="2086655709"/>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A8AE6801-0935-4DDB-9F1D-37BC2745F310}"/>
              </a:ext>
            </a:extLst>
          </p:cNvPr>
          <p:cNvSpPr>
            <a:spLocks noGrp="1"/>
          </p:cNvSpPr>
          <p:nvPr>
            <p:ph sz="quarter" idx="10"/>
          </p:nvPr>
        </p:nvSpPr>
        <p:spPr>
          <a:xfrm>
            <a:off x="301725"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內容版面配置區 3">
            <a:extLst>
              <a:ext uri="{FF2B5EF4-FFF2-40B4-BE49-F238E27FC236}">
                <a16:creationId xmlns:a16="http://schemas.microsoft.com/office/drawing/2014/main" id="{C5A0BBB7-1B89-4C34-A1C9-9CEE207EB87D}"/>
              </a:ext>
            </a:extLst>
          </p:cNvPr>
          <p:cNvSpPr>
            <a:spLocks noGrp="1"/>
          </p:cNvSpPr>
          <p:nvPr>
            <p:ph sz="quarter" idx="11"/>
          </p:nvPr>
        </p:nvSpPr>
        <p:spPr>
          <a:xfrm>
            <a:off x="5991372"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extLst>
      <p:ext uri="{BB962C8B-B14F-4D97-AF65-F5344CB8AC3E}">
        <p14:creationId xmlns:p14="http://schemas.microsoft.com/office/powerpoint/2010/main" val="1841972332"/>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標題及內容">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5A936644-8B67-420E-9B58-FEDE5BAD0E65}"/>
              </a:ext>
            </a:extLst>
          </p:cNvPr>
          <p:cNvSpPr>
            <a:spLocks noGrp="1"/>
          </p:cNvSpPr>
          <p:nvPr>
            <p:ph idx="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標題 6">
            <a:extLst>
              <a:ext uri="{FF2B5EF4-FFF2-40B4-BE49-F238E27FC236}">
                <a16:creationId xmlns:a16="http://schemas.microsoft.com/office/drawing/2014/main" id="{2B53EA66-E7D9-24DB-78D4-DFAD28F57FAC}"/>
              </a:ext>
            </a:extLst>
          </p:cNvPr>
          <p:cNvSpPr>
            <a:spLocks noGrp="1"/>
          </p:cNvSpPr>
          <p:nvPr>
            <p:ph type="title"/>
          </p:nvPr>
        </p:nvSpPr>
        <p:spPr/>
        <p:txBody>
          <a:bodyPr/>
          <a:lstStyle/>
          <a:p>
            <a:r>
              <a:rPr lang="zh-TW" altLang="en-US" dirty="0"/>
              <a:t>按一下以編輯母片標題樣式</a:t>
            </a:r>
          </a:p>
        </p:txBody>
      </p:sp>
      <p:sp>
        <p:nvSpPr>
          <p:cNvPr id="8" name="日期版面配置區 7">
            <a:extLst>
              <a:ext uri="{FF2B5EF4-FFF2-40B4-BE49-F238E27FC236}">
                <a16:creationId xmlns:a16="http://schemas.microsoft.com/office/drawing/2014/main" id="{88B097B8-145F-5CAE-4DFF-7822348D7CE5}"/>
              </a:ext>
            </a:extLst>
          </p:cNvPr>
          <p:cNvSpPr>
            <a:spLocks noGrp="1"/>
          </p:cNvSpPr>
          <p:nvPr>
            <p:ph type="dt" sz="half" idx="10"/>
          </p:nvPr>
        </p:nvSpPr>
        <p:spPr/>
        <p:txBody>
          <a:bodyPr/>
          <a:lstStyle/>
          <a:p>
            <a:endParaRPr lang="zh-TW" altLang="en-US" dirty="0"/>
          </a:p>
        </p:txBody>
      </p:sp>
      <p:sp>
        <p:nvSpPr>
          <p:cNvPr id="9" name="投影片編號版面配置區 8">
            <a:extLst>
              <a:ext uri="{FF2B5EF4-FFF2-40B4-BE49-F238E27FC236}">
                <a16:creationId xmlns:a16="http://schemas.microsoft.com/office/drawing/2014/main" id="{FC823235-DF36-D00E-48AB-3C7589CE7C25}"/>
              </a:ext>
            </a:extLst>
          </p:cNvPr>
          <p:cNvSpPr>
            <a:spLocks noGrp="1"/>
          </p:cNvSpPr>
          <p:nvPr>
            <p:ph type="sldNum" sz="quarter" idx="11"/>
          </p:nvPr>
        </p:nvSpPr>
        <p:spPr/>
        <p:txBody>
          <a:bodyPr/>
          <a:lstStyle/>
          <a:p>
            <a:fld id="{7C1318EF-881E-4C57-88FC-4A50CED04FA3}" type="slidenum">
              <a:rPr lang="zh-TW" altLang="en-US" smtClean="0"/>
              <a:t>‹#›</a:t>
            </a:fld>
            <a:endParaRPr lang="zh-TW" altLang="en-US" dirty="0"/>
          </a:p>
        </p:txBody>
      </p:sp>
    </p:spTree>
    <p:extLst>
      <p:ext uri="{BB962C8B-B14F-4D97-AF65-F5344CB8AC3E}">
        <p14:creationId xmlns:p14="http://schemas.microsoft.com/office/powerpoint/2010/main" val="3633177572"/>
      </p:ext>
    </p:extLst>
  </p:cSld>
  <p:clrMapOvr>
    <a:masterClrMapping/>
  </p:clrMapOvr>
  <p:extLst>
    <p:ext uri="{DCECCB84-F9BA-43D5-87BE-67443E8EF086}">
      <p15:sldGuideLst xmlns:p15="http://schemas.microsoft.com/office/powerpoint/2012/main">
        <p15:guide id="1" orient="horz" pos="2117">
          <p15:clr>
            <a:srgbClr val="FBAE40"/>
          </p15:clr>
        </p15:guide>
        <p15:guide id="2" pos="3763">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pn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C6665AEB-59FE-4F24-9CB8-A4FB48FA899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50806" y="6155362"/>
            <a:ext cx="4570242" cy="731880"/>
          </a:xfrm>
          <a:prstGeom prst="rect">
            <a:avLst/>
          </a:prstGeom>
        </p:spPr>
      </p:pic>
      <p:sp>
        <p:nvSpPr>
          <p:cNvPr id="1026" name="Line 197"/>
          <p:cNvSpPr>
            <a:spLocks noChangeShapeType="1"/>
          </p:cNvSpPr>
          <p:nvPr userDrawn="1"/>
        </p:nvSpPr>
        <p:spPr bwMode="auto">
          <a:xfrm>
            <a:off x="304814" y="792163"/>
            <a:ext cx="1124846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p>
        </p:txBody>
      </p:sp>
      <p:sp>
        <p:nvSpPr>
          <p:cNvPr id="1027" name="矩形 9"/>
          <p:cNvSpPr>
            <a:spLocks noChangeArrowheads="1"/>
          </p:cNvSpPr>
          <p:nvPr userDrawn="1"/>
        </p:nvSpPr>
        <p:spPr bwMode="auto">
          <a:xfrm>
            <a:off x="16935" y="6438628"/>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dirty="0">
              <a:ea typeface="微軟正黑體" pitchFamily="34" charset="-120"/>
            </a:endParaRPr>
          </a:p>
        </p:txBody>
      </p:sp>
      <p:pic>
        <p:nvPicPr>
          <p:cNvPr id="3" name="圖片 2">
            <a:extLst>
              <a:ext uri="{FF2B5EF4-FFF2-40B4-BE49-F238E27FC236}">
                <a16:creationId xmlns:a16="http://schemas.microsoft.com/office/drawing/2014/main" id="{A94AB532-351A-4A3E-8D7A-03049FC8B5B3}"/>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9154756" y="6322740"/>
            <a:ext cx="2364050" cy="312671"/>
          </a:xfrm>
          <a:prstGeom prst="rect">
            <a:avLst/>
          </a:prstGeom>
        </p:spPr>
      </p:pic>
      <p:sp>
        <p:nvSpPr>
          <p:cNvPr id="2" name="文字方塊 1">
            <a:extLst>
              <a:ext uri="{FF2B5EF4-FFF2-40B4-BE49-F238E27FC236}">
                <a16:creationId xmlns:a16="http://schemas.microsoft.com/office/drawing/2014/main" id="{826D07C4-8E62-BA08-249E-72FA487CC983}"/>
              </a:ext>
            </a:extLst>
          </p:cNvPr>
          <p:cNvSpPr txBox="1"/>
          <p:nvPr userDrawn="1"/>
        </p:nvSpPr>
        <p:spPr>
          <a:xfrm>
            <a:off x="132214" y="0"/>
            <a:ext cx="303008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44546A"/>
                </a:solidFill>
                <a:effectLst/>
                <a:uLnTx/>
                <a:uFillTx/>
                <a:latin typeface="微軟正黑體" panose="020B0604030504040204" pitchFamily="34" charset="-120"/>
                <a:ea typeface="微軟正黑體" panose="020B0604030504040204" pitchFamily="34" charset="-120"/>
                <a:cs typeface="+mn-cs"/>
              </a:rPr>
              <a:t>【</a:t>
            </a:r>
            <a:r>
              <a:rPr kumimoji="0" lang="zh-TW" altLang="en-US" sz="1200" b="1" i="0" u="none" strike="noStrike" kern="1200" cap="none" spc="0" normalizeH="0" baseline="0" noProof="0" dirty="0">
                <a:ln>
                  <a:noFill/>
                </a:ln>
                <a:solidFill>
                  <a:srgbClr val="44546A"/>
                </a:solidFill>
                <a:effectLst/>
                <a:uLnTx/>
                <a:uFillTx/>
                <a:latin typeface="微軟正黑體" panose="020B0604030504040204" pitchFamily="34" charset="-120"/>
                <a:ea typeface="微軟正黑體" panose="020B0604030504040204" pitchFamily="34" charset="-120"/>
                <a:cs typeface="+mn-cs"/>
              </a:rPr>
              <a:t>新聞導讀</a:t>
            </a:r>
            <a:r>
              <a:rPr kumimoji="0" lang="en-US" altLang="zh-TW" sz="1200" b="1" i="0" u="none" strike="noStrike" kern="1200" cap="none" spc="0" normalizeH="0" baseline="0" noProof="0" dirty="0">
                <a:ln>
                  <a:noFill/>
                </a:ln>
                <a:solidFill>
                  <a:srgbClr val="44546A"/>
                </a:solidFill>
                <a:effectLst/>
                <a:uLnTx/>
                <a:uFillTx/>
                <a:latin typeface="微軟正黑體" panose="020B0604030504040204" pitchFamily="34" charset="-120"/>
                <a:ea typeface="微軟正黑體" panose="020B0604030504040204" pitchFamily="34" charset="-120"/>
                <a:cs typeface="+mn-cs"/>
              </a:rPr>
              <a:t>2026/03/21-2026/03/27】</a:t>
            </a:r>
          </a:p>
        </p:txBody>
      </p:sp>
    </p:spTree>
  </p:cSld>
  <p:clrMap bg1="lt1" tx1="dk1" bg2="lt2" tx2="dk2" accent1="accent1" accent2="accent2" accent3="accent3" accent4="accent4" accent5="accent5" accent6="accent6" hlink="hlink" folHlink="folHlink"/>
  <p:sldLayoutIdLst>
    <p:sldLayoutId id="2147483703" r:id="rId1"/>
    <p:sldLayoutId id="2147483704" r:id="rId2"/>
    <p:sldLayoutId id="2147483706" r:id="rId3"/>
    <p:sldLayoutId id="2147483707" r:id="rId4"/>
  </p:sldLayoutIdLst>
  <p:transition spd="med"/>
  <p:hf hdr="0"/>
  <p:txStyles>
    <p:titleStyle>
      <a:lvl1pPr algn="l" defTabSz="895350" rtl="0" eaLnBrk="0" fontAlgn="base" hangingPunct="0">
        <a:spcBef>
          <a:spcPct val="0"/>
        </a:spcBef>
        <a:spcAft>
          <a:spcPct val="0"/>
        </a:spcAft>
        <a:defRPr sz="1900" b="1">
          <a:solidFill>
            <a:schemeClr val="tx2"/>
          </a:solidFill>
          <a:latin typeface="+mj-lt"/>
          <a:ea typeface="+mj-ea"/>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p:titleStyle>
    <p:bodyStyle>
      <a:lvl1pPr algn="l" defTabSz="895350" rtl="0" eaLnBrk="0" fontAlgn="base" hangingPunct="0">
        <a:spcBef>
          <a:spcPct val="0"/>
        </a:spcBef>
        <a:spcAft>
          <a:spcPct val="0"/>
        </a:spcAft>
        <a:buSzPct val="120000"/>
        <a:defRPr sz="1600">
          <a:solidFill>
            <a:schemeClr val="tx1"/>
          </a:solidFill>
          <a:latin typeface="+mn-lt"/>
          <a:ea typeface="+mn-ea"/>
          <a:cs typeface="+mn-cs"/>
        </a:defRPr>
      </a:lvl1pPr>
      <a:lvl2pPr marL="144463" indent="-142875" algn="l" defTabSz="895350" rtl="0" eaLnBrk="0" fontAlgn="base" hangingPunct="0">
        <a:spcBef>
          <a:spcPct val="0"/>
        </a:spcBef>
        <a:spcAft>
          <a:spcPct val="0"/>
        </a:spcAft>
        <a:buSzPct val="120000"/>
        <a:buChar char="•"/>
        <a:defRPr sz="1600">
          <a:solidFill>
            <a:schemeClr val="tx1"/>
          </a:solidFill>
          <a:latin typeface="+mn-lt"/>
          <a:ea typeface="+mn-ea"/>
        </a:defRPr>
      </a:lvl2pPr>
      <a:lvl3pPr marL="295275" indent="-149225" algn="l" defTabSz="895350" rtl="0" eaLnBrk="0" fontAlgn="base" hangingPunct="0">
        <a:spcBef>
          <a:spcPct val="0"/>
        </a:spcBef>
        <a:spcAft>
          <a:spcPct val="0"/>
        </a:spcAft>
        <a:buChar char="–"/>
        <a:defRPr sz="1600">
          <a:solidFill>
            <a:schemeClr val="tx1"/>
          </a:solidFill>
          <a:latin typeface="+mn-lt"/>
          <a:ea typeface="+mn-ea"/>
        </a:defRPr>
      </a:lvl3pPr>
      <a:lvl4pPr marL="431800" indent="-134938" algn="l" defTabSz="895350" rtl="0" eaLnBrk="0" fontAlgn="base" hangingPunct="0">
        <a:spcBef>
          <a:spcPct val="0"/>
        </a:spcBef>
        <a:spcAft>
          <a:spcPct val="0"/>
        </a:spcAft>
        <a:buSzPct val="89000"/>
        <a:buChar char="•"/>
        <a:defRPr sz="1600">
          <a:solidFill>
            <a:schemeClr val="tx1"/>
          </a:solidFill>
          <a:latin typeface="+mn-lt"/>
          <a:ea typeface="+mn-ea"/>
        </a:defRPr>
      </a:lvl4pPr>
      <a:lvl5pPr marL="582613" indent="-149225" algn="l" defTabSz="895350" rtl="0" eaLnBrk="0" fontAlgn="base" hangingPunct="0">
        <a:spcBef>
          <a:spcPct val="0"/>
        </a:spcBef>
        <a:spcAft>
          <a:spcPct val="0"/>
        </a:spcAft>
        <a:buSzPct val="75000"/>
        <a:buChar char="–"/>
        <a:defRPr sz="1600">
          <a:solidFill>
            <a:schemeClr val="tx1"/>
          </a:solidFill>
          <a:latin typeface="+mn-lt"/>
          <a:ea typeface="+mn-ea"/>
        </a:defRPr>
      </a:lvl5pPr>
      <a:lvl6pPr marL="1039813" indent="-149225" algn="l" defTabSz="895350" rtl="0" fontAlgn="base">
        <a:spcBef>
          <a:spcPct val="0"/>
        </a:spcBef>
        <a:spcAft>
          <a:spcPct val="0"/>
        </a:spcAft>
        <a:buSzPct val="75000"/>
        <a:buChar char="–"/>
        <a:defRPr sz="1600">
          <a:solidFill>
            <a:schemeClr val="tx1"/>
          </a:solidFill>
          <a:latin typeface="+mn-lt"/>
          <a:ea typeface="+mn-ea"/>
        </a:defRPr>
      </a:lvl6pPr>
      <a:lvl7pPr marL="1497013" indent="-149225" algn="l" defTabSz="895350" rtl="0" fontAlgn="base">
        <a:spcBef>
          <a:spcPct val="0"/>
        </a:spcBef>
        <a:spcAft>
          <a:spcPct val="0"/>
        </a:spcAft>
        <a:buSzPct val="75000"/>
        <a:buChar char="–"/>
        <a:defRPr sz="1600">
          <a:solidFill>
            <a:schemeClr val="tx1"/>
          </a:solidFill>
          <a:latin typeface="+mn-lt"/>
          <a:ea typeface="+mn-ea"/>
        </a:defRPr>
      </a:lvl7pPr>
      <a:lvl8pPr marL="1954213" indent="-149225" algn="l" defTabSz="895350" rtl="0" fontAlgn="base">
        <a:spcBef>
          <a:spcPct val="0"/>
        </a:spcBef>
        <a:spcAft>
          <a:spcPct val="0"/>
        </a:spcAft>
        <a:buSzPct val="75000"/>
        <a:buChar char="–"/>
        <a:defRPr sz="1600">
          <a:solidFill>
            <a:schemeClr val="tx1"/>
          </a:solidFill>
          <a:latin typeface="+mn-lt"/>
          <a:ea typeface="+mn-ea"/>
        </a:defRPr>
      </a:lvl8pPr>
      <a:lvl9pPr marL="2411413" indent="-149225" algn="l" defTabSz="895350" rtl="0" fontAlgn="base">
        <a:spcBef>
          <a:spcPct val="0"/>
        </a:spcBef>
        <a:spcAft>
          <a:spcPct val="0"/>
        </a:spcAft>
        <a:buSzPct val="75000"/>
        <a:buChar char="–"/>
        <a:defRPr sz="16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17" userDrawn="1">
          <p15:clr>
            <a:srgbClr val="F26B43"/>
          </p15:clr>
        </p15:guide>
        <p15:guide id="2" pos="376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C6665AEB-59FE-4F24-9CB8-A4FB48FA899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50806" y="6155362"/>
            <a:ext cx="4570242" cy="731880"/>
          </a:xfrm>
          <a:prstGeom prst="rect">
            <a:avLst/>
          </a:prstGeom>
        </p:spPr>
      </p:pic>
      <p:sp>
        <p:nvSpPr>
          <p:cNvPr id="1026" name="Line 197"/>
          <p:cNvSpPr>
            <a:spLocks noChangeShapeType="1"/>
          </p:cNvSpPr>
          <p:nvPr userDrawn="1"/>
        </p:nvSpPr>
        <p:spPr bwMode="auto">
          <a:xfrm>
            <a:off x="304814" y="792163"/>
            <a:ext cx="1124846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p>
        </p:txBody>
      </p:sp>
      <p:sp>
        <p:nvSpPr>
          <p:cNvPr id="1027" name="矩形 9"/>
          <p:cNvSpPr>
            <a:spLocks noChangeArrowheads="1"/>
          </p:cNvSpPr>
          <p:nvPr userDrawn="1"/>
        </p:nvSpPr>
        <p:spPr bwMode="auto">
          <a:xfrm>
            <a:off x="16935" y="6438628"/>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dirty="0">
              <a:ea typeface="微軟正黑體" pitchFamily="34" charset="-120"/>
            </a:endParaRPr>
          </a:p>
        </p:txBody>
      </p:sp>
      <p:pic>
        <p:nvPicPr>
          <p:cNvPr id="3" name="圖片 2">
            <a:extLst>
              <a:ext uri="{FF2B5EF4-FFF2-40B4-BE49-F238E27FC236}">
                <a16:creationId xmlns:a16="http://schemas.microsoft.com/office/drawing/2014/main" id="{A94AB532-351A-4A3E-8D7A-03049FC8B5B3}"/>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9154756" y="6322740"/>
            <a:ext cx="2364050" cy="312671"/>
          </a:xfrm>
          <a:prstGeom prst="rect">
            <a:avLst/>
          </a:prstGeom>
        </p:spPr>
      </p:pic>
      <p:sp>
        <p:nvSpPr>
          <p:cNvPr id="2" name="文字方塊 1">
            <a:extLst>
              <a:ext uri="{FF2B5EF4-FFF2-40B4-BE49-F238E27FC236}">
                <a16:creationId xmlns:a16="http://schemas.microsoft.com/office/drawing/2014/main" id="{826D07C4-8E62-BA08-249E-72FA487CC983}"/>
              </a:ext>
            </a:extLst>
          </p:cNvPr>
          <p:cNvSpPr txBox="1"/>
          <p:nvPr userDrawn="1"/>
        </p:nvSpPr>
        <p:spPr>
          <a:xfrm>
            <a:off x="132214" y="0"/>
            <a:ext cx="303008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44546A"/>
                </a:solidFill>
                <a:effectLst/>
                <a:uLnTx/>
                <a:uFillTx/>
                <a:latin typeface="微軟正黑體" panose="020B0604030504040204" pitchFamily="34" charset="-120"/>
                <a:ea typeface="微軟正黑體" panose="020B0604030504040204" pitchFamily="34" charset="-120"/>
                <a:cs typeface="+mn-cs"/>
              </a:rPr>
              <a:t>【</a:t>
            </a:r>
            <a:r>
              <a:rPr kumimoji="0" lang="zh-TW" altLang="en-US" sz="1200" b="1" i="0" u="none" strike="noStrike" kern="1200" cap="none" spc="0" normalizeH="0" baseline="0" noProof="0" dirty="0">
                <a:ln>
                  <a:noFill/>
                </a:ln>
                <a:solidFill>
                  <a:srgbClr val="44546A"/>
                </a:solidFill>
                <a:effectLst/>
                <a:uLnTx/>
                <a:uFillTx/>
                <a:latin typeface="微軟正黑體" panose="020B0604030504040204" pitchFamily="34" charset="-120"/>
                <a:ea typeface="微軟正黑體" panose="020B0604030504040204" pitchFamily="34" charset="-120"/>
                <a:cs typeface="+mn-cs"/>
              </a:rPr>
              <a:t>新聞導讀</a:t>
            </a:r>
            <a:r>
              <a:rPr kumimoji="0" lang="en-US" altLang="zh-TW" sz="1200" b="1" i="0" u="none" strike="noStrike" kern="1200" cap="none" spc="0" normalizeH="0" baseline="0" noProof="0" dirty="0">
                <a:ln>
                  <a:noFill/>
                </a:ln>
                <a:solidFill>
                  <a:srgbClr val="44546A"/>
                </a:solidFill>
                <a:effectLst/>
                <a:uLnTx/>
                <a:uFillTx/>
                <a:latin typeface="微軟正黑體" panose="020B0604030504040204" pitchFamily="34" charset="-120"/>
                <a:ea typeface="微軟正黑體" panose="020B0604030504040204" pitchFamily="34" charset="-120"/>
                <a:cs typeface="+mn-cs"/>
              </a:rPr>
              <a:t>2026/03/21-2026/03/27】</a:t>
            </a:r>
          </a:p>
        </p:txBody>
      </p:sp>
    </p:spTree>
    <p:extLst>
      <p:ext uri="{BB962C8B-B14F-4D97-AF65-F5344CB8AC3E}">
        <p14:creationId xmlns:p14="http://schemas.microsoft.com/office/powerpoint/2010/main" val="398874898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Lst>
  <p:transition spd="med"/>
  <p:hf hdr="0"/>
  <p:txStyles>
    <p:titleStyle>
      <a:lvl1pPr algn="l" defTabSz="895350" rtl="0" eaLnBrk="0" fontAlgn="base" hangingPunct="0">
        <a:spcBef>
          <a:spcPct val="0"/>
        </a:spcBef>
        <a:spcAft>
          <a:spcPct val="0"/>
        </a:spcAft>
        <a:defRPr sz="1900" b="1">
          <a:solidFill>
            <a:schemeClr val="tx2"/>
          </a:solidFill>
          <a:latin typeface="+mj-lt"/>
          <a:ea typeface="+mj-ea"/>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p:titleStyle>
    <p:bodyStyle>
      <a:lvl1pPr algn="l" defTabSz="895350" rtl="0" eaLnBrk="0" fontAlgn="base" hangingPunct="0">
        <a:spcBef>
          <a:spcPct val="0"/>
        </a:spcBef>
        <a:spcAft>
          <a:spcPct val="0"/>
        </a:spcAft>
        <a:buSzPct val="120000"/>
        <a:defRPr sz="1600">
          <a:solidFill>
            <a:schemeClr val="tx1"/>
          </a:solidFill>
          <a:latin typeface="+mn-lt"/>
          <a:ea typeface="+mn-ea"/>
          <a:cs typeface="+mn-cs"/>
        </a:defRPr>
      </a:lvl1pPr>
      <a:lvl2pPr marL="144463" indent="-142875" algn="l" defTabSz="895350" rtl="0" eaLnBrk="0" fontAlgn="base" hangingPunct="0">
        <a:spcBef>
          <a:spcPct val="0"/>
        </a:spcBef>
        <a:spcAft>
          <a:spcPct val="0"/>
        </a:spcAft>
        <a:buSzPct val="120000"/>
        <a:buChar char="•"/>
        <a:defRPr sz="1600">
          <a:solidFill>
            <a:schemeClr val="tx1"/>
          </a:solidFill>
          <a:latin typeface="+mn-lt"/>
          <a:ea typeface="+mn-ea"/>
        </a:defRPr>
      </a:lvl2pPr>
      <a:lvl3pPr marL="295275" indent="-149225" algn="l" defTabSz="895350" rtl="0" eaLnBrk="0" fontAlgn="base" hangingPunct="0">
        <a:spcBef>
          <a:spcPct val="0"/>
        </a:spcBef>
        <a:spcAft>
          <a:spcPct val="0"/>
        </a:spcAft>
        <a:buChar char="–"/>
        <a:defRPr sz="1600">
          <a:solidFill>
            <a:schemeClr val="tx1"/>
          </a:solidFill>
          <a:latin typeface="+mn-lt"/>
          <a:ea typeface="+mn-ea"/>
        </a:defRPr>
      </a:lvl3pPr>
      <a:lvl4pPr marL="431800" indent="-134938" algn="l" defTabSz="895350" rtl="0" eaLnBrk="0" fontAlgn="base" hangingPunct="0">
        <a:spcBef>
          <a:spcPct val="0"/>
        </a:spcBef>
        <a:spcAft>
          <a:spcPct val="0"/>
        </a:spcAft>
        <a:buSzPct val="89000"/>
        <a:buChar char="•"/>
        <a:defRPr sz="1600">
          <a:solidFill>
            <a:schemeClr val="tx1"/>
          </a:solidFill>
          <a:latin typeface="+mn-lt"/>
          <a:ea typeface="+mn-ea"/>
        </a:defRPr>
      </a:lvl4pPr>
      <a:lvl5pPr marL="582613" indent="-149225" algn="l" defTabSz="895350" rtl="0" eaLnBrk="0" fontAlgn="base" hangingPunct="0">
        <a:spcBef>
          <a:spcPct val="0"/>
        </a:spcBef>
        <a:spcAft>
          <a:spcPct val="0"/>
        </a:spcAft>
        <a:buSzPct val="75000"/>
        <a:buChar char="–"/>
        <a:defRPr sz="1600">
          <a:solidFill>
            <a:schemeClr val="tx1"/>
          </a:solidFill>
          <a:latin typeface="+mn-lt"/>
          <a:ea typeface="+mn-ea"/>
        </a:defRPr>
      </a:lvl5pPr>
      <a:lvl6pPr marL="1039813" indent="-149225" algn="l" defTabSz="895350" rtl="0" fontAlgn="base">
        <a:spcBef>
          <a:spcPct val="0"/>
        </a:spcBef>
        <a:spcAft>
          <a:spcPct val="0"/>
        </a:spcAft>
        <a:buSzPct val="75000"/>
        <a:buChar char="–"/>
        <a:defRPr sz="1600">
          <a:solidFill>
            <a:schemeClr val="tx1"/>
          </a:solidFill>
          <a:latin typeface="+mn-lt"/>
          <a:ea typeface="+mn-ea"/>
        </a:defRPr>
      </a:lvl6pPr>
      <a:lvl7pPr marL="1497013" indent="-149225" algn="l" defTabSz="895350" rtl="0" fontAlgn="base">
        <a:spcBef>
          <a:spcPct val="0"/>
        </a:spcBef>
        <a:spcAft>
          <a:spcPct val="0"/>
        </a:spcAft>
        <a:buSzPct val="75000"/>
        <a:buChar char="–"/>
        <a:defRPr sz="1600">
          <a:solidFill>
            <a:schemeClr val="tx1"/>
          </a:solidFill>
          <a:latin typeface="+mn-lt"/>
          <a:ea typeface="+mn-ea"/>
        </a:defRPr>
      </a:lvl7pPr>
      <a:lvl8pPr marL="1954213" indent="-149225" algn="l" defTabSz="895350" rtl="0" fontAlgn="base">
        <a:spcBef>
          <a:spcPct val="0"/>
        </a:spcBef>
        <a:spcAft>
          <a:spcPct val="0"/>
        </a:spcAft>
        <a:buSzPct val="75000"/>
        <a:buChar char="–"/>
        <a:defRPr sz="1600">
          <a:solidFill>
            <a:schemeClr val="tx1"/>
          </a:solidFill>
          <a:latin typeface="+mn-lt"/>
          <a:ea typeface="+mn-ea"/>
        </a:defRPr>
      </a:lvl8pPr>
      <a:lvl9pPr marL="2411413" indent="-149225" algn="l" defTabSz="895350" rtl="0" fontAlgn="base">
        <a:spcBef>
          <a:spcPct val="0"/>
        </a:spcBef>
        <a:spcAft>
          <a:spcPct val="0"/>
        </a:spcAft>
        <a:buSzPct val="75000"/>
        <a:buChar char="–"/>
        <a:defRPr sz="16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17">
          <p15:clr>
            <a:srgbClr val="F26B43"/>
          </p15:clr>
        </p15:guide>
        <p15:guide id="2" pos="376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image" Target="../media/image3.jpeg"/><Relationship Id="rId7" Type="http://schemas.openxmlformats.org/officeDocument/2006/relationships/slide" Target="slide7.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slide" Target="slide2.xml"/><Relationship Id="rId11"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slide" Target="slide6.xml"/><Relationship Id="rId4" Type="http://schemas.openxmlformats.org/officeDocument/2006/relationships/slide" Target="slide8.xml"/><Relationship Id="rId9" Type="http://schemas.openxmlformats.org/officeDocument/2006/relationships/slide" Target="slide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619C6AB-C142-4B44-A429-30FDABD0CC9D}"/>
              </a:ext>
            </a:extLst>
          </p:cNvPr>
          <p:cNvSpPr/>
          <p:nvPr/>
        </p:nvSpPr>
        <p:spPr>
          <a:xfrm flipV="1">
            <a:off x="-1" y="49"/>
            <a:ext cx="11949113" cy="924127"/>
          </a:xfrm>
          <a:prstGeom prst="rect">
            <a:avLst/>
          </a:prstGeom>
          <a:solidFill>
            <a:srgbClr val="F4D5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3920"/>
          </a:p>
        </p:txBody>
      </p:sp>
      <p:sp>
        <p:nvSpPr>
          <p:cNvPr id="5" name="矩形 4">
            <a:extLst>
              <a:ext uri="{FF2B5EF4-FFF2-40B4-BE49-F238E27FC236}">
                <a16:creationId xmlns:a16="http://schemas.microsoft.com/office/drawing/2014/main" id="{6BDC3199-282F-4BC3-8D3B-7681EC9A5FB6}"/>
              </a:ext>
            </a:extLst>
          </p:cNvPr>
          <p:cNvSpPr/>
          <p:nvPr/>
        </p:nvSpPr>
        <p:spPr>
          <a:xfrm>
            <a:off x="373038" y="198568"/>
            <a:ext cx="6532702" cy="512796"/>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a:spAutoFit/>
          </a:bodyPr>
          <a:lstStyle/>
          <a:p>
            <a:pPr>
              <a:spcBef>
                <a:spcPts val="588"/>
              </a:spcBef>
            </a:pPr>
            <a:r>
              <a:rPr lang="zh-TW" altLang="en-US" sz="2744" dirty="0">
                <a:solidFill>
                  <a:schemeClr val="tx1">
                    <a:lumMod val="85000"/>
                    <a:lumOff val="15000"/>
                  </a:schemeClr>
                </a:solidFill>
                <a:latin typeface="Microsoft YaHei UI" panose="020B0503020204020204" pitchFamily="34" charset="-122"/>
                <a:ea typeface="Microsoft YaHei UI" panose="020B0503020204020204" pitchFamily="34" charset="-122"/>
              </a:rPr>
              <a:t>新聞快覽 </a:t>
            </a:r>
            <a:r>
              <a:rPr lang="en-US" altLang="zh-TW" sz="2744" dirty="0">
                <a:solidFill>
                  <a:schemeClr val="tx1">
                    <a:lumMod val="85000"/>
                    <a:lumOff val="15000"/>
                  </a:schemeClr>
                </a:solidFill>
                <a:latin typeface="Microsoft YaHei UI" panose="020B0503020204020204" pitchFamily="34" charset="-122"/>
                <a:ea typeface="Microsoft YaHei UI" panose="020B0503020204020204" pitchFamily="34" charset="-122"/>
              </a:rPr>
              <a:t>2026/03/21-2026/03/27</a:t>
            </a:r>
            <a:endParaRPr lang="zh-TW" altLang="en-US" sz="2744" dirty="0">
              <a:solidFill>
                <a:schemeClr val="tx1">
                  <a:lumMod val="85000"/>
                  <a:lumOff val="15000"/>
                </a:schemeClr>
              </a:solidFill>
              <a:latin typeface="Microsoft YaHei UI" panose="020B0503020204020204" pitchFamily="34" charset="-122"/>
              <a:ea typeface="Microsoft YaHei UI" panose="020B0503020204020204" pitchFamily="34" charset="-122"/>
            </a:endParaRPr>
          </a:p>
        </p:txBody>
      </p:sp>
      <p:sp>
        <p:nvSpPr>
          <p:cNvPr id="3" name="文字方塊 2">
            <a:extLst>
              <a:ext uri="{FF2B5EF4-FFF2-40B4-BE49-F238E27FC236}">
                <a16:creationId xmlns:a16="http://schemas.microsoft.com/office/drawing/2014/main" id="{4F1E150D-0399-52BA-1FBE-F3492B69B3CB}"/>
              </a:ext>
            </a:extLst>
          </p:cNvPr>
          <p:cNvSpPr txBox="1"/>
          <p:nvPr/>
        </p:nvSpPr>
        <p:spPr>
          <a:xfrm>
            <a:off x="1606690" y="1529820"/>
            <a:ext cx="2819683" cy="39213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defTabSz="896203" fontAlgn="auto">
              <a:spcBef>
                <a:spcPts val="588"/>
              </a:spcBef>
              <a:spcAft>
                <a:spcPts val="0"/>
              </a:spcAft>
              <a:defRPr/>
            </a:pPr>
            <a:r>
              <a:rPr lang="zh-TW" altLang="en-US" sz="1960" dirty="0">
                <a:solidFill>
                  <a:srgbClr val="E07A5F"/>
                </a:solidFill>
                <a:latin typeface="微軟正黑體" panose="020B0604030504040204" pitchFamily="34" charset="-120"/>
                <a:ea typeface="微軟正黑體" panose="020B0604030504040204" pitchFamily="34" charset="-120"/>
              </a:rPr>
              <a:t>金融政策與營運</a:t>
            </a:r>
            <a:endParaRPr lang="en-US" altLang="zh-TW" sz="1960" dirty="0">
              <a:solidFill>
                <a:srgbClr val="E07A5F"/>
              </a:solidFill>
              <a:latin typeface="微軟正黑體" panose="020B0604030504040204" pitchFamily="34" charset="-120"/>
              <a:ea typeface="微軟正黑體" panose="020B0604030504040204" pitchFamily="34" charset="-120"/>
            </a:endParaRPr>
          </a:p>
        </p:txBody>
      </p:sp>
      <p:sp>
        <p:nvSpPr>
          <p:cNvPr id="4" name="矩形: 圓角 3">
            <a:extLst>
              <a:ext uri="{FF2B5EF4-FFF2-40B4-BE49-F238E27FC236}">
                <a16:creationId xmlns:a16="http://schemas.microsoft.com/office/drawing/2014/main" id="{0B8B9C0C-8FDE-3116-FD9A-886214E86644}"/>
              </a:ext>
            </a:extLst>
          </p:cNvPr>
          <p:cNvSpPr/>
          <p:nvPr/>
        </p:nvSpPr>
        <p:spPr>
          <a:xfrm>
            <a:off x="333467" y="2039144"/>
            <a:ext cx="5525747" cy="1054674"/>
          </a:xfrm>
          <a:prstGeom prst="roundRect">
            <a:avLst>
              <a:gd name="adj" fmla="val 13629"/>
            </a:avLst>
          </a:prstGeom>
          <a:noFill/>
          <a:ln>
            <a:solidFill>
              <a:srgbClr val="E07A5F"/>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3920">
              <a:latin typeface="微軟正黑體" panose="020B0604030504040204" pitchFamily="34" charset="-120"/>
              <a:ea typeface="微軟正黑體" panose="020B0604030504040204" pitchFamily="34" charset="-120"/>
            </a:endParaRPr>
          </a:p>
        </p:txBody>
      </p:sp>
      <p:pic>
        <p:nvPicPr>
          <p:cNvPr id="10" name="Picture 8" descr="Solutions - Digital Icon">
            <a:extLst>
              <a:ext uri="{FF2B5EF4-FFF2-40B4-BE49-F238E27FC236}">
                <a16:creationId xmlns:a16="http://schemas.microsoft.com/office/drawing/2014/main" id="{9002C303-3CD2-8448-C5DD-4D04C32283B5}"/>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43665" y="1420291"/>
            <a:ext cx="533018" cy="520440"/>
          </a:xfrm>
          <a:prstGeom prst="rect">
            <a:avLst/>
          </a:prstGeom>
          <a:noFill/>
          <a:extLst>
            <a:ext uri="{909E8E84-426E-40DD-AFC4-6F175D3DCCD1}">
              <a14:hiddenFill xmlns:a14="http://schemas.microsoft.com/office/drawing/2010/main">
                <a:solidFill>
                  <a:srgbClr val="FFFFFF"/>
                </a:solidFill>
              </a14:hiddenFill>
            </a:ext>
          </a:extLst>
        </p:spPr>
      </p:pic>
      <p:sp>
        <p:nvSpPr>
          <p:cNvPr id="16" name="文字方塊 15">
            <a:extLst>
              <a:ext uri="{FF2B5EF4-FFF2-40B4-BE49-F238E27FC236}">
                <a16:creationId xmlns:a16="http://schemas.microsoft.com/office/drawing/2014/main" id="{536247B8-2599-500D-9714-D6A099F7E767}"/>
              </a:ext>
            </a:extLst>
          </p:cNvPr>
          <p:cNvSpPr txBox="1"/>
          <p:nvPr/>
        </p:nvSpPr>
        <p:spPr>
          <a:xfrm>
            <a:off x="502608" y="2210778"/>
            <a:ext cx="5203725" cy="632995"/>
          </a:xfrm>
          <a:prstGeom prst="rect">
            <a:avLst/>
          </a:prstGeom>
          <a:solidFill>
            <a:srgbClr val="FBE5D6"/>
          </a:solidFill>
          <a:ln>
            <a:noFill/>
          </a:ln>
        </p:spPr>
        <p:style>
          <a:lnRef idx="1">
            <a:schemeClr val="accent4"/>
          </a:lnRef>
          <a:fillRef idx="2">
            <a:schemeClr val="accent4"/>
          </a:fillRef>
          <a:effectRef idx="1">
            <a:schemeClr val="accent4"/>
          </a:effectRef>
          <a:fontRef idx="minor">
            <a:schemeClr val="dk1"/>
          </a:fontRef>
        </p:style>
        <p:txBody>
          <a:bodyPr wrap="square" anchor="ctr">
            <a:noAutofit/>
          </a:bodyPr>
          <a:lstStyle>
            <a:defPPr>
              <a:defRPr lang="en-US"/>
            </a:defPPr>
            <a:lvl1pPr algn="ctr">
              <a:defRPr sz="1764">
                <a:solidFill>
                  <a:prstClr val="black"/>
                </a:solidFill>
                <a:latin typeface="微軟正黑體" panose="020B0604030504040204" pitchFamily="34" charset="-120"/>
                <a:ea typeface="微軟正黑體" panose="020B0604030504040204" pitchFamily="34" charset="-120"/>
              </a:defRPr>
            </a:lvl1pPr>
          </a:lstStyle>
          <a:p>
            <a:r>
              <a:rPr lang="zh-TW" altLang="en-US" dirty="0"/>
              <a:t>虛擬資產業將導入信託、隔離管理機制 </a:t>
            </a:r>
            <a:endParaRPr lang="en-US" altLang="zh-TW" dirty="0"/>
          </a:p>
          <a:p>
            <a:r>
              <a:rPr lang="zh-TW" altLang="en-US" dirty="0"/>
              <a:t>境外幣商落地　三家有意願 </a:t>
            </a:r>
            <a:r>
              <a:rPr lang="zh-TW" altLang="en-US" sz="1764" dirty="0">
                <a:hlinkClick r:id="rId4" action="ppaction://hlinksldjump"/>
              </a:rPr>
              <a:t>➲</a:t>
            </a:r>
            <a:endParaRPr lang="zh-TW" altLang="en-US" dirty="0"/>
          </a:p>
        </p:txBody>
      </p:sp>
      <p:grpSp>
        <p:nvGrpSpPr>
          <p:cNvPr id="52" name="群組 51">
            <a:extLst>
              <a:ext uri="{FF2B5EF4-FFF2-40B4-BE49-F238E27FC236}">
                <a16:creationId xmlns:a16="http://schemas.microsoft.com/office/drawing/2014/main" id="{E421DFF7-E4C4-1F67-D91C-A4CCAEC4F5B9}"/>
              </a:ext>
            </a:extLst>
          </p:cNvPr>
          <p:cNvGrpSpPr/>
          <p:nvPr/>
        </p:nvGrpSpPr>
        <p:grpSpPr>
          <a:xfrm>
            <a:off x="319812" y="3639726"/>
            <a:ext cx="5539402" cy="2361156"/>
            <a:chOff x="297084" y="1421130"/>
            <a:chExt cx="5539402" cy="2361156"/>
          </a:xfrm>
        </p:grpSpPr>
        <p:sp>
          <p:nvSpPr>
            <p:cNvPr id="20" name="文字方塊 19">
              <a:extLst>
                <a:ext uri="{FF2B5EF4-FFF2-40B4-BE49-F238E27FC236}">
                  <a16:creationId xmlns:a16="http://schemas.microsoft.com/office/drawing/2014/main" id="{0152CA3E-A870-F768-BA81-BB40E345D43F}"/>
                </a:ext>
              </a:extLst>
            </p:cNvPr>
            <p:cNvSpPr txBox="1"/>
            <p:nvPr/>
          </p:nvSpPr>
          <p:spPr>
            <a:xfrm>
              <a:off x="1792339" y="1548258"/>
              <a:ext cx="2220009" cy="39213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spcBef>
                  <a:spcPts val="588"/>
                </a:spcBef>
              </a:pPr>
              <a:r>
                <a:rPr lang="zh-TW" altLang="en-US" sz="1960" dirty="0">
                  <a:solidFill>
                    <a:schemeClr val="accent3"/>
                  </a:solidFill>
                  <a:latin typeface="微軟正黑體" panose="020B0604030504040204" pitchFamily="34" charset="-120"/>
                  <a:ea typeface="微軟正黑體" panose="020B0604030504040204" pitchFamily="34" charset="-120"/>
                </a:rPr>
                <a:t>零售業務</a:t>
              </a:r>
            </a:p>
          </p:txBody>
        </p:sp>
        <p:sp>
          <p:nvSpPr>
            <p:cNvPr id="21" name="矩形: 圓角 20">
              <a:extLst>
                <a:ext uri="{FF2B5EF4-FFF2-40B4-BE49-F238E27FC236}">
                  <a16:creationId xmlns:a16="http://schemas.microsoft.com/office/drawing/2014/main" id="{3A9B37BD-9B2F-6461-2AC2-EEE5D90297BF}"/>
                </a:ext>
              </a:extLst>
            </p:cNvPr>
            <p:cNvSpPr/>
            <p:nvPr/>
          </p:nvSpPr>
          <p:spPr>
            <a:xfrm>
              <a:off x="297084" y="2078074"/>
              <a:ext cx="5539402" cy="1704212"/>
            </a:xfrm>
            <a:prstGeom prst="roundRect">
              <a:avLst>
                <a:gd name="adj" fmla="val 13629"/>
              </a:avLst>
            </a:prstGeom>
            <a:noFill/>
            <a:ln>
              <a:solidFill>
                <a:schemeClr val="accent3"/>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3920">
                <a:latin typeface="微軟正黑體" panose="020B0604030504040204" pitchFamily="34" charset="-120"/>
                <a:ea typeface="微軟正黑體" panose="020B0604030504040204" pitchFamily="34" charset="-120"/>
              </a:endParaRPr>
            </a:p>
          </p:txBody>
        </p:sp>
        <p:pic>
          <p:nvPicPr>
            <p:cNvPr id="43" name="Picture 2" descr="Banking ">
              <a:extLst>
                <a:ext uri="{FF2B5EF4-FFF2-40B4-BE49-F238E27FC236}">
                  <a16:creationId xmlns:a16="http://schemas.microsoft.com/office/drawing/2014/main" id="{41FA4B2F-EB25-B877-02F1-29A39B3C679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34843" y="1421130"/>
              <a:ext cx="529242" cy="529242"/>
            </a:xfrm>
            <a:prstGeom prst="rect">
              <a:avLst/>
            </a:prstGeom>
            <a:noFill/>
            <a:extLst>
              <a:ext uri="{909E8E84-426E-40DD-AFC4-6F175D3DCCD1}">
                <a14:hiddenFill xmlns:a14="http://schemas.microsoft.com/office/drawing/2010/main">
                  <a:solidFill>
                    <a:srgbClr val="FFFFFF"/>
                  </a:solidFill>
                </a14:hiddenFill>
              </a:ext>
            </a:extLst>
          </p:spPr>
        </p:pic>
        <p:sp>
          <p:nvSpPr>
            <p:cNvPr id="44" name="文字方塊 43">
              <a:extLst>
                <a:ext uri="{FF2B5EF4-FFF2-40B4-BE49-F238E27FC236}">
                  <a16:creationId xmlns:a16="http://schemas.microsoft.com/office/drawing/2014/main" id="{E953526F-60EB-34D7-EA8A-5D4B43D98956}"/>
                </a:ext>
              </a:extLst>
            </p:cNvPr>
            <p:cNvSpPr txBox="1"/>
            <p:nvPr/>
          </p:nvSpPr>
          <p:spPr>
            <a:xfrm>
              <a:off x="474785" y="2218538"/>
              <a:ext cx="5184000" cy="619200"/>
            </a:xfrm>
            <a:prstGeom prst="rect">
              <a:avLst/>
            </a:prstGeom>
            <a:solidFill>
              <a:srgbClr val="E2F0D9"/>
            </a:solidFill>
            <a:ln>
              <a:noFill/>
            </a:ln>
          </p:spPr>
          <p:style>
            <a:lnRef idx="1">
              <a:schemeClr val="accent4"/>
            </a:lnRef>
            <a:fillRef idx="2">
              <a:schemeClr val="accent4"/>
            </a:fillRef>
            <a:effectRef idx="1">
              <a:schemeClr val="accent4"/>
            </a:effectRef>
            <a:fontRef idx="minor">
              <a:schemeClr val="dk1"/>
            </a:fontRef>
          </p:style>
          <p:txBody>
            <a:bodyPr wrap="square" anchor="ctr">
              <a:noAutofit/>
            </a:bodyPr>
            <a:lstStyle>
              <a:defPPr>
                <a:defRPr lang="zh-TW"/>
              </a:defPPr>
              <a:lvl1pPr algn="ctr" fontAlgn="base">
                <a:defRPr sz="1600" b="1">
                  <a:solidFill>
                    <a:prstClr val="black"/>
                  </a:solidFill>
                  <a:latin typeface="微軟正黑體" panose="020B0604030504040204" pitchFamily="34" charset="-120"/>
                  <a:ea typeface="微軟正黑體" panose="020B0604030504040204" pitchFamily="34" charset="-120"/>
                </a:defRPr>
              </a:lvl1pPr>
            </a:lstStyle>
            <a:p>
              <a:pPr>
                <a:defRPr/>
              </a:pPr>
              <a:r>
                <a:rPr lang="zh-TW" altLang="en-US" sz="1764" dirty="0"/>
                <a:t>美元短期定存利率衝</a:t>
              </a:r>
              <a:r>
                <a:rPr lang="en-US" altLang="zh-TW" sz="1764" dirty="0"/>
                <a:t>10% </a:t>
              </a:r>
            </a:p>
            <a:p>
              <a:pPr>
                <a:defRPr/>
              </a:pPr>
              <a:r>
                <a:rPr lang="zh-TW" altLang="en-US" sz="1764" dirty="0"/>
                <a:t>滙豐、王道、凱基</a:t>
              </a:r>
              <a:r>
                <a:rPr lang="en-US" altLang="zh-TW" sz="1764" dirty="0"/>
                <a:t>3</a:t>
              </a:r>
              <a:r>
                <a:rPr lang="zh-TW" altLang="en-US" sz="1764" dirty="0"/>
                <a:t>月底前都有優利</a:t>
              </a:r>
              <a:r>
                <a:rPr lang="zh-TW" altLang="en-US" sz="1760" dirty="0"/>
                <a:t> </a:t>
              </a:r>
              <a:r>
                <a:rPr lang="zh-TW" altLang="en-US" sz="1760" dirty="0">
                  <a:hlinkClick r:id="rId6" action="ppaction://hlinksldjump"/>
                </a:rPr>
                <a:t>➲</a:t>
              </a:r>
              <a:endParaRPr kumimoji="0" lang="zh-TW" altLang="en-US" sz="1760" b="1" i="0" u="none" strike="noStrike" kern="0" cap="none" spc="0" normalizeH="0" baseline="0" noProof="0" dirty="0">
                <a:ln>
                  <a:noFill/>
                </a:ln>
                <a:solidFill>
                  <a:prstClr val="black"/>
                </a:solidFill>
                <a:effectLst/>
                <a:uLnTx/>
                <a:uFillTx/>
              </a:endParaRPr>
            </a:p>
          </p:txBody>
        </p:sp>
        <p:sp>
          <p:nvSpPr>
            <p:cNvPr id="45" name="文字方塊 44">
              <a:extLst>
                <a:ext uri="{FF2B5EF4-FFF2-40B4-BE49-F238E27FC236}">
                  <a16:creationId xmlns:a16="http://schemas.microsoft.com/office/drawing/2014/main" id="{ACC87E58-45AC-027A-C1C8-981C3B1F991F}"/>
                </a:ext>
              </a:extLst>
            </p:cNvPr>
            <p:cNvSpPr txBox="1"/>
            <p:nvPr/>
          </p:nvSpPr>
          <p:spPr>
            <a:xfrm>
              <a:off x="474785" y="2965440"/>
              <a:ext cx="5184000" cy="619200"/>
            </a:xfrm>
            <a:prstGeom prst="rect">
              <a:avLst/>
            </a:prstGeom>
            <a:solidFill>
              <a:srgbClr val="E2F0D9"/>
            </a:solidFill>
            <a:ln>
              <a:noFill/>
            </a:ln>
          </p:spPr>
          <p:style>
            <a:lnRef idx="1">
              <a:schemeClr val="accent4"/>
            </a:lnRef>
            <a:fillRef idx="2">
              <a:schemeClr val="accent4"/>
            </a:fillRef>
            <a:effectRef idx="1">
              <a:schemeClr val="accent4"/>
            </a:effectRef>
            <a:fontRef idx="minor">
              <a:schemeClr val="dk1"/>
            </a:fontRef>
          </p:style>
          <p:txBody>
            <a:bodyPr wrap="square" anchor="ctr">
              <a:noAutofit/>
            </a:bodyPr>
            <a:lstStyle>
              <a:defPPr>
                <a:defRPr lang="zh-TW"/>
              </a:defPPr>
              <a:lvl1pPr algn="ctr" fontAlgn="base">
                <a:defRPr sz="1600" b="1">
                  <a:solidFill>
                    <a:prstClr val="black"/>
                  </a:solidFill>
                  <a:latin typeface="微軟正黑體" panose="020B0604030504040204" pitchFamily="34" charset="-120"/>
                  <a:ea typeface="微軟正黑體" panose="020B0604030504040204" pitchFamily="34" charset="-120"/>
                </a:defRPr>
              </a:lvl1pPr>
            </a:lstStyle>
            <a:p>
              <a:pPr>
                <a:defRPr/>
              </a:pPr>
              <a:r>
                <a:rPr lang="zh-TW" altLang="en-US" sz="1764" dirty="0"/>
                <a:t>國銀</a:t>
              </a:r>
              <a:r>
                <a:rPr lang="en-US" altLang="zh-TW" sz="1764" dirty="0"/>
                <a:t>1</a:t>
              </a:r>
              <a:r>
                <a:rPr lang="zh-TW" altLang="en-US" sz="1764" dirty="0"/>
                <a:t>月外幣存款 降至史上次高 </a:t>
              </a:r>
              <a:r>
                <a:rPr lang="zh-TW" altLang="en-US" sz="1760" dirty="0">
                  <a:hlinkClick r:id="rId7" action="ppaction://hlinksldjump"/>
                </a:rPr>
                <a:t>➲</a:t>
              </a:r>
              <a:endParaRPr kumimoji="0" lang="zh-TW" altLang="en-US" sz="1760" b="1" i="0" u="none" strike="noStrike" kern="0" cap="none" spc="0" normalizeH="0" baseline="0" noProof="0" dirty="0">
                <a:ln>
                  <a:noFill/>
                </a:ln>
                <a:solidFill>
                  <a:prstClr val="black"/>
                </a:solidFill>
                <a:effectLst/>
                <a:uLnTx/>
                <a:uFillTx/>
              </a:endParaRPr>
            </a:p>
          </p:txBody>
        </p:sp>
      </p:grpSp>
      <p:grpSp>
        <p:nvGrpSpPr>
          <p:cNvPr id="51" name="群組 50">
            <a:extLst>
              <a:ext uri="{FF2B5EF4-FFF2-40B4-BE49-F238E27FC236}">
                <a16:creationId xmlns:a16="http://schemas.microsoft.com/office/drawing/2014/main" id="{0CECDC39-B017-8953-09BF-210DDD1AAA73}"/>
              </a:ext>
            </a:extLst>
          </p:cNvPr>
          <p:cNvGrpSpPr/>
          <p:nvPr/>
        </p:nvGrpSpPr>
        <p:grpSpPr>
          <a:xfrm>
            <a:off x="6150922" y="1420291"/>
            <a:ext cx="5539402" cy="2277087"/>
            <a:chOff x="6104766" y="1224116"/>
            <a:chExt cx="5539402" cy="2277087"/>
          </a:xfrm>
        </p:grpSpPr>
        <p:sp>
          <p:nvSpPr>
            <p:cNvPr id="40" name="文字方塊 39">
              <a:extLst>
                <a:ext uri="{FF2B5EF4-FFF2-40B4-BE49-F238E27FC236}">
                  <a16:creationId xmlns:a16="http://schemas.microsoft.com/office/drawing/2014/main" id="{CC3AC306-254C-459E-C8E3-DF1353A5F030}"/>
                </a:ext>
              </a:extLst>
            </p:cNvPr>
            <p:cNvSpPr txBox="1"/>
            <p:nvPr/>
          </p:nvSpPr>
          <p:spPr>
            <a:xfrm>
              <a:off x="7302551" y="1276643"/>
              <a:ext cx="3124106" cy="39213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spcBef>
                  <a:spcPts val="588"/>
                </a:spcBef>
              </a:pPr>
              <a:r>
                <a:rPr lang="zh-TW" altLang="en-US" sz="1960" dirty="0">
                  <a:solidFill>
                    <a:schemeClr val="bg1">
                      <a:lumMod val="50000"/>
                    </a:schemeClr>
                  </a:solidFill>
                  <a:latin typeface="微軟正黑體" panose="020B0604030504040204" pitchFamily="34" charset="-120"/>
                  <a:ea typeface="微軟正黑體" panose="020B0604030504040204" pitchFamily="34" charset="-120"/>
                </a:rPr>
                <a:t>法金</a:t>
              </a:r>
              <a:r>
                <a:rPr lang="en-US" altLang="zh-TW" sz="1960" dirty="0">
                  <a:solidFill>
                    <a:schemeClr val="bg1">
                      <a:lumMod val="50000"/>
                    </a:schemeClr>
                  </a:solidFill>
                  <a:latin typeface="微軟正黑體" panose="020B0604030504040204" pitchFamily="34" charset="-120"/>
                  <a:ea typeface="微軟正黑體" panose="020B0604030504040204" pitchFamily="34" charset="-120"/>
                </a:rPr>
                <a:t>/</a:t>
              </a:r>
              <a:r>
                <a:rPr lang="zh-TW" altLang="en-US" sz="1960" dirty="0">
                  <a:solidFill>
                    <a:schemeClr val="bg1">
                      <a:lumMod val="50000"/>
                    </a:schemeClr>
                  </a:solidFill>
                  <a:latin typeface="微軟正黑體" panose="020B0604030504040204" pitchFamily="34" charset="-120"/>
                  <a:ea typeface="微軟正黑體" panose="020B0604030504040204" pitchFamily="34" charset="-120"/>
                </a:rPr>
                <a:t>海外業務</a:t>
              </a:r>
            </a:p>
          </p:txBody>
        </p:sp>
        <p:grpSp>
          <p:nvGrpSpPr>
            <p:cNvPr id="6" name="组合 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A52FD0A7-98C5-AB8A-2F43-3081164ACA10}"/>
                </a:ext>
              </a:extLst>
            </p:cNvPr>
            <p:cNvGrpSpPr>
              <a:grpSpLocks noChangeAspect="1"/>
            </p:cNvGrpSpPr>
            <p:nvPr/>
          </p:nvGrpSpPr>
          <p:grpSpPr>
            <a:xfrm>
              <a:off x="9947567" y="1224116"/>
              <a:ext cx="443048" cy="416164"/>
              <a:chOff x="4470400" y="1674813"/>
              <a:chExt cx="3251200" cy="3508375"/>
            </a:xfrm>
          </p:grpSpPr>
          <p:sp>
            <p:nvSpPr>
              <p:cNvPr id="7" name="ïṣľíďè">
                <a:extLst>
                  <a:ext uri="{FF2B5EF4-FFF2-40B4-BE49-F238E27FC236}">
                    <a16:creationId xmlns:a16="http://schemas.microsoft.com/office/drawing/2014/main" id="{9BE87592-A9C6-6D8A-EA7C-324ABAA68784}"/>
                  </a:ext>
                </a:extLst>
              </p:cNvPr>
              <p:cNvSpPr/>
              <p:nvPr/>
            </p:nvSpPr>
            <p:spPr bwMode="auto">
              <a:xfrm>
                <a:off x="5067300" y="3055938"/>
                <a:ext cx="2057400" cy="2051050"/>
              </a:xfrm>
              <a:prstGeom prst="ellipse">
                <a:avLst/>
              </a:prstGeom>
              <a:solidFill>
                <a:srgbClr val="FEBE7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9" name="îṧlíḓê">
                <a:extLst>
                  <a:ext uri="{FF2B5EF4-FFF2-40B4-BE49-F238E27FC236}">
                    <a16:creationId xmlns:a16="http://schemas.microsoft.com/office/drawing/2014/main" id="{18AAD508-8771-855D-AE7C-8643F084B190}"/>
                  </a:ext>
                </a:extLst>
              </p:cNvPr>
              <p:cNvSpPr/>
              <p:nvPr/>
            </p:nvSpPr>
            <p:spPr bwMode="auto">
              <a:xfrm>
                <a:off x="5384800" y="3371851"/>
                <a:ext cx="1422400" cy="1419225"/>
              </a:xfrm>
              <a:prstGeom prst="ellipse">
                <a:avLst/>
              </a:prstGeom>
              <a:solidFill>
                <a:srgbClr val="3C3B3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11" name="îṥlíḍê">
                <a:extLst>
                  <a:ext uri="{FF2B5EF4-FFF2-40B4-BE49-F238E27FC236}">
                    <a16:creationId xmlns:a16="http://schemas.microsoft.com/office/drawing/2014/main" id="{38317C1F-D8B0-4688-8185-5DDE0CDF20EC}"/>
                  </a:ext>
                </a:extLst>
              </p:cNvPr>
              <p:cNvSpPr/>
              <p:nvPr/>
            </p:nvSpPr>
            <p:spPr bwMode="auto">
              <a:xfrm>
                <a:off x="5778500" y="1712913"/>
                <a:ext cx="635000" cy="1343025"/>
              </a:xfrm>
              <a:custGeom>
                <a:avLst/>
                <a:gdLst>
                  <a:gd name="T0" fmla="*/ 400 w 400"/>
                  <a:gd name="T1" fmla="*/ 0 h 846"/>
                  <a:gd name="T2" fmla="*/ 400 w 400"/>
                  <a:gd name="T3" fmla="*/ 670 h 846"/>
                  <a:gd name="T4" fmla="*/ 200 w 400"/>
                  <a:gd name="T5" fmla="*/ 846 h 846"/>
                  <a:gd name="T6" fmla="*/ 0 w 400"/>
                  <a:gd name="T7" fmla="*/ 670 h 846"/>
                  <a:gd name="T8" fmla="*/ 0 w 400"/>
                  <a:gd name="T9" fmla="*/ 0 h 846"/>
                  <a:gd name="T10" fmla="*/ 400 w 400"/>
                  <a:gd name="T11" fmla="*/ 0 h 846"/>
                </a:gdLst>
                <a:ahLst/>
                <a:cxnLst>
                  <a:cxn ang="0">
                    <a:pos x="T0" y="T1"/>
                  </a:cxn>
                  <a:cxn ang="0">
                    <a:pos x="T2" y="T3"/>
                  </a:cxn>
                  <a:cxn ang="0">
                    <a:pos x="T4" y="T5"/>
                  </a:cxn>
                  <a:cxn ang="0">
                    <a:pos x="T6" y="T7"/>
                  </a:cxn>
                  <a:cxn ang="0">
                    <a:pos x="T8" y="T9"/>
                  </a:cxn>
                  <a:cxn ang="0">
                    <a:pos x="T10" y="T11"/>
                  </a:cxn>
                </a:cxnLst>
                <a:rect l="0" t="0" r="r" b="b"/>
                <a:pathLst>
                  <a:path w="400" h="846">
                    <a:moveTo>
                      <a:pt x="400" y="0"/>
                    </a:moveTo>
                    <a:lnTo>
                      <a:pt x="400" y="670"/>
                    </a:lnTo>
                    <a:lnTo>
                      <a:pt x="200" y="846"/>
                    </a:lnTo>
                    <a:lnTo>
                      <a:pt x="0" y="670"/>
                    </a:lnTo>
                    <a:lnTo>
                      <a:pt x="0" y="0"/>
                    </a:lnTo>
                    <a:lnTo>
                      <a:pt x="400" y="0"/>
                    </a:lnTo>
                    <a:close/>
                  </a:path>
                </a:pathLst>
              </a:custGeom>
              <a:solidFill>
                <a:srgbClr val="DA535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14" name="íśḷiďê">
                <a:extLst>
                  <a:ext uri="{FF2B5EF4-FFF2-40B4-BE49-F238E27FC236}">
                    <a16:creationId xmlns:a16="http://schemas.microsoft.com/office/drawing/2014/main" id="{E025D6E5-0279-6727-BF4F-3C6A24C9577E}"/>
                  </a:ext>
                </a:extLst>
              </p:cNvPr>
              <p:cNvSpPr/>
              <p:nvPr/>
            </p:nvSpPr>
            <p:spPr bwMode="auto">
              <a:xfrm>
                <a:off x="5461000" y="1712913"/>
                <a:ext cx="317500" cy="1063625"/>
              </a:xfrm>
              <a:custGeom>
                <a:avLst/>
                <a:gdLst>
                  <a:gd name="T0" fmla="*/ 200 w 200"/>
                  <a:gd name="T1" fmla="*/ 0 h 670"/>
                  <a:gd name="T2" fmla="*/ 200 w 200"/>
                  <a:gd name="T3" fmla="*/ 670 h 670"/>
                  <a:gd name="T4" fmla="*/ 0 w 200"/>
                  <a:gd name="T5" fmla="*/ 495 h 670"/>
                  <a:gd name="T6" fmla="*/ 0 w 200"/>
                  <a:gd name="T7" fmla="*/ 0 h 670"/>
                  <a:gd name="T8" fmla="*/ 200 w 200"/>
                  <a:gd name="T9" fmla="*/ 0 h 670"/>
                </a:gdLst>
                <a:ahLst/>
                <a:cxnLst>
                  <a:cxn ang="0">
                    <a:pos x="T0" y="T1"/>
                  </a:cxn>
                  <a:cxn ang="0">
                    <a:pos x="T2" y="T3"/>
                  </a:cxn>
                  <a:cxn ang="0">
                    <a:pos x="T4" y="T5"/>
                  </a:cxn>
                  <a:cxn ang="0">
                    <a:pos x="T6" y="T7"/>
                  </a:cxn>
                  <a:cxn ang="0">
                    <a:pos x="T8" y="T9"/>
                  </a:cxn>
                </a:cxnLst>
                <a:rect l="0" t="0" r="r" b="b"/>
                <a:pathLst>
                  <a:path w="200" h="670">
                    <a:moveTo>
                      <a:pt x="200" y="0"/>
                    </a:moveTo>
                    <a:lnTo>
                      <a:pt x="200" y="670"/>
                    </a:lnTo>
                    <a:lnTo>
                      <a:pt x="0" y="495"/>
                    </a:lnTo>
                    <a:lnTo>
                      <a:pt x="0" y="0"/>
                    </a:lnTo>
                    <a:lnTo>
                      <a:pt x="200" y="0"/>
                    </a:lnTo>
                    <a:close/>
                  </a:path>
                </a:pathLst>
              </a:custGeom>
              <a:solidFill>
                <a:srgbClr val="EF727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15" name="ïsliḑé">
                <a:extLst>
                  <a:ext uri="{FF2B5EF4-FFF2-40B4-BE49-F238E27FC236}">
                    <a16:creationId xmlns:a16="http://schemas.microsoft.com/office/drawing/2014/main" id="{1A49AC4E-9FE5-2FFC-70BD-60165D918ABB}"/>
                  </a:ext>
                </a:extLst>
              </p:cNvPr>
              <p:cNvSpPr/>
              <p:nvPr/>
            </p:nvSpPr>
            <p:spPr bwMode="auto">
              <a:xfrm>
                <a:off x="6413500" y="1712913"/>
                <a:ext cx="317500" cy="1063625"/>
              </a:xfrm>
              <a:custGeom>
                <a:avLst/>
                <a:gdLst>
                  <a:gd name="T0" fmla="*/ 200 w 200"/>
                  <a:gd name="T1" fmla="*/ 0 h 670"/>
                  <a:gd name="T2" fmla="*/ 200 w 200"/>
                  <a:gd name="T3" fmla="*/ 495 h 670"/>
                  <a:gd name="T4" fmla="*/ 0 w 200"/>
                  <a:gd name="T5" fmla="*/ 670 h 670"/>
                  <a:gd name="T6" fmla="*/ 0 w 200"/>
                  <a:gd name="T7" fmla="*/ 0 h 670"/>
                  <a:gd name="T8" fmla="*/ 200 w 200"/>
                  <a:gd name="T9" fmla="*/ 0 h 670"/>
                </a:gdLst>
                <a:ahLst/>
                <a:cxnLst>
                  <a:cxn ang="0">
                    <a:pos x="T0" y="T1"/>
                  </a:cxn>
                  <a:cxn ang="0">
                    <a:pos x="T2" y="T3"/>
                  </a:cxn>
                  <a:cxn ang="0">
                    <a:pos x="T4" y="T5"/>
                  </a:cxn>
                  <a:cxn ang="0">
                    <a:pos x="T6" y="T7"/>
                  </a:cxn>
                  <a:cxn ang="0">
                    <a:pos x="T8" y="T9"/>
                  </a:cxn>
                </a:cxnLst>
                <a:rect l="0" t="0" r="r" b="b"/>
                <a:pathLst>
                  <a:path w="200" h="670">
                    <a:moveTo>
                      <a:pt x="200" y="0"/>
                    </a:moveTo>
                    <a:lnTo>
                      <a:pt x="200" y="495"/>
                    </a:lnTo>
                    <a:lnTo>
                      <a:pt x="0" y="670"/>
                    </a:lnTo>
                    <a:lnTo>
                      <a:pt x="0" y="0"/>
                    </a:lnTo>
                    <a:lnTo>
                      <a:pt x="200" y="0"/>
                    </a:lnTo>
                    <a:close/>
                  </a:path>
                </a:pathLst>
              </a:custGeom>
              <a:solidFill>
                <a:srgbClr val="EF727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17" name="ïśliḋé">
                <a:extLst>
                  <a:ext uri="{FF2B5EF4-FFF2-40B4-BE49-F238E27FC236}">
                    <a16:creationId xmlns:a16="http://schemas.microsoft.com/office/drawing/2014/main" id="{450395D6-3B0F-50B1-14A6-1BCA8D54BD56}"/>
                  </a:ext>
                </a:extLst>
              </p:cNvPr>
              <p:cNvSpPr/>
              <p:nvPr/>
            </p:nvSpPr>
            <p:spPr bwMode="auto">
              <a:xfrm>
                <a:off x="7366000" y="4638676"/>
                <a:ext cx="241300" cy="228600"/>
              </a:xfrm>
              <a:prstGeom prst="ellipse">
                <a:avLst/>
              </a:prstGeom>
              <a:solidFill>
                <a:srgbClr val="D7DEE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18" name="íšḻíḍè">
                <a:extLst>
                  <a:ext uri="{FF2B5EF4-FFF2-40B4-BE49-F238E27FC236}">
                    <a16:creationId xmlns:a16="http://schemas.microsoft.com/office/drawing/2014/main" id="{C8C42227-AC5A-8AE3-5D95-FFBE47C5F89B}"/>
                  </a:ext>
                </a:extLst>
              </p:cNvPr>
              <p:cNvSpPr/>
              <p:nvPr/>
            </p:nvSpPr>
            <p:spPr bwMode="auto">
              <a:xfrm>
                <a:off x="4508500" y="2979738"/>
                <a:ext cx="317500" cy="315913"/>
              </a:xfrm>
              <a:prstGeom prst="ellipse">
                <a:avLst/>
              </a:prstGeom>
              <a:solidFill>
                <a:srgbClr val="D7DEE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19" name="î$ľíḍê">
                <a:extLst>
                  <a:ext uri="{FF2B5EF4-FFF2-40B4-BE49-F238E27FC236}">
                    <a16:creationId xmlns:a16="http://schemas.microsoft.com/office/drawing/2014/main" id="{9E414348-E608-7C6A-E538-3AE302E8F9EF}"/>
                  </a:ext>
                </a:extLst>
              </p:cNvPr>
              <p:cNvSpPr/>
              <p:nvPr/>
            </p:nvSpPr>
            <p:spPr bwMode="auto">
              <a:xfrm>
                <a:off x="7289800" y="2422526"/>
                <a:ext cx="393700" cy="392113"/>
              </a:xfrm>
              <a:prstGeom prst="ellipse">
                <a:avLst/>
              </a:prstGeom>
              <a:solidFill>
                <a:srgbClr val="D7DEE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22" name="isļîḑè">
                <a:extLst>
                  <a:ext uri="{FF2B5EF4-FFF2-40B4-BE49-F238E27FC236}">
                    <a16:creationId xmlns:a16="http://schemas.microsoft.com/office/drawing/2014/main" id="{9060F6A0-6255-3CE0-5ACC-7DD9959882B7}"/>
                  </a:ext>
                </a:extLst>
              </p:cNvPr>
              <p:cNvSpPr/>
              <p:nvPr/>
            </p:nvSpPr>
            <p:spPr bwMode="auto">
              <a:xfrm>
                <a:off x="5727700" y="3689351"/>
                <a:ext cx="749300" cy="709613"/>
              </a:xfrm>
              <a:custGeom>
                <a:avLst/>
                <a:gdLst>
                  <a:gd name="T0" fmla="*/ 472 w 472"/>
                  <a:gd name="T1" fmla="*/ 167 h 447"/>
                  <a:gd name="T2" fmla="*/ 328 w 472"/>
                  <a:gd name="T3" fmla="*/ 279 h 447"/>
                  <a:gd name="T4" fmla="*/ 384 w 472"/>
                  <a:gd name="T5" fmla="*/ 447 h 447"/>
                  <a:gd name="T6" fmla="*/ 232 w 472"/>
                  <a:gd name="T7" fmla="*/ 343 h 447"/>
                  <a:gd name="T8" fmla="*/ 88 w 472"/>
                  <a:gd name="T9" fmla="*/ 447 h 447"/>
                  <a:gd name="T10" fmla="*/ 144 w 472"/>
                  <a:gd name="T11" fmla="*/ 279 h 447"/>
                  <a:gd name="T12" fmla="*/ 0 w 472"/>
                  <a:gd name="T13" fmla="*/ 167 h 447"/>
                  <a:gd name="T14" fmla="*/ 176 w 472"/>
                  <a:gd name="T15" fmla="*/ 167 h 447"/>
                  <a:gd name="T16" fmla="*/ 232 w 472"/>
                  <a:gd name="T17" fmla="*/ 0 h 447"/>
                  <a:gd name="T18" fmla="*/ 288 w 472"/>
                  <a:gd name="T19" fmla="*/ 167 h 447"/>
                  <a:gd name="T20" fmla="*/ 472 w 472"/>
                  <a:gd name="T21" fmla="*/ 167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2" h="447">
                    <a:moveTo>
                      <a:pt x="472" y="167"/>
                    </a:moveTo>
                    <a:lnTo>
                      <a:pt x="328" y="279"/>
                    </a:lnTo>
                    <a:lnTo>
                      <a:pt x="384" y="447"/>
                    </a:lnTo>
                    <a:lnTo>
                      <a:pt x="232" y="343"/>
                    </a:lnTo>
                    <a:lnTo>
                      <a:pt x="88" y="447"/>
                    </a:lnTo>
                    <a:lnTo>
                      <a:pt x="144" y="279"/>
                    </a:lnTo>
                    <a:lnTo>
                      <a:pt x="0" y="167"/>
                    </a:lnTo>
                    <a:lnTo>
                      <a:pt x="176" y="167"/>
                    </a:lnTo>
                    <a:lnTo>
                      <a:pt x="232" y="0"/>
                    </a:lnTo>
                    <a:lnTo>
                      <a:pt x="288" y="167"/>
                    </a:lnTo>
                    <a:lnTo>
                      <a:pt x="472" y="167"/>
                    </a:lnTo>
                    <a:close/>
                  </a:path>
                </a:pathLst>
              </a:custGeom>
              <a:solidFill>
                <a:srgbClr val="FCD88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23" name="îšḷîḍê">
                <a:extLst>
                  <a:ext uri="{FF2B5EF4-FFF2-40B4-BE49-F238E27FC236}">
                    <a16:creationId xmlns:a16="http://schemas.microsoft.com/office/drawing/2014/main" id="{602D0232-E560-56D6-3658-697A81ACC73F}"/>
                  </a:ext>
                </a:extLst>
              </p:cNvPr>
              <p:cNvSpPr/>
              <p:nvPr/>
            </p:nvSpPr>
            <p:spPr bwMode="auto">
              <a:xfrm>
                <a:off x="7531100" y="3371851"/>
                <a:ext cx="152400" cy="1524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24" name="iṩlîḍè">
                <a:extLst>
                  <a:ext uri="{FF2B5EF4-FFF2-40B4-BE49-F238E27FC236}">
                    <a16:creationId xmlns:a16="http://schemas.microsoft.com/office/drawing/2014/main" id="{7F2ECAD8-BB6C-FE0F-F09A-A2AFFB0221DF}"/>
                  </a:ext>
                </a:extLst>
              </p:cNvPr>
              <p:cNvSpPr/>
              <p:nvPr/>
            </p:nvSpPr>
            <p:spPr bwMode="auto">
              <a:xfrm>
                <a:off x="7213600" y="1941513"/>
                <a:ext cx="152400" cy="1635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25" name="îṥlîḓé">
                <a:extLst>
                  <a:ext uri="{FF2B5EF4-FFF2-40B4-BE49-F238E27FC236}">
                    <a16:creationId xmlns:a16="http://schemas.microsoft.com/office/drawing/2014/main" id="{6654AD86-EA55-DE00-45F0-E7C4068EEF5D}"/>
                  </a:ext>
                </a:extLst>
              </p:cNvPr>
              <p:cNvSpPr/>
              <p:nvPr/>
            </p:nvSpPr>
            <p:spPr bwMode="auto">
              <a:xfrm>
                <a:off x="7048500" y="5030788"/>
                <a:ext cx="165100" cy="1524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26" name="ïSḷíḑé">
                <a:extLst>
                  <a:ext uri="{FF2B5EF4-FFF2-40B4-BE49-F238E27FC236}">
                    <a16:creationId xmlns:a16="http://schemas.microsoft.com/office/drawing/2014/main" id="{C06B72D6-3B51-0CD5-A788-2BB04FB60597}"/>
                  </a:ext>
                </a:extLst>
              </p:cNvPr>
              <p:cNvSpPr/>
              <p:nvPr/>
            </p:nvSpPr>
            <p:spPr bwMode="auto">
              <a:xfrm>
                <a:off x="4991100" y="5030788"/>
                <a:ext cx="152400" cy="1524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27" name="íṣḷíďè">
                <a:extLst>
                  <a:ext uri="{FF2B5EF4-FFF2-40B4-BE49-F238E27FC236}">
                    <a16:creationId xmlns:a16="http://schemas.microsoft.com/office/drawing/2014/main" id="{57370E1B-1829-A3F7-0E9E-CF07192AA8D0}"/>
                  </a:ext>
                </a:extLst>
              </p:cNvPr>
              <p:cNvSpPr/>
              <p:nvPr/>
            </p:nvSpPr>
            <p:spPr bwMode="auto">
              <a:xfrm>
                <a:off x="4914900" y="2346326"/>
                <a:ext cx="152400" cy="1524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28" name="ïsḷïḍè">
                <a:extLst>
                  <a:ext uri="{FF2B5EF4-FFF2-40B4-BE49-F238E27FC236}">
                    <a16:creationId xmlns:a16="http://schemas.microsoft.com/office/drawing/2014/main" id="{698E255B-5472-DF06-9FCB-9E9A284DF7D9}"/>
                  </a:ext>
                </a:extLst>
              </p:cNvPr>
              <p:cNvSpPr/>
              <p:nvPr/>
            </p:nvSpPr>
            <p:spPr bwMode="auto">
              <a:xfrm>
                <a:off x="4597400" y="4322763"/>
                <a:ext cx="152400" cy="1508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29" name="ïṧľiḋe">
                <a:extLst>
                  <a:ext uri="{FF2B5EF4-FFF2-40B4-BE49-F238E27FC236}">
                    <a16:creationId xmlns:a16="http://schemas.microsoft.com/office/drawing/2014/main" id="{814B73D7-B79B-F8E4-9E4F-BAEEA0DCBFD0}"/>
                  </a:ext>
                </a:extLst>
              </p:cNvPr>
              <p:cNvSpPr/>
              <p:nvPr/>
            </p:nvSpPr>
            <p:spPr bwMode="auto">
              <a:xfrm>
                <a:off x="5029200" y="3017838"/>
                <a:ext cx="2133600" cy="2127250"/>
              </a:xfrm>
              <a:custGeom>
                <a:avLst/>
                <a:gdLst>
                  <a:gd name="T0" fmla="*/ 84 w 168"/>
                  <a:gd name="T1" fmla="*/ 168 h 168"/>
                  <a:gd name="T2" fmla="*/ 0 w 168"/>
                  <a:gd name="T3" fmla="*/ 84 h 168"/>
                  <a:gd name="T4" fmla="*/ 84 w 168"/>
                  <a:gd name="T5" fmla="*/ 0 h 168"/>
                  <a:gd name="T6" fmla="*/ 168 w 168"/>
                  <a:gd name="T7" fmla="*/ 84 h 168"/>
                  <a:gd name="T8" fmla="*/ 84 w 168"/>
                  <a:gd name="T9" fmla="*/ 168 h 168"/>
                  <a:gd name="T10" fmla="*/ 84 w 168"/>
                  <a:gd name="T11" fmla="*/ 6 h 168"/>
                  <a:gd name="T12" fmla="*/ 6 w 168"/>
                  <a:gd name="T13" fmla="*/ 84 h 168"/>
                  <a:gd name="T14" fmla="*/ 84 w 168"/>
                  <a:gd name="T15" fmla="*/ 162 h 168"/>
                  <a:gd name="T16" fmla="*/ 162 w 168"/>
                  <a:gd name="T17" fmla="*/ 84 h 168"/>
                  <a:gd name="T18" fmla="*/ 84 w 168"/>
                  <a:gd name="T19" fmla="*/ 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8" h="168">
                    <a:moveTo>
                      <a:pt x="84" y="168"/>
                    </a:moveTo>
                    <a:cubicBezTo>
                      <a:pt x="38" y="168"/>
                      <a:pt x="0" y="130"/>
                      <a:pt x="0" y="84"/>
                    </a:cubicBezTo>
                    <a:cubicBezTo>
                      <a:pt x="0" y="37"/>
                      <a:pt x="38" y="0"/>
                      <a:pt x="84" y="0"/>
                    </a:cubicBezTo>
                    <a:cubicBezTo>
                      <a:pt x="131" y="0"/>
                      <a:pt x="168" y="37"/>
                      <a:pt x="168" y="84"/>
                    </a:cubicBezTo>
                    <a:cubicBezTo>
                      <a:pt x="168" y="130"/>
                      <a:pt x="131" y="168"/>
                      <a:pt x="84" y="168"/>
                    </a:cubicBezTo>
                    <a:close/>
                    <a:moveTo>
                      <a:pt x="84" y="6"/>
                    </a:moveTo>
                    <a:cubicBezTo>
                      <a:pt x="41" y="6"/>
                      <a:pt x="6" y="41"/>
                      <a:pt x="6" y="84"/>
                    </a:cubicBezTo>
                    <a:cubicBezTo>
                      <a:pt x="6" y="127"/>
                      <a:pt x="41" y="162"/>
                      <a:pt x="84" y="162"/>
                    </a:cubicBezTo>
                    <a:cubicBezTo>
                      <a:pt x="127" y="162"/>
                      <a:pt x="162" y="127"/>
                      <a:pt x="162" y="84"/>
                    </a:cubicBezTo>
                    <a:cubicBezTo>
                      <a:pt x="162" y="41"/>
                      <a:pt x="127" y="6"/>
                      <a:pt x="84" y="6"/>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dirty="0"/>
              </a:p>
            </p:txBody>
          </p:sp>
          <p:sp>
            <p:nvSpPr>
              <p:cNvPr id="30" name="íšḷïḓê">
                <a:extLst>
                  <a:ext uri="{FF2B5EF4-FFF2-40B4-BE49-F238E27FC236}">
                    <a16:creationId xmlns:a16="http://schemas.microsoft.com/office/drawing/2014/main" id="{EEF9C6E2-15A0-5204-33D8-BFE9269BD00B}"/>
                  </a:ext>
                </a:extLst>
              </p:cNvPr>
              <p:cNvSpPr/>
              <p:nvPr/>
            </p:nvSpPr>
            <p:spPr bwMode="auto">
              <a:xfrm>
                <a:off x="5346700" y="3333751"/>
                <a:ext cx="1498600" cy="1495425"/>
              </a:xfrm>
              <a:custGeom>
                <a:avLst/>
                <a:gdLst>
                  <a:gd name="T0" fmla="*/ 59 w 118"/>
                  <a:gd name="T1" fmla="*/ 118 h 118"/>
                  <a:gd name="T2" fmla="*/ 0 w 118"/>
                  <a:gd name="T3" fmla="*/ 59 h 118"/>
                  <a:gd name="T4" fmla="*/ 59 w 118"/>
                  <a:gd name="T5" fmla="*/ 0 h 118"/>
                  <a:gd name="T6" fmla="*/ 118 w 118"/>
                  <a:gd name="T7" fmla="*/ 59 h 118"/>
                  <a:gd name="T8" fmla="*/ 59 w 118"/>
                  <a:gd name="T9" fmla="*/ 118 h 118"/>
                  <a:gd name="T10" fmla="*/ 59 w 118"/>
                  <a:gd name="T11" fmla="*/ 6 h 118"/>
                  <a:gd name="T12" fmla="*/ 6 w 118"/>
                  <a:gd name="T13" fmla="*/ 59 h 118"/>
                  <a:gd name="T14" fmla="*/ 59 w 118"/>
                  <a:gd name="T15" fmla="*/ 112 h 118"/>
                  <a:gd name="T16" fmla="*/ 112 w 118"/>
                  <a:gd name="T17" fmla="*/ 59 h 118"/>
                  <a:gd name="T18" fmla="*/ 59 w 118"/>
                  <a:gd name="T19" fmla="*/ 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118">
                    <a:moveTo>
                      <a:pt x="59" y="118"/>
                    </a:moveTo>
                    <a:cubicBezTo>
                      <a:pt x="26" y="118"/>
                      <a:pt x="0" y="92"/>
                      <a:pt x="0" y="59"/>
                    </a:cubicBezTo>
                    <a:cubicBezTo>
                      <a:pt x="0" y="26"/>
                      <a:pt x="26" y="0"/>
                      <a:pt x="59" y="0"/>
                    </a:cubicBezTo>
                    <a:cubicBezTo>
                      <a:pt x="92" y="0"/>
                      <a:pt x="118" y="26"/>
                      <a:pt x="118" y="59"/>
                    </a:cubicBezTo>
                    <a:cubicBezTo>
                      <a:pt x="118" y="92"/>
                      <a:pt x="92" y="118"/>
                      <a:pt x="59" y="118"/>
                    </a:cubicBezTo>
                    <a:close/>
                    <a:moveTo>
                      <a:pt x="59" y="6"/>
                    </a:moveTo>
                    <a:cubicBezTo>
                      <a:pt x="30" y="6"/>
                      <a:pt x="6" y="30"/>
                      <a:pt x="6" y="59"/>
                    </a:cubicBezTo>
                    <a:cubicBezTo>
                      <a:pt x="6" y="88"/>
                      <a:pt x="30" y="112"/>
                      <a:pt x="59" y="112"/>
                    </a:cubicBezTo>
                    <a:cubicBezTo>
                      <a:pt x="88" y="112"/>
                      <a:pt x="112" y="88"/>
                      <a:pt x="112" y="59"/>
                    </a:cubicBezTo>
                    <a:cubicBezTo>
                      <a:pt x="112" y="30"/>
                      <a:pt x="88" y="6"/>
                      <a:pt x="59" y="6"/>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31" name="îṩľiďè">
                <a:extLst>
                  <a:ext uri="{FF2B5EF4-FFF2-40B4-BE49-F238E27FC236}">
                    <a16:creationId xmlns:a16="http://schemas.microsoft.com/office/drawing/2014/main" id="{144F3A3C-491F-9E8A-592F-4B976263E669}"/>
                  </a:ext>
                </a:extLst>
              </p:cNvPr>
              <p:cNvSpPr/>
              <p:nvPr/>
            </p:nvSpPr>
            <p:spPr bwMode="auto">
              <a:xfrm>
                <a:off x="5740400" y="1674813"/>
                <a:ext cx="76200" cy="1139825"/>
              </a:xfrm>
              <a:custGeom>
                <a:avLst/>
                <a:gdLst>
                  <a:gd name="T0" fmla="*/ 3 w 6"/>
                  <a:gd name="T1" fmla="*/ 90 h 90"/>
                  <a:gd name="T2" fmla="*/ 0 w 6"/>
                  <a:gd name="T3" fmla="*/ 87 h 90"/>
                  <a:gd name="T4" fmla="*/ 0 w 6"/>
                  <a:gd name="T5" fmla="*/ 3 h 90"/>
                  <a:gd name="T6" fmla="*/ 3 w 6"/>
                  <a:gd name="T7" fmla="*/ 0 h 90"/>
                  <a:gd name="T8" fmla="*/ 6 w 6"/>
                  <a:gd name="T9" fmla="*/ 3 h 90"/>
                  <a:gd name="T10" fmla="*/ 6 w 6"/>
                  <a:gd name="T11" fmla="*/ 87 h 90"/>
                  <a:gd name="T12" fmla="*/ 3 w 6"/>
                  <a:gd name="T13" fmla="*/ 90 h 90"/>
                </a:gdLst>
                <a:ahLst/>
                <a:cxnLst>
                  <a:cxn ang="0">
                    <a:pos x="T0" y="T1"/>
                  </a:cxn>
                  <a:cxn ang="0">
                    <a:pos x="T2" y="T3"/>
                  </a:cxn>
                  <a:cxn ang="0">
                    <a:pos x="T4" y="T5"/>
                  </a:cxn>
                  <a:cxn ang="0">
                    <a:pos x="T6" y="T7"/>
                  </a:cxn>
                  <a:cxn ang="0">
                    <a:pos x="T8" y="T9"/>
                  </a:cxn>
                  <a:cxn ang="0">
                    <a:pos x="T10" y="T11"/>
                  </a:cxn>
                  <a:cxn ang="0">
                    <a:pos x="T12" y="T13"/>
                  </a:cxn>
                </a:cxnLst>
                <a:rect l="0" t="0" r="r" b="b"/>
                <a:pathLst>
                  <a:path w="6" h="90">
                    <a:moveTo>
                      <a:pt x="3" y="90"/>
                    </a:moveTo>
                    <a:cubicBezTo>
                      <a:pt x="1" y="90"/>
                      <a:pt x="0" y="89"/>
                      <a:pt x="0" y="87"/>
                    </a:cubicBezTo>
                    <a:cubicBezTo>
                      <a:pt x="0" y="3"/>
                      <a:pt x="0" y="3"/>
                      <a:pt x="0" y="3"/>
                    </a:cubicBezTo>
                    <a:cubicBezTo>
                      <a:pt x="0" y="1"/>
                      <a:pt x="1" y="0"/>
                      <a:pt x="3" y="0"/>
                    </a:cubicBezTo>
                    <a:cubicBezTo>
                      <a:pt x="5" y="0"/>
                      <a:pt x="6" y="1"/>
                      <a:pt x="6" y="3"/>
                    </a:cubicBezTo>
                    <a:cubicBezTo>
                      <a:pt x="6" y="87"/>
                      <a:pt x="6" y="87"/>
                      <a:pt x="6" y="87"/>
                    </a:cubicBezTo>
                    <a:cubicBezTo>
                      <a:pt x="6" y="89"/>
                      <a:pt x="5" y="90"/>
                      <a:pt x="3" y="9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32" name="îṡľïḍê">
                <a:extLst>
                  <a:ext uri="{FF2B5EF4-FFF2-40B4-BE49-F238E27FC236}">
                    <a16:creationId xmlns:a16="http://schemas.microsoft.com/office/drawing/2014/main" id="{2F45E2F9-2DE3-930E-5ADB-7172D82182B5}"/>
                  </a:ext>
                </a:extLst>
              </p:cNvPr>
              <p:cNvSpPr/>
              <p:nvPr/>
            </p:nvSpPr>
            <p:spPr bwMode="auto">
              <a:xfrm>
                <a:off x="6375400" y="1674813"/>
                <a:ext cx="76200" cy="1139825"/>
              </a:xfrm>
              <a:custGeom>
                <a:avLst/>
                <a:gdLst>
                  <a:gd name="T0" fmla="*/ 3 w 6"/>
                  <a:gd name="T1" fmla="*/ 90 h 90"/>
                  <a:gd name="T2" fmla="*/ 0 w 6"/>
                  <a:gd name="T3" fmla="*/ 87 h 90"/>
                  <a:gd name="T4" fmla="*/ 0 w 6"/>
                  <a:gd name="T5" fmla="*/ 3 h 90"/>
                  <a:gd name="T6" fmla="*/ 3 w 6"/>
                  <a:gd name="T7" fmla="*/ 0 h 90"/>
                  <a:gd name="T8" fmla="*/ 6 w 6"/>
                  <a:gd name="T9" fmla="*/ 3 h 90"/>
                  <a:gd name="T10" fmla="*/ 6 w 6"/>
                  <a:gd name="T11" fmla="*/ 87 h 90"/>
                  <a:gd name="T12" fmla="*/ 3 w 6"/>
                  <a:gd name="T13" fmla="*/ 90 h 90"/>
                </a:gdLst>
                <a:ahLst/>
                <a:cxnLst>
                  <a:cxn ang="0">
                    <a:pos x="T0" y="T1"/>
                  </a:cxn>
                  <a:cxn ang="0">
                    <a:pos x="T2" y="T3"/>
                  </a:cxn>
                  <a:cxn ang="0">
                    <a:pos x="T4" y="T5"/>
                  </a:cxn>
                  <a:cxn ang="0">
                    <a:pos x="T6" y="T7"/>
                  </a:cxn>
                  <a:cxn ang="0">
                    <a:pos x="T8" y="T9"/>
                  </a:cxn>
                  <a:cxn ang="0">
                    <a:pos x="T10" y="T11"/>
                  </a:cxn>
                  <a:cxn ang="0">
                    <a:pos x="T12" y="T13"/>
                  </a:cxn>
                </a:cxnLst>
                <a:rect l="0" t="0" r="r" b="b"/>
                <a:pathLst>
                  <a:path w="6" h="90">
                    <a:moveTo>
                      <a:pt x="3" y="90"/>
                    </a:moveTo>
                    <a:cubicBezTo>
                      <a:pt x="1" y="90"/>
                      <a:pt x="0" y="89"/>
                      <a:pt x="0" y="87"/>
                    </a:cubicBezTo>
                    <a:cubicBezTo>
                      <a:pt x="0" y="3"/>
                      <a:pt x="0" y="3"/>
                      <a:pt x="0" y="3"/>
                    </a:cubicBezTo>
                    <a:cubicBezTo>
                      <a:pt x="0" y="1"/>
                      <a:pt x="1" y="0"/>
                      <a:pt x="3" y="0"/>
                    </a:cubicBezTo>
                    <a:cubicBezTo>
                      <a:pt x="5" y="0"/>
                      <a:pt x="6" y="1"/>
                      <a:pt x="6" y="3"/>
                    </a:cubicBezTo>
                    <a:cubicBezTo>
                      <a:pt x="6" y="87"/>
                      <a:pt x="6" y="87"/>
                      <a:pt x="6" y="87"/>
                    </a:cubicBezTo>
                    <a:cubicBezTo>
                      <a:pt x="6" y="89"/>
                      <a:pt x="5" y="90"/>
                      <a:pt x="3" y="9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33" name="iṣļîḓè">
                <a:extLst>
                  <a:ext uri="{FF2B5EF4-FFF2-40B4-BE49-F238E27FC236}">
                    <a16:creationId xmlns:a16="http://schemas.microsoft.com/office/drawing/2014/main" id="{433025A6-FD80-8F10-E38C-2B6AC202AE04}"/>
                  </a:ext>
                </a:extLst>
              </p:cNvPr>
              <p:cNvSpPr/>
              <p:nvPr/>
            </p:nvSpPr>
            <p:spPr bwMode="auto">
              <a:xfrm>
                <a:off x="5422900" y="1674813"/>
                <a:ext cx="1346200" cy="1419225"/>
              </a:xfrm>
              <a:custGeom>
                <a:avLst/>
                <a:gdLst>
                  <a:gd name="T0" fmla="*/ 53 w 106"/>
                  <a:gd name="T1" fmla="*/ 112 h 112"/>
                  <a:gd name="T2" fmla="*/ 51 w 106"/>
                  <a:gd name="T3" fmla="*/ 111 h 112"/>
                  <a:gd name="T4" fmla="*/ 1 w 106"/>
                  <a:gd name="T5" fmla="*/ 67 h 112"/>
                  <a:gd name="T6" fmla="*/ 0 w 106"/>
                  <a:gd name="T7" fmla="*/ 65 h 112"/>
                  <a:gd name="T8" fmla="*/ 0 w 106"/>
                  <a:gd name="T9" fmla="*/ 3 h 112"/>
                  <a:gd name="T10" fmla="*/ 3 w 106"/>
                  <a:gd name="T11" fmla="*/ 0 h 112"/>
                  <a:gd name="T12" fmla="*/ 6 w 106"/>
                  <a:gd name="T13" fmla="*/ 3 h 112"/>
                  <a:gd name="T14" fmla="*/ 6 w 106"/>
                  <a:gd name="T15" fmla="*/ 64 h 112"/>
                  <a:gd name="T16" fmla="*/ 53 w 106"/>
                  <a:gd name="T17" fmla="*/ 105 h 112"/>
                  <a:gd name="T18" fmla="*/ 100 w 106"/>
                  <a:gd name="T19" fmla="*/ 64 h 112"/>
                  <a:gd name="T20" fmla="*/ 100 w 106"/>
                  <a:gd name="T21" fmla="*/ 3 h 112"/>
                  <a:gd name="T22" fmla="*/ 103 w 106"/>
                  <a:gd name="T23" fmla="*/ 0 h 112"/>
                  <a:gd name="T24" fmla="*/ 106 w 106"/>
                  <a:gd name="T25" fmla="*/ 3 h 112"/>
                  <a:gd name="T26" fmla="*/ 106 w 106"/>
                  <a:gd name="T27" fmla="*/ 65 h 112"/>
                  <a:gd name="T28" fmla="*/ 105 w 106"/>
                  <a:gd name="T29" fmla="*/ 67 h 112"/>
                  <a:gd name="T30" fmla="*/ 55 w 106"/>
                  <a:gd name="T31" fmla="*/ 111 h 112"/>
                  <a:gd name="T32" fmla="*/ 53 w 106"/>
                  <a:gd name="T33" fmla="*/ 11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112">
                    <a:moveTo>
                      <a:pt x="53" y="112"/>
                    </a:moveTo>
                    <a:cubicBezTo>
                      <a:pt x="52" y="112"/>
                      <a:pt x="52" y="112"/>
                      <a:pt x="51" y="111"/>
                    </a:cubicBezTo>
                    <a:cubicBezTo>
                      <a:pt x="1" y="67"/>
                      <a:pt x="1" y="67"/>
                      <a:pt x="1" y="67"/>
                    </a:cubicBezTo>
                    <a:cubicBezTo>
                      <a:pt x="1" y="67"/>
                      <a:pt x="0" y="66"/>
                      <a:pt x="0" y="65"/>
                    </a:cubicBezTo>
                    <a:cubicBezTo>
                      <a:pt x="0" y="3"/>
                      <a:pt x="0" y="3"/>
                      <a:pt x="0" y="3"/>
                    </a:cubicBezTo>
                    <a:cubicBezTo>
                      <a:pt x="0" y="1"/>
                      <a:pt x="2" y="0"/>
                      <a:pt x="3" y="0"/>
                    </a:cubicBezTo>
                    <a:cubicBezTo>
                      <a:pt x="5" y="0"/>
                      <a:pt x="6" y="1"/>
                      <a:pt x="6" y="3"/>
                    </a:cubicBezTo>
                    <a:cubicBezTo>
                      <a:pt x="6" y="64"/>
                      <a:pt x="6" y="64"/>
                      <a:pt x="6" y="64"/>
                    </a:cubicBezTo>
                    <a:cubicBezTo>
                      <a:pt x="53" y="105"/>
                      <a:pt x="53" y="105"/>
                      <a:pt x="53" y="105"/>
                    </a:cubicBezTo>
                    <a:cubicBezTo>
                      <a:pt x="100" y="64"/>
                      <a:pt x="100" y="64"/>
                      <a:pt x="100" y="64"/>
                    </a:cubicBezTo>
                    <a:cubicBezTo>
                      <a:pt x="100" y="3"/>
                      <a:pt x="100" y="3"/>
                      <a:pt x="100" y="3"/>
                    </a:cubicBezTo>
                    <a:cubicBezTo>
                      <a:pt x="100" y="1"/>
                      <a:pt x="101" y="0"/>
                      <a:pt x="103" y="0"/>
                    </a:cubicBezTo>
                    <a:cubicBezTo>
                      <a:pt x="105" y="0"/>
                      <a:pt x="106" y="1"/>
                      <a:pt x="106" y="3"/>
                    </a:cubicBezTo>
                    <a:cubicBezTo>
                      <a:pt x="106" y="65"/>
                      <a:pt x="106" y="65"/>
                      <a:pt x="106" y="65"/>
                    </a:cubicBezTo>
                    <a:cubicBezTo>
                      <a:pt x="106" y="66"/>
                      <a:pt x="106" y="67"/>
                      <a:pt x="105" y="67"/>
                    </a:cubicBezTo>
                    <a:cubicBezTo>
                      <a:pt x="55" y="111"/>
                      <a:pt x="55" y="111"/>
                      <a:pt x="55" y="111"/>
                    </a:cubicBezTo>
                    <a:cubicBezTo>
                      <a:pt x="55" y="112"/>
                      <a:pt x="54" y="112"/>
                      <a:pt x="53" y="11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34" name="ïŝ1ïďê">
                <a:extLst>
                  <a:ext uri="{FF2B5EF4-FFF2-40B4-BE49-F238E27FC236}">
                    <a16:creationId xmlns:a16="http://schemas.microsoft.com/office/drawing/2014/main" id="{53F75977-73E1-60A7-8435-51BE74906B43}"/>
                  </a:ext>
                </a:extLst>
              </p:cNvPr>
              <p:cNvSpPr/>
              <p:nvPr/>
            </p:nvSpPr>
            <p:spPr bwMode="auto">
              <a:xfrm>
                <a:off x="5676900" y="3651251"/>
                <a:ext cx="838200" cy="796925"/>
              </a:xfrm>
              <a:custGeom>
                <a:avLst/>
                <a:gdLst>
                  <a:gd name="T0" fmla="*/ 52 w 66"/>
                  <a:gd name="T1" fmla="*/ 62 h 63"/>
                  <a:gd name="T2" fmla="*/ 50 w 66"/>
                  <a:gd name="T3" fmla="*/ 62 h 63"/>
                  <a:gd name="T4" fmla="*/ 33 w 66"/>
                  <a:gd name="T5" fmla="*/ 50 h 63"/>
                  <a:gd name="T6" fmla="*/ 17 w 66"/>
                  <a:gd name="T7" fmla="*/ 62 h 63"/>
                  <a:gd name="T8" fmla="*/ 13 w 66"/>
                  <a:gd name="T9" fmla="*/ 62 h 63"/>
                  <a:gd name="T10" fmla="*/ 12 w 66"/>
                  <a:gd name="T11" fmla="*/ 58 h 63"/>
                  <a:gd name="T12" fmla="*/ 18 w 66"/>
                  <a:gd name="T13" fmla="*/ 39 h 63"/>
                  <a:gd name="T14" fmla="*/ 2 w 66"/>
                  <a:gd name="T15" fmla="*/ 27 h 63"/>
                  <a:gd name="T16" fmla="*/ 1 w 66"/>
                  <a:gd name="T17" fmla="*/ 23 h 63"/>
                  <a:gd name="T18" fmla="*/ 4 w 66"/>
                  <a:gd name="T19" fmla="*/ 21 h 63"/>
                  <a:gd name="T20" fmla="*/ 24 w 66"/>
                  <a:gd name="T21" fmla="*/ 21 h 63"/>
                  <a:gd name="T22" fmla="*/ 30 w 66"/>
                  <a:gd name="T23" fmla="*/ 2 h 63"/>
                  <a:gd name="T24" fmla="*/ 33 w 66"/>
                  <a:gd name="T25" fmla="*/ 0 h 63"/>
                  <a:gd name="T26" fmla="*/ 36 w 66"/>
                  <a:gd name="T27" fmla="*/ 2 h 63"/>
                  <a:gd name="T28" fmla="*/ 42 w 66"/>
                  <a:gd name="T29" fmla="*/ 21 h 63"/>
                  <a:gd name="T30" fmla="*/ 63 w 66"/>
                  <a:gd name="T31" fmla="*/ 21 h 63"/>
                  <a:gd name="T32" fmla="*/ 66 w 66"/>
                  <a:gd name="T33" fmla="*/ 23 h 63"/>
                  <a:gd name="T34" fmla="*/ 65 w 66"/>
                  <a:gd name="T35" fmla="*/ 27 h 63"/>
                  <a:gd name="T36" fmla="*/ 48 w 66"/>
                  <a:gd name="T37" fmla="*/ 39 h 63"/>
                  <a:gd name="T38" fmla="*/ 54 w 66"/>
                  <a:gd name="T39" fmla="*/ 58 h 63"/>
                  <a:gd name="T40" fmla="*/ 53 w 66"/>
                  <a:gd name="T41" fmla="*/ 62 h 63"/>
                  <a:gd name="T42" fmla="*/ 52 w 66"/>
                  <a:gd name="T43" fmla="*/ 62 h 63"/>
                  <a:gd name="T44" fmla="*/ 33 w 66"/>
                  <a:gd name="T45" fmla="*/ 43 h 63"/>
                  <a:gd name="T46" fmla="*/ 35 w 66"/>
                  <a:gd name="T47" fmla="*/ 43 h 63"/>
                  <a:gd name="T48" fmla="*/ 46 w 66"/>
                  <a:gd name="T49" fmla="*/ 51 h 63"/>
                  <a:gd name="T50" fmla="*/ 42 w 66"/>
                  <a:gd name="T51" fmla="*/ 39 h 63"/>
                  <a:gd name="T52" fmla="*/ 43 w 66"/>
                  <a:gd name="T53" fmla="*/ 35 h 63"/>
                  <a:gd name="T54" fmla="*/ 53 w 66"/>
                  <a:gd name="T55" fmla="*/ 27 h 63"/>
                  <a:gd name="T56" fmla="*/ 40 w 66"/>
                  <a:gd name="T57" fmla="*/ 27 h 63"/>
                  <a:gd name="T58" fmla="*/ 37 w 66"/>
                  <a:gd name="T59" fmla="*/ 25 h 63"/>
                  <a:gd name="T60" fmla="*/ 33 w 66"/>
                  <a:gd name="T61" fmla="*/ 13 h 63"/>
                  <a:gd name="T62" fmla="*/ 29 w 66"/>
                  <a:gd name="T63" fmla="*/ 25 h 63"/>
                  <a:gd name="T64" fmla="*/ 26 w 66"/>
                  <a:gd name="T65" fmla="*/ 27 h 63"/>
                  <a:gd name="T66" fmla="*/ 13 w 66"/>
                  <a:gd name="T67" fmla="*/ 27 h 63"/>
                  <a:gd name="T68" fmla="*/ 24 w 66"/>
                  <a:gd name="T69" fmla="*/ 35 h 63"/>
                  <a:gd name="T70" fmla="*/ 25 w 66"/>
                  <a:gd name="T71" fmla="*/ 39 h 63"/>
                  <a:gd name="T72" fmla="*/ 21 w 66"/>
                  <a:gd name="T73" fmla="*/ 51 h 63"/>
                  <a:gd name="T74" fmla="*/ 31 w 66"/>
                  <a:gd name="T75" fmla="*/ 43 h 63"/>
                  <a:gd name="T76" fmla="*/ 33 w 66"/>
                  <a:gd name="T77" fmla="*/ 4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6" h="63">
                    <a:moveTo>
                      <a:pt x="52" y="62"/>
                    </a:moveTo>
                    <a:cubicBezTo>
                      <a:pt x="51" y="62"/>
                      <a:pt x="50" y="62"/>
                      <a:pt x="50" y="62"/>
                    </a:cubicBezTo>
                    <a:cubicBezTo>
                      <a:pt x="33" y="50"/>
                      <a:pt x="33" y="50"/>
                      <a:pt x="33" y="50"/>
                    </a:cubicBezTo>
                    <a:cubicBezTo>
                      <a:pt x="17" y="62"/>
                      <a:pt x="17" y="62"/>
                      <a:pt x="17" y="62"/>
                    </a:cubicBezTo>
                    <a:cubicBezTo>
                      <a:pt x="16" y="63"/>
                      <a:pt x="14" y="63"/>
                      <a:pt x="13" y="62"/>
                    </a:cubicBezTo>
                    <a:cubicBezTo>
                      <a:pt x="12" y="61"/>
                      <a:pt x="11" y="60"/>
                      <a:pt x="12" y="58"/>
                    </a:cubicBezTo>
                    <a:cubicBezTo>
                      <a:pt x="18" y="39"/>
                      <a:pt x="18" y="39"/>
                      <a:pt x="18" y="39"/>
                    </a:cubicBezTo>
                    <a:cubicBezTo>
                      <a:pt x="2" y="27"/>
                      <a:pt x="2" y="27"/>
                      <a:pt x="2" y="27"/>
                    </a:cubicBezTo>
                    <a:cubicBezTo>
                      <a:pt x="1" y="26"/>
                      <a:pt x="0" y="25"/>
                      <a:pt x="1" y="23"/>
                    </a:cubicBezTo>
                    <a:cubicBezTo>
                      <a:pt x="1" y="22"/>
                      <a:pt x="2" y="21"/>
                      <a:pt x="4" y="21"/>
                    </a:cubicBezTo>
                    <a:cubicBezTo>
                      <a:pt x="24" y="21"/>
                      <a:pt x="24" y="21"/>
                      <a:pt x="24" y="21"/>
                    </a:cubicBezTo>
                    <a:cubicBezTo>
                      <a:pt x="30" y="2"/>
                      <a:pt x="30" y="2"/>
                      <a:pt x="30" y="2"/>
                    </a:cubicBezTo>
                    <a:cubicBezTo>
                      <a:pt x="31" y="0"/>
                      <a:pt x="32" y="0"/>
                      <a:pt x="33" y="0"/>
                    </a:cubicBezTo>
                    <a:cubicBezTo>
                      <a:pt x="35" y="0"/>
                      <a:pt x="36" y="0"/>
                      <a:pt x="36" y="2"/>
                    </a:cubicBezTo>
                    <a:cubicBezTo>
                      <a:pt x="42" y="21"/>
                      <a:pt x="42" y="21"/>
                      <a:pt x="42" y="21"/>
                    </a:cubicBezTo>
                    <a:cubicBezTo>
                      <a:pt x="63" y="21"/>
                      <a:pt x="63" y="21"/>
                      <a:pt x="63" y="21"/>
                    </a:cubicBezTo>
                    <a:cubicBezTo>
                      <a:pt x="64" y="21"/>
                      <a:pt x="65" y="22"/>
                      <a:pt x="66" y="23"/>
                    </a:cubicBezTo>
                    <a:cubicBezTo>
                      <a:pt x="66" y="25"/>
                      <a:pt x="66" y="26"/>
                      <a:pt x="65" y="27"/>
                    </a:cubicBezTo>
                    <a:cubicBezTo>
                      <a:pt x="48" y="39"/>
                      <a:pt x="48" y="39"/>
                      <a:pt x="48" y="39"/>
                    </a:cubicBezTo>
                    <a:cubicBezTo>
                      <a:pt x="54" y="58"/>
                      <a:pt x="54" y="58"/>
                      <a:pt x="54" y="58"/>
                    </a:cubicBezTo>
                    <a:cubicBezTo>
                      <a:pt x="55" y="60"/>
                      <a:pt x="54" y="61"/>
                      <a:pt x="53" y="62"/>
                    </a:cubicBezTo>
                    <a:cubicBezTo>
                      <a:pt x="53" y="62"/>
                      <a:pt x="52" y="62"/>
                      <a:pt x="52" y="62"/>
                    </a:cubicBezTo>
                    <a:close/>
                    <a:moveTo>
                      <a:pt x="33" y="43"/>
                    </a:moveTo>
                    <a:cubicBezTo>
                      <a:pt x="34" y="43"/>
                      <a:pt x="34" y="43"/>
                      <a:pt x="35" y="43"/>
                    </a:cubicBezTo>
                    <a:cubicBezTo>
                      <a:pt x="46" y="51"/>
                      <a:pt x="46" y="51"/>
                      <a:pt x="46" y="51"/>
                    </a:cubicBezTo>
                    <a:cubicBezTo>
                      <a:pt x="42" y="39"/>
                      <a:pt x="42" y="39"/>
                      <a:pt x="42" y="39"/>
                    </a:cubicBezTo>
                    <a:cubicBezTo>
                      <a:pt x="41" y="37"/>
                      <a:pt x="42" y="36"/>
                      <a:pt x="43" y="35"/>
                    </a:cubicBezTo>
                    <a:cubicBezTo>
                      <a:pt x="53" y="27"/>
                      <a:pt x="53" y="27"/>
                      <a:pt x="53" y="27"/>
                    </a:cubicBezTo>
                    <a:cubicBezTo>
                      <a:pt x="40" y="27"/>
                      <a:pt x="40" y="27"/>
                      <a:pt x="40" y="27"/>
                    </a:cubicBezTo>
                    <a:cubicBezTo>
                      <a:pt x="39" y="27"/>
                      <a:pt x="38" y="27"/>
                      <a:pt x="37" y="25"/>
                    </a:cubicBezTo>
                    <a:cubicBezTo>
                      <a:pt x="33" y="13"/>
                      <a:pt x="33" y="13"/>
                      <a:pt x="33" y="13"/>
                    </a:cubicBezTo>
                    <a:cubicBezTo>
                      <a:pt x="29" y="25"/>
                      <a:pt x="29" y="25"/>
                      <a:pt x="29" y="25"/>
                    </a:cubicBezTo>
                    <a:cubicBezTo>
                      <a:pt x="29" y="27"/>
                      <a:pt x="28" y="27"/>
                      <a:pt x="26" y="27"/>
                    </a:cubicBezTo>
                    <a:cubicBezTo>
                      <a:pt x="13" y="27"/>
                      <a:pt x="13" y="27"/>
                      <a:pt x="13" y="27"/>
                    </a:cubicBezTo>
                    <a:cubicBezTo>
                      <a:pt x="24" y="35"/>
                      <a:pt x="24" y="35"/>
                      <a:pt x="24" y="35"/>
                    </a:cubicBezTo>
                    <a:cubicBezTo>
                      <a:pt x="25" y="36"/>
                      <a:pt x="25" y="37"/>
                      <a:pt x="25" y="39"/>
                    </a:cubicBezTo>
                    <a:cubicBezTo>
                      <a:pt x="21" y="51"/>
                      <a:pt x="21" y="51"/>
                      <a:pt x="21" y="51"/>
                    </a:cubicBezTo>
                    <a:cubicBezTo>
                      <a:pt x="31" y="43"/>
                      <a:pt x="31" y="43"/>
                      <a:pt x="31" y="43"/>
                    </a:cubicBezTo>
                    <a:cubicBezTo>
                      <a:pt x="32" y="43"/>
                      <a:pt x="33" y="43"/>
                      <a:pt x="33" y="4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35" name="iṥḷîdé">
                <a:extLst>
                  <a:ext uri="{FF2B5EF4-FFF2-40B4-BE49-F238E27FC236}">
                    <a16:creationId xmlns:a16="http://schemas.microsoft.com/office/drawing/2014/main" id="{5347C043-A161-80F1-E034-6DFD4CFB0551}"/>
                  </a:ext>
                </a:extLst>
              </p:cNvPr>
              <p:cNvSpPr/>
              <p:nvPr/>
            </p:nvSpPr>
            <p:spPr bwMode="auto">
              <a:xfrm>
                <a:off x="5105400" y="1674813"/>
                <a:ext cx="1981200" cy="76200"/>
              </a:xfrm>
              <a:custGeom>
                <a:avLst/>
                <a:gdLst>
                  <a:gd name="T0" fmla="*/ 153 w 156"/>
                  <a:gd name="T1" fmla="*/ 6 h 6"/>
                  <a:gd name="T2" fmla="*/ 3 w 156"/>
                  <a:gd name="T3" fmla="*/ 6 h 6"/>
                  <a:gd name="T4" fmla="*/ 0 w 156"/>
                  <a:gd name="T5" fmla="*/ 3 h 6"/>
                  <a:gd name="T6" fmla="*/ 3 w 156"/>
                  <a:gd name="T7" fmla="*/ 0 h 6"/>
                  <a:gd name="T8" fmla="*/ 153 w 156"/>
                  <a:gd name="T9" fmla="*/ 0 h 6"/>
                  <a:gd name="T10" fmla="*/ 156 w 156"/>
                  <a:gd name="T11" fmla="*/ 3 h 6"/>
                  <a:gd name="T12" fmla="*/ 153 w 156"/>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56" h="6">
                    <a:moveTo>
                      <a:pt x="153" y="6"/>
                    </a:moveTo>
                    <a:cubicBezTo>
                      <a:pt x="3" y="6"/>
                      <a:pt x="3" y="6"/>
                      <a:pt x="3" y="6"/>
                    </a:cubicBezTo>
                    <a:cubicBezTo>
                      <a:pt x="2" y="6"/>
                      <a:pt x="0" y="4"/>
                      <a:pt x="0" y="3"/>
                    </a:cubicBezTo>
                    <a:cubicBezTo>
                      <a:pt x="0" y="1"/>
                      <a:pt x="2" y="0"/>
                      <a:pt x="3" y="0"/>
                    </a:cubicBezTo>
                    <a:cubicBezTo>
                      <a:pt x="153" y="0"/>
                      <a:pt x="153" y="0"/>
                      <a:pt x="153" y="0"/>
                    </a:cubicBezTo>
                    <a:cubicBezTo>
                      <a:pt x="155" y="0"/>
                      <a:pt x="156" y="1"/>
                      <a:pt x="156" y="3"/>
                    </a:cubicBezTo>
                    <a:cubicBezTo>
                      <a:pt x="156" y="4"/>
                      <a:pt x="155" y="6"/>
                      <a:pt x="153" y="6"/>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36" name="ïṡḻïďè">
                <a:extLst>
                  <a:ext uri="{FF2B5EF4-FFF2-40B4-BE49-F238E27FC236}">
                    <a16:creationId xmlns:a16="http://schemas.microsoft.com/office/drawing/2014/main" id="{5A5E9AB1-D508-0D0C-37B1-A4986C06BB33}"/>
                  </a:ext>
                </a:extLst>
              </p:cNvPr>
              <p:cNvSpPr/>
              <p:nvPr/>
            </p:nvSpPr>
            <p:spPr bwMode="auto">
              <a:xfrm>
                <a:off x="5270500" y="5068888"/>
                <a:ext cx="1663700" cy="76200"/>
              </a:xfrm>
              <a:custGeom>
                <a:avLst/>
                <a:gdLst>
                  <a:gd name="T0" fmla="*/ 128 w 131"/>
                  <a:gd name="T1" fmla="*/ 6 h 6"/>
                  <a:gd name="T2" fmla="*/ 3 w 131"/>
                  <a:gd name="T3" fmla="*/ 6 h 6"/>
                  <a:gd name="T4" fmla="*/ 0 w 131"/>
                  <a:gd name="T5" fmla="*/ 3 h 6"/>
                  <a:gd name="T6" fmla="*/ 3 w 131"/>
                  <a:gd name="T7" fmla="*/ 0 h 6"/>
                  <a:gd name="T8" fmla="*/ 128 w 131"/>
                  <a:gd name="T9" fmla="*/ 0 h 6"/>
                  <a:gd name="T10" fmla="*/ 131 w 131"/>
                  <a:gd name="T11" fmla="*/ 3 h 6"/>
                  <a:gd name="T12" fmla="*/ 128 w 131"/>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31" h="6">
                    <a:moveTo>
                      <a:pt x="128" y="6"/>
                    </a:moveTo>
                    <a:cubicBezTo>
                      <a:pt x="3" y="6"/>
                      <a:pt x="3" y="6"/>
                      <a:pt x="3" y="6"/>
                    </a:cubicBezTo>
                    <a:cubicBezTo>
                      <a:pt x="1" y="6"/>
                      <a:pt x="0" y="5"/>
                      <a:pt x="0" y="3"/>
                    </a:cubicBezTo>
                    <a:cubicBezTo>
                      <a:pt x="0" y="1"/>
                      <a:pt x="1" y="0"/>
                      <a:pt x="3" y="0"/>
                    </a:cubicBezTo>
                    <a:cubicBezTo>
                      <a:pt x="128" y="0"/>
                      <a:pt x="128" y="0"/>
                      <a:pt x="128" y="0"/>
                    </a:cubicBezTo>
                    <a:cubicBezTo>
                      <a:pt x="129" y="0"/>
                      <a:pt x="131" y="1"/>
                      <a:pt x="131" y="3"/>
                    </a:cubicBezTo>
                    <a:cubicBezTo>
                      <a:pt x="131" y="5"/>
                      <a:pt x="129" y="6"/>
                      <a:pt x="128" y="6"/>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37" name="išliḋe">
                <a:extLst>
                  <a:ext uri="{FF2B5EF4-FFF2-40B4-BE49-F238E27FC236}">
                    <a16:creationId xmlns:a16="http://schemas.microsoft.com/office/drawing/2014/main" id="{4D1BD9BC-E87F-F27B-DE04-9AF6076486CD}"/>
                  </a:ext>
                </a:extLst>
              </p:cNvPr>
              <p:cNvSpPr/>
              <p:nvPr/>
            </p:nvSpPr>
            <p:spPr bwMode="auto">
              <a:xfrm>
                <a:off x="4470400" y="2928938"/>
                <a:ext cx="393700" cy="404813"/>
              </a:xfrm>
              <a:custGeom>
                <a:avLst/>
                <a:gdLst>
                  <a:gd name="T0" fmla="*/ 16 w 31"/>
                  <a:gd name="T1" fmla="*/ 32 h 32"/>
                  <a:gd name="T2" fmla="*/ 0 w 31"/>
                  <a:gd name="T3" fmla="*/ 16 h 32"/>
                  <a:gd name="T4" fmla="*/ 16 w 31"/>
                  <a:gd name="T5" fmla="*/ 0 h 32"/>
                  <a:gd name="T6" fmla="*/ 31 w 31"/>
                  <a:gd name="T7" fmla="*/ 16 h 32"/>
                  <a:gd name="T8" fmla="*/ 16 w 31"/>
                  <a:gd name="T9" fmla="*/ 32 h 32"/>
                  <a:gd name="T10" fmla="*/ 16 w 31"/>
                  <a:gd name="T11" fmla="*/ 7 h 32"/>
                  <a:gd name="T12" fmla="*/ 6 w 31"/>
                  <a:gd name="T13" fmla="*/ 16 h 32"/>
                  <a:gd name="T14" fmla="*/ 16 w 31"/>
                  <a:gd name="T15" fmla="*/ 25 h 32"/>
                  <a:gd name="T16" fmla="*/ 25 w 31"/>
                  <a:gd name="T17" fmla="*/ 16 h 32"/>
                  <a:gd name="T18" fmla="*/ 16 w 31"/>
                  <a:gd name="T19" fmla="*/ 7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32">
                    <a:moveTo>
                      <a:pt x="16" y="32"/>
                    </a:moveTo>
                    <a:cubicBezTo>
                      <a:pt x="7" y="32"/>
                      <a:pt x="0" y="25"/>
                      <a:pt x="0" y="16"/>
                    </a:cubicBezTo>
                    <a:cubicBezTo>
                      <a:pt x="0" y="7"/>
                      <a:pt x="7" y="0"/>
                      <a:pt x="16" y="0"/>
                    </a:cubicBezTo>
                    <a:cubicBezTo>
                      <a:pt x="24" y="0"/>
                      <a:pt x="31" y="7"/>
                      <a:pt x="31" y="16"/>
                    </a:cubicBezTo>
                    <a:cubicBezTo>
                      <a:pt x="31" y="25"/>
                      <a:pt x="24" y="32"/>
                      <a:pt x="16" y="32"/>
                    </a:cubicBezTo>
                    <a:close/>
                    <a:moveTo>
                      <a:pt x="16" y="7"/>
                    </a:moveTo>
                    <a:cubicBezTo>
                      <a:pt x="11" y="7"/>
                      <a:pt x="6" y="11"/>
                      <a:pt x="6" y="16"/>
                    </a:cubicBezTo>
                    <a:cubicBezTo>
                      <a:pt x="6" y="21"/>
                      <a:pt x="11" y="25"/>
                      <a:pt x="16" y="25"/>
                    </a:cubicBezTo>
                    <a:cubicBezTo>
                      <a:pt x="21" y="25"/>
                      <a:pt x="25" y="21"/>
                      <a:pt x="25" y="16"/>
                    </a:cubicBezTo>
                    <a:cubicBezTo>
                      <a:pt x="25" y="11"/>
                      <a:pt x="21" y="7"/>
                      <a:pt x="16"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38" name="išľîdé">
                <a:extLst>
                  <a:ext uri="{FF2B5EF4-FFF2-40B4-BE49-F238E27FC236}">
                    <a16:creationId xmlns:a16="http://schemas.microsoft.com/office/drawing/2014/main" id="{AB24B669-B1F7-EDE0-C00F-E779D1F448EB}"/>
                  </a:ext>
                </a:extLst>
              </p:cNvPr>
              <p:cNvSpPr/>
              <p:nvPr/>
            </p:nvSpPr>
            <p:spPr bwMode="auto">
              <a:xfrm>
                <a:off x="7327900" y="4600576"/>
                <a:ext cx="317500" cy="304800"/>
              </a:xfrm>
              <a:custGeom>
                <a:avLst/>
                <a:gdLst>
                  <a:gd name="T0" fmla="*/ 12 w 25"/>
                  <a:gd name="T1" fmla="*/ 24 h 24"/>
                  <a:gd name="T2" fmla="*/ 0 w 25"/>
                  <a:gd name="T3" fmla="*/ 12 h 24"/>
                  <a:gd name="T4" fmla="*/ 12 w 25"/>
                  <a:gd name="T5" fmla="*/ 0 h 24"/>
                  <a:gd name="T6" fmla="*/ 25 w 25"/>
                  <a:gd name="T7" fmla="*/ 12 h 24"/>
                  <a:gd name="T8" fmla="*/ 12 w 25"/>
                  <a:gd name="T9" fmla="*/ 24 h 24"/>
                  <a:gd name="T10" fmla="*/ 12 w 25"/>
                  <a:gd name="T11" fmla="*/ 6 h 24"/>
                  <a:gd name="T12" fmla="*/ 6 w 25"/>
                  <a:gd name="T13" fmla="*/ 12 h 24"/>
                  <a:gd name="T14" fmla="*/ 12 w 25"/>
                  <a:gd name="T15" fmla="*/ 18 h 24"/>
                  <a:gd name="T16" fmla="*/ 19 w 25"/>
                  <a:gd name="T17" fmla="*/ 12 h 24"/>
                  <a:gd name="T18" fmla="*/ 12 w 25"/>
                  <a:gd name="T19"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4">
                    <a:moveTo>
                      <a:pt x="12" y="24"/>
                    </a:moveTo>
                    <a:cubicBezTo>
                      <a:pt x="6" y="24"/>
                      <a:pt x="0" y="19"/>
                      <a:pt x="0" y="12"/>
                    </a:cubicBezTo>
                    <a:cubicBezTo>
                      <a:pt x="0" y="5"/>
                      <a:pt x="6" y="0"/>
                      <a:pt x="12" y="0"/>
                    </a:cubicBezTo>
                    <a:cubicBezTo>
                      <a:pt x="19" y="0"/>
                      <a:pt x="25" y="5"/>
                      <a:pt x="25" y="12"/>
                    </a:cubicBezTo>
                    <a:cubicBezTo>
                      <a:pt x="25" y="19"/>
                      <a:pt x="19" y="24"/>
                      <a:pt x="12" y="24"/>
                    </a:cubicBezTo>
                    <a:close/>
                    <a:moveTo>
                      <a:pt x="12" y="6"/>
                    </a:moveTo>
                    <a:cubicBezTo>
                      <a:pt x="9" y="6"/>
                      <a:pt x="6" y="9"/>
                      <a:pt x="6" y="12"/>
                    </a:cubicBezTo>
                    <a:cubicBezTo>
                      <a:pt x="6" y="15"/>
                      <a:pt x="9" y="18"/>
                      <a:pt x="12" y="18"/>
                    </a:cubicBezTo>
                    <a:cubicBezTo>
                      <a:pt x="16" y="18"/>
                      <a:pt x="19" y="15"/>
                      <a:pt x="19" y="12"/>
                    </a:cubicBezTo>
                    <a:cubicBezTo>
                      <a:pt x="19" y="9"/>
                      <a:pt x="16" y="6"/>
                      <a:pt x="12" y="6"/>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sp>
            <p:nvSpPr>
              <p:cNvPr id="39" name="îṥ1íḋe">
                <a:extLst>
                  <a:ext uri="{FF2B5EF4-FFF2-40B4-BE49-F238E27FC236}">
                    <a16:creationId xmlns:a16="http://schemas.microsoft.com/office/drawing/2014/main" id="{A1022594-7F11-87EC-BB03-6F19661FCDB8}"/>
                  </a:ext>
                </a:extLst>
              </p:cNvPr>
              <p:cNvSpPr/>
              <p:nvPr/>
            </p:nvSpPr>
            <p:spPr bwMode="auto">
              <a:xfrm>
                <a:off x="7251700" y="2384426"/>
                <a:ext cx="469900" cy="468313"/>
              </a:xfrm>
              <a:custGeom>
                <a:avLst/>
                <a:gdLst>
                  <a:gd name="T0" fmla="*/ 18 w 37"/>
                  <a:gd name="T1" fmla="*/ 37 h 37"/>
                  <a:gd name="T2" fmla="*/ 0 w 37"/>
                  <a:gd name="T3" fmla="*/ 18 h 37"/>
                  <a:gd name="T4" fmla="*/ 18 w 37"/>
                  <a:gd name="T5" fmla="*/ 0 h 37"/>
                  <a:gd name="T6" fmla="*/ 37 w 37"/>
                  <a:gd name="T7" fmla="*/ 18 h 37"/>
                  <a:gd name="T8" fmla="*/ 18 w 37"/>
                  <a:gd name="T9" fmla="*/ 37 h 37"/>
                  <a:gd name="T10" fmla="*/ 18 w 37"/>
                  <a:gd name="T11" fmla="*/ 6 h 37"/>
                  <a:gd name="T12" fmla="*/ 6 w 37"/>
                  <a:gd name="T13" fmla="*/ 18 h 37"/>
                  <a:gd name="T14" fmla="*/ 18 w 37"/>
                  <a:gd name="T15" fmla="*/ 31 h 37"/>
                  <a:gd name="T16" fmla="*/ 31 w 37"/>
                  <a:gd name="T17" fmla="*/ 18 h 37"/>
                  <a:gd name="T18" fmla="*/ 18 w 37"/>
                  <a:gd name="T19" fmla="*/ 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 h="37">
                    <a:moveTo>
                      <a:pt x="18" y="37"/>
                    </a:moveTo>
                    <a:cubicBezTo>
                      <a:pt x="8" y="37"/>
                      <a:pt x="0" y="29"/>
                      <a:pt x="0" y="18"/>
                    </a:cubicBezTo>
                    <a:cubicBezTo>
                      <a:pt x="0" y="8"/>
                      <a:pt x="8" y="0"/>
                      <a:pt x="18" y="0"/>
                    </a:cubicBezTo>
                    <a:cubicBezTo>
                      <a:pt x="29" y="0"/>
                      <a:pt x="37" y="8"/>
                      <a:pt x="37" y="18"/>
                    </a:cubicBezTo>
                    <a:cubicBezTo>
                      <a:pt x="37" y="29"/>
                      <a:pt x="29" y="37"/>
                      <a:pt x="18" y="37"/>
                    </a:cubicBezTo>
                    <a:close/>
                    <a:moveTo>
                      <a:pt x="18" y="6"/>
                    </a:moveTo>
                    <a:cubicBezTo>
                      <a:pt x="12" y="6"/>
                      <a:pt x="6" y="12"/>
                      <a:pt x="6" y="18"/>
                    </a:cubicBezTo>
                    <a:cubicBezTo>
                      <a:pt x="6" y="25"/>
                      <a:pt x="12" y="31"/>
                      <a:pt x="18" y="31"/>
                    </a:cubicBezTo>
                    <a:cubicBezTo>
                      <a:pt x="25" y="31"/>
                      <a:pt x="31" y="25"/>
                      <a:pt x="31" y="18"/>
                    </a:cubicBezTo>
                    <a:cubicBezTo>
                      <a:pt x="31" y="12"/>
                      <a:pt x="25" y="6"/>
                      <a:pt x="18" y="6"/>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3920"/>
              </a:p>
            </p:txBody>
          </p:sp>
        </p:grpSp>
        <p:sp>
          <p:nvSpPr>
            <p:cNvPr id="41" name="矩形: 圓角 40">
              <a:extLst>
                <a:ext uri="{FF2B5EF4-FFF2-40B4-BE49-F238E27FC236}">
                  <a16:creationId xmlns:a16="http://schemas.microsoft.com/office/drawing/2014/main" id="{B9CC9118-39C5-B014-2AC6-952A5DDEDC8D}"/>
                </a:ext>
              </a:extLst>
            </p:cNvPr>
            <p:cNvSpPr/>
            <p:nvPr/>
          </p:nvSpPr>
          <p:spPr>
            <a:xfrm>
              <a:off x="6104766" y="1796991"/>
              <a:ext cx="5539402" cy="1704212"/>
            </a:xfrm>
            <a:prstGeom prst="roundRect">
              <a:avLst>
                <a:gd name="adj" fmla="val 13629"/>
              </a:avLst>
            </a:prstGeom>
            <a:noFill/>
            <a:ln>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3920">
                <a:latin typeface="微軟正黑體" panose="020B0604030504040204" pitchFamily="34" charset="-120"/>
                <a:ea typeface="微軟正黑體" panose="020B0604030504040204" pitchFamily="34" charset="-120"/>
              </a:endParaRPr>
            </a:p>
          </p:txBody>
        </p:sp>
        <p:sp>
          <p:nvSpPr>
            <p:cNvPr id="42" name="文字方塊 41">
              <a:extLst>
                <a:ext uri="{FF2B5EF4-FFF2-40B4-BE49-F238E27FC236}">
                  <a16:creationId xmlns:a16="http://schemas.microsoft.com/office/drawing/2014/main" id="{A337DF3E-5B0A-77EA-7618-3A05753305D5}"/>
                </a:ext>
              </a:extLst>
            </p:cNvPr>
            <p:cNvSpPr txBox="1"/>
            <p:nvPr/>
          </p:nvSpPr>
          <p:spPr>
            <a:xfrm>
              <a:off x="6267047" y="1936114"/>
              <a:ext cx="5203725" cy="618402"/>
            </a:xfrm>
            <a:prstGeom prst="rect">
              <a:avLst/>
            </a:prstGeom>
            <a:solidFill>
              <a:schemeClr val="bg1">
                <a:lumMod val="85000"/>
              </a:schemeClr>
            </a:solidFill>
            <a:ln>
              <a:solidFill>
                <a:schemeClr val="bg1">
                  <a:lumMod val="85000"/>
                </a:schemeClr>
              </a:solidFill>
            </a:ln>
          </p:spPr>
          <p:style>
            <a:lnRef idx="1">
              <a:schemeClr val="accent4"/>
            </a:lnRef>
            <a:fillRef idx="2">
              <a:schemeClr val="accent4"/>
            </a:fillRef>
            <a:effectRef idx="1">
              <a:schemeClr val="accent4"/>
            </a:effectRef>
            <a:fontRef idx="minor">
              <a:schemeClr val="dk1"/>
            </a:fontRef>
          </p:style>
          <p:txBody>
            <a:bodyPr wrap="square" anchor="ctr">
              <a:noAutofit/>
            </a:bodyPr>
            <a:lstStyle>
              <a:defPPr>
                <a:defRPr lang="zh-TW"/>
              </a:defPPr>
              <a:lvl1pPr algn="ctr" fontAlgn="base">
                <a:defRPr sz="1600" b="1">
                  <a:solidFill>
                    <a:prstClr val="black"/>
                  </a:solidFill>
                  <a:latin typeface="微軟正黑體" panose="020B0604030504040204" pitchFamily="34" charset="-120"/>
                  <a:ea typeface="微軟正黑體" panose="020B0604030504040204" pitchFamily="34" charset="-120"/>
                </a:defRPr>
              </a:lvl1pPr>
            </a:lstStyle>
            <a:p>
              <a:r>
                <a:rPr kumimoji="0" lang="zh-TW" altLang="en-US" sz="1764" b="1" i="0" u="none" strike="noStrike" kern="1200" cap="none" spc="0" normalizeH="0" baseline="0" noProof="0" dirty="0">
                  <a:ln>
                    <a:noFill/>
                  </a:ln>
                  <a:solidFill>
                    <a:prstClr val="black"/>
                  </a:solidFill>
                  <a:effectLst/>
                  <a:uLnTx/>
                  <a:uFillTx/>
                </a:rPr>
                <a:t>國銀攻東南亞商機　新加坡最賺 </a:t>
              </a:r>
              <a:r>
                <a:rPr kumimoji="0" lang="zh-TW" altLang="en-US" sz="1764" b="1" i="0" u="none" strike="noStrike" kern="1200" cap="none" spc="0" normalizeH="0" baseline="0" noProof="0" dirty="0">
                  <a:ln>
                    <a:noFill/>
                  </a:ln>
                  <a:solidFill>
                    <a:prstClr val="black"/>
                  </a:solidFill>
                  <a:effectLst/>
                  <a:uLnTx/>
                  <a:uFillTx/>
                  <a:hlinkClick r:id="rId8" action="ppaction://hlinksldjump"/>
                </a:rPr>
                <a:t>➲</a:t>
              </a:r>
              <a:endParaRPr lang="zh-TW" altLang="en-US" sz="1764" dirty="0"/>
            </a:p>
          </p:txBody>
        </p:sp>
        <p:sp>
          <p:nvSpPr>
            <p:cNvPr id="46" name="文字方塊 45">
              <a:extLst>
                <a:ext uri="{FF2B5EF4-FFF2-40B4-BE49-F238E27FC236}">
                  <a16:creationId xmlns:a16="http://schemas.microsoft.com/office/drawing/2014/main" id="{7732F994-2362-A92E-1037-D65CE6B26388}"/>
                </a:ext>
              </a:extLst>
            </p:cNvPr>
            <p:cNvSpPr txBox="1"/>
            <p:nvPr/>
          </p:nvSpPr>
          <p:spPr>
            <a:xfrm>
              <a:off x="6267047" y="2671996"/>
              <a:ext cx="5203725" cy="618402"/>
            </a:xfrm>
            <a:prstGeom prst="rect">
              <a:avLst/>
            </a:prstGeom>
            <a:solidFill>
              <a:schemeClr val="bg1">
                <a:lumMod val="85000"/>
              </a:schemeClr>
            </a:solidFill>
            <a:ln>
              <a:solidFill>
                <a:schemeClr val="bg1">
                  <a:lumMod val="85000"/>
                </a:schemeClr>
              </a:solidFill>
            </a:ln>
          </p:spPr>
          <p:style>
            <a:lnRef idx="1">
              <a:schemeClr val="accent4"/>
            </a:lnRef>
            <a:fillRef idx="2">
              <a:schemeClr val="accent4"/>
            </a:fillRef>
            <a:effectRef idx="1">
              <a:schemeClr val="accent4"/>
            </a:effectRef>
            <a:fontRef idx="minor">
              <a:schemeClr val="dk1"/>
            </a:fontRef>
          </p:style>
          <p:txBody>
            <a:bodyPr wrap="square" anchor="ctr">
              <a:noAutofit/>
            </a:bodyPr>
            <a:lstStyle>
              <a:defPPr>
                <a:defRPr lang="zh-TW"/>
              </a:defPPr>
              <a:lvl1pPr algn="ctr" fontAlgn="base">
                <a:defRPr sz="1600" b="1">
                  <a:solidFill>
                    <a:prstClr val="black"/>
                  </a:solidFill>
                  <a:latin typeface="微軟正黑體" panose="020B0604030504040204" pitchFamily="34" charset="-120"/>
                  <a:ea typeface="微軟正黑體" panose="020B0604030504040204" pitchFamily="34" charset="-120"/>
                </a:defRPr>
              </a:lvl1pPr>
            </a:lstStyle>
            <a:p>
              <a:r>
                <a:rPr lang="zh-TW" altLang="en-US" sz="1800" dirty="0"/>
                <a:t>國銀中小企業放款續增　</a:t>
              </a:r>
              <a:endParaRPr lang="en-US" altLang="zh-TW" sz="1800" dirty="0"/>
            </a:p>
            <a:p>
              <a:r>
                <a:rPr lang="zh-TW" altLang="en-US" sz="1800" dirty="0"/>
                <a:t>五大銀行新增房貸探低 </a:t>
              </a:r>
              <a:r>
                <a:rPr kumimoji="0" lang="zh-TW" altLang="en-US" sz="1764" b="1" i="0" u="none" strike="noStrike" kern="1200" cap="none" spc="0" normalizeH="0" baseline="0" noProof="0" dirty="0">
                  <a:ln>
                    <a:noFill/>
                  </a:ln>
                  <a:solidFill>
                    <a:prstClr val="black"/>
                  </a:solidFill>
                  <a:effectLst/>
                  <a:uLnTx/>
                  <a:uFillTx/>
                  <a:hlinkClick r:id="rId9" action="ppaction://hlinksldjump"/>
                </a:rPr>
                <a:t>➲</a:t>
              </a:r>
              <a:endParaRPr lang="zh-TW" altLang="en-US" sz="1764" dirty="0"/>
            </a:p>
          </p:txBody>
        </p:sp>
      </p:grpSp>
      <p:grpSp>
        <p:nvGrpSpPr>
          <p:cNvPr id="53" name="群組 52">
            <a:extLst>
              <a:ext uri="{FF2B5EF4-FFF2-40B4-BE49-F238E27FC236}">
                <a16:creationId xmlns:a16="http://schemas.microsoft.com/office/drawing/2014/main" id="{C8A3D5A5-EA42-BCC2-84E2-F97075E2773A}"/>
              </a:ext>
            </a:extLst>
          </p:cNvPr>
          <p:cNvGrpSpPr/>
          <p:nvPr/>
        </p:nvGrpSpPr>
        <p:grpSpPr>
          <a:xfrm>
            <a:off x="6150923" y="3723177"/>
            <a:ext cx="5539401" cy="1573489"/>
            <a:chOff x="6127818" y="4521453"/>
            <a:chExt cx="5539401" cy="1573489"/>
          </a:xfrm>
        </p:grpSpPr>
        <p:sp>
          <p:nvSpPr>
            <p:cNvPr id="8" name="文字方塊 7">
              <a:extLst>
                <a:ext uri="{FF2B5EF4-FFF2-40B4-BE49-F238E27FC236}">
                  <a16:creationId xmlns:a16="http://schemas.microsoft.com/office/drawing/2014/main" id="{06EE5607-2B49-CC7F-3FD5-940B27ACE535}"/>
                </a:ext>
              </a:extLst>
            </p:cNvPr>
            <p:cNvSpPr txBox="1"/>
            <p:nvPr/>
          </p:nvSpPr>
          <p:spPr>
            <a:xfrm>
              <a:off x="7332913" y="4612353"/>
              <a:ext cx="3124106" cy="39213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spcBef>
                  <a:spcPts val="588"/>
                </a:spcBef>
              </a:pPr>
              <a:r>
                <a:rPr lang="zh-TW" altLang="en-US" sz="1960" dirty="0">
                  <a:solidFill>
                    <a:schemeClr val="accent1"/>
                  </a:solidFill>
                  <a:latin typeface="微軟正黑體" panose="020B0604030504040204" pitchFamily="34" charset="-120"/>
                  <a:ea typeface="微軟正黑體" panose="020B0604030504040204" pitchFamily="34" charset="-120"/>
                </a:rPr>
                <a:t>支付</a:t>
              </a:r>
              <a:r>
                <a:rPr lang="en-US" altLang="zh-TW" sz="1960" dirty="0">
                  <a:solidFill>
                    <a:schemeClr val="accent1"/>
                  </a:solidFill>
                  <a:latin typeface="微軟正黑體" panose="020B0604030504040204" pitchFamily="34" charset="-120"/>
                  <a:ea typeface="微軟正黑體" panose="020B0604030504040204" pitchFamily="34" charset="-120"/>
                </a:rPr>
                <a:t>/</a:t>
              </a:r>
              <a:r>
                <a:rPr lang="zh-TW" altLang="en-US" sz="1960" dirty="0">
                  <a:solidFill>
                    <a:schemeClr val="accent1"/>
                  </a:solidFill>
                  <a:latin typeface="微軟正黑體" panose="020B0604030504040204" pitchFamily="34" charset="-120"/>
                  <a:ea typeface="微軟正黑體" panose="020B0604030504040204" pitchFamily="34" charset="-120"/>
                </a:rPr>
                <a:t>金融科技</a:t>
              </a:r>
            </a:p>
          </p:txBody>
        </p:sp>
        <p:sp>
          <p:nvSpPr>
            <p:cNvPr id="12" name="矩形: 圓角 11">
              <a:extLst>
                <a:ext uri="{FF2B5EF4-FFF2-40B4-BE49-F238E27FC236}">
                  <a16:creationId xmlns:a16="http://schemas.microsoft.com/office/drawing/2014/main" id="{13D6C28D-E606-F8E0-C613-70908BD188E1}"/>
                </a:ext>
              </a:extLst>
            </p:cNvPr>
            <p:cNvSpPr/>
            <p:nvPr/>
          </p:nvSpPr>
          <p:spPr>
            <a:xfrm>
              <a:off x="6127818" y="5113602"/>
              <a:ext cx="5539401" cy="981340"/>
            </a:xfrm>
            <a:prstGeom prst="roundRect">
              <a:avLst>
                <a:gd name="adj" fmla="val 13629"/>
              </a:avLst>
            </a:prstGeom>
            <a:noFill/>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3920">
                <a:latin typeface="微軟正黑體" panose="020B0604030504040204" pitchFamily="34" charset="-120"/>
                <a:ea typeface="微軟正黑體" panose="020B0604030504040204" pitchFamily="34" charset="-120"/>
              </a:endParaRPr>
            </a:p>
          </p:txBody>
        </p:sp>
        <p:sp>
          <p:nvSpPr>
            <p:cNvPr id="13" name="文字方塊 12">
              <a:extLst>
                <a:ext uri="{FF2B5EF4-FFF2-40B4-BE49-F238E27FC236}">
                  <a16:creationId xmlns:a16="http://schemas.microsoft.com/office/drawing/2014/main" id="{2C27813E-6D32-D675-F04D-53AC0D08C334}"/>
                </a:ext>
              </a:extLst>
            </p:cNvPr>
            <p:cNvSpPr txBox="1"/>
            <p:nvPr/>
          </p:nvSpPr>
          <p:spPr>
            <a:xfrm>
              <a:off x="6295656" y="5274802"/>
              <a:ext cx="5249934" cy="634584"/>
            </a:xfrm>
            <a:prstGeom prst="rect">
              <a:avLst/>
            </a:prstGeom>
            <a:solidFill>
              <a:schemeClr val="accent1">
                <a:lumMod val="20000"/>
                <a:lumOff val="80000"/>
              </a:schemeClr>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wrap="square" anchor="ctr">
              <a:noAutofit/>
            </a:bodyPr>
            <a:lstStyle>
              <a:defPPr>
                <a:defRPr lang="en-US"/>
              </a:defPPr>
              <a:lvl1pPr algn="ctr">
                <a:defRPr sz="1764">
                  <a:solidFill>
                    <a:prstClr val="black"/>
                  </a:solidFill>
                  <a:latin typeface="微軟正黑體" panose="020B0604030504040204" pitchFamily="34" charset="-120"/>
                  <a:ea typeface="微軟正黑體" panose="020B0604030504040204" pitchFamily="34" charset="-120"/>
                </a:defRPr>
              </a:lvl1pPr>
            </a:lstStyle>
            <a:p>
              <a:r>
                <a:rPr lang="zh-TW" altLang="en-US" dirty="0"/>
                <a:t>支付界新霸主！</a:t>
              </a:r>
              <a:r>
                <a:rPr lang="en-US" altLang="zh-TW" dirty="0"/>
                <a:t>LINE Pay Money</a:t>
              </a:r>
              <a:r>
                <a:rPr lang="zh-TW" altLang="en-US" dirty="0"/>
                <a:t>上線百日</a:t>
              </a:r>
              <a:endParaRPr lang="en-US" altLang="zh-TW" dirty="0"/>
            </a:p>
            <a:p>
              <a:r>
                <a:rPr lang="zh-TW" altLang="en-US" dirty="0"/>
                <a:t>衝破</a:t>
              </a:r>
              <a:r>
                <a:rPr lang="en-US" altLang="zh-TW" dirty="0"/>
                <a:t>300</a:t>
              </a:r>
              <a:r>
                <a:rPr lang="zh-TW" altLang="en-US" dirty="0"/>
                <a:t>萬用戶 轉帳、儲值金額雙冠王 </a:t>
              </a:r>
              <a:r>
                <a:rPr lang="zh-TW" altLang="en-US" dirty="0">
                  <a:hlinkClick r:id="rId10" action="ppaction://hlinksldjump"/>
                </a:rPr>
                <a:t>➲</a:t>
              </a:r>
              <a:endParaRPr lang="zh-TW" altLang="en-US" dirty="0"/>
            </a:p>
          </p:txBody>
        </p:sp>
        <p:pic>
          <p:nvPicPr>
            <p:cNvPr id="47" name="Picture 2" descr="Mobile payment ">
              <a:extLst>
                <a:ext uri="{FF2B5EF4-FFF2-40B4-BE49-F238E27FC236}">
                  <a16:creationId xmlns:a16="http://schemas.microsoft.com/office/drawing/2014/main" id="{1D93FE8D-DEF0-5258-22C3-485109B010FE}"/>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894172" y="4521453"/>
              <a:ext cx="529242" cy="52924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798778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7E299-7F04-F2DD-A1CF-D1BCFA82D286}"/>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4A1BADA3-A58F-73ED-F9B3-CC5E8ABE721C}"/>
              </a:ext>
            </a:extLst>
          </p:cNvPr>
          <p:cNvSpPr txBox="1"/>
          <p:nvPr/>
        </p:nvSpPr>
        <p:spPr>
          <a:xfrm>
            <a:off x="311919" y="314805"/>
            <a:ext cx="5262713" cy="396919"/>
          </a:xfrm>
          <a:prstGeom prst="rect">
            <a:avLst/>
          </a:prstGeom>
          <a:solidFill>
            <a:schemeClr val="accent3">
              <a:lumMod val="20000"/>
              <a:lumOff val="80000"/>
            </a:schemeClr>
          </a:solidFill>
          <a:ln w="6350" cap="flat" cmpd="sng" algn="ctr">
            <a:solidFill>
              <a:schemeClr val="accent3">
                <a:lumMod val="20000"/>
                <a:lumOff val="80000"/>
              </a:schemeClr>
            </a:solidFill>
            <a:prstDash val="solid"/>
            <a:miter lim="800000"/>
          </a:ln>
          <a:effectLst/>
        </p:spPr>
        <p:txBody>
          <a:bodyPr wrap="square">
            <a:noAutofit/>
          </a:bodyPr>
          <a:lstStyle>
            <a:defPPr>
              <a:defRPr lang="en-US"/>
            </a:defPPr>
            <a:lvl1pPr marR="0" lvl="0" indent="0">
              <a:lnSpc>
                <a:spcPct val="100000"/>
              </a:lnSpc>
              <a:spcBef>
                <a:spcPts val="0"/>
              </a:spcBef>
              <a:spcAft>
                <a:spcPts val="0"/>
              </a:spcAft>
              <a:buClrTx/>
              <a:buSzTx/>
              <a:buFontTx/>
              <a:buNone/>
              <a:tabLst/>
              <a:defRPr kumimoji="0" sz="2000" i="0" u="none" strike="noStrike" cap="none" spc="0" normalizeH="0" baseline="0">
                <a:ln>
                  <a:noFill/>
                </a:ln>
                <a:effectLst/>
                <a:uLnTx/>
                <a:uFillTx/>
                <a:latin typeface="微軟正黑體" panose="020B0604030504040204" pitchFamily="34" charset="-120"/>
                <a:ea typeface="微軟正黑體" panose="020B0604030504040204" pitchFamily="34" charset="-120"/>
              </a:defRPr>
            </a:lvl1pPr>
          </a:lstStyle>
          <a:p>
            <a:r>
              <a:rPr lang="zh-TW" altLang="en-US" dirty="0"/>
              <a:t>信用卡報稅優惠搶先看　</a:t>
            </a:r>
            <a:r>
              <a:rPr lang="en-US" altLang="zh-TW" dirty="0"/>
              <a:t>4</a:t>
            </a:r>
            <a:r>
              <a:rPr lang="zh-TW" altLang="en-US" dirty="0"/>
              <a:t>家銀行回饋率拚場</a:t>
            </a:r>
          </a:p>
        </p:txBody>
      </p:sp>
      <p:sp>
        <p:nvSpPr>
          <p:cNvPr id="2" name="文字方塊 1">
            <a:extLst>
              <a:ext uri="{FF2B5EF4-FFF2-40B4-BE49-F238E27FC236}">
                <a16:creationId xmlns:a16="http://schemas.microsoft.com/office/drawing/2014/main" id="{AD60C276-65FE-BBAD-F58D-6A827040AADD}"/>
              </a:ext>
            </a:extLst>
          </p:cNvPr>
          <p:cNvSpPr txBox="1"/>
          <p:nvPr/>
        </p:nvSpPr>
        <p:spPr>
          <a:xfrm>
            <a:off x="144000" y="864000"/>
            <a:ext cx="5760000" cy="5471486"/>
          </a:xfrm>
          <a:prstGeom prst="rect">
            <a:avLst/>
          </a:prstGeom>
          <a:solidFill>
            <a:sysClr val="window" lastClr="FFFFFF"/>
          </a:solidFill>
          <a:ln w="12700" cap="flat" cmpd="sng" algn="ctr">
            <a:solidFill>
              <a:schemeClr val="accent3">
                <a:lumMod val="75000"/>
              </a:schemeClr>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TW" altLang="en-US" b="0" dirty="0"/>
              <a:t>個人綜合所得稅</a:t>
            </a:r>
            <a:r>
              <a:rPr lang="en-US" altLang="zh-TW" b="0" dirty="0"/>
              <a:t>5</a:t>
            </a:r>
            <a:r>
              <a:rPr lang="zh-TW" altLang="en-US" b="0" dirty="0"/>
              <a:t>月就要開徵，陸續已有銀行搶先釋出刷卡優惠。像是</a:t>
            </a:r>
            <a:r>
              <a:rPr lang="zh-TW" altLang="en-US" dirty="0">
                <a:solidFill>
                  <a:srgbClr val="C00000"/>
                </a:solidFill>
              </a:rPr>
              <a:t>中國信託祭出指定信用卡繳稅最高回饋</a:t>
            </a:r>
            <a:r>
              <a:rPr lang="en-US" altLang="zh-TW" dirty="0">
                <a:solidFill>
                  <a:srgbClr val="C00000"/>
                </a:solidFill>
              </a:rPr>
              <a:t>0.4%</a:t>
            </a:r>
            <a:r>
              <a:rPr lang="zh-TW" altLang="en-US" dirty="0">
                <a:solidFill>
                  <a:srgbClr val="C00000"/>
                </a:solidFill>
              </a:rPr>
              <a:t>，財管會員還能抽</a:t>
            </a:r>
            <a:r>
              <a:rPr lang="en-US" altLang="zh-TW" dirty="0">
                <a:solidFill>
                  <a:srgbClr val="C00000"/>
                </a:solidFill>
              </a:rPr>
              <a:t>60</a:t>
            </a:r>
            <a:r>
              <a:rPr lang="zh-TW" altLang="en-US" dirty="0">
                <a:solidFill>
                  <a:srgbClr val="C00000"/>
                </a:solidFill>
              </a:rPr>
              <a:t>萬刷卡金；台新財管會員刷</a:t>
            </a:r>
            <a:r>
              <a:rPr lang="en-US" altLang="zh-TW" dirty="0">
                <a:solidFill>
                  <a:srgbClr val="C00000"/>
                </a:solidFill>
              </a:rPr>
              <a:t>Richart</a:t>
            </a:r>
            <a:r>
              <a:rPr lang="zh-TW" altLang="en-US" dirty="0">
                <a:solidFill>
                  <a:srgbClr val="C00000"/>
                </a:solidFill>
              </a:rPr>
              <a:t>卡或</a:t>
            </a:r>
            <a:r>
              <a:rPr lang="en-US" altLang="zh-TW" dirty="0">
                <a:solidFill>
                  <a:srgbClr val="C00000"/>
                </a:solidFill>
              </a:rPr>
              <a:t>JCB</a:t>
            </a:r>
            <a:r>
              <a:rPr lang="zh-TW" altLang="en-US" dirty="0">
                <a:solidFill>
                  <a:srgbClr val="C00000"/>
                </a:solidFill>
              </a:rPr>
              <a:t>卡最高拿</a:t>
            </a:r>
            <a:r>
              <a:rPr lang="en-US" altLang="zh-TW" dirty="0">
                <a:solidFill>
                  <a:srgbClr val="C00000"/>
                </a:solidFill>
              </a:rPr>
              <a:t>0.5%</a:t>
            </a:r>
            <a:r>
              <a:rPr lang="zh-TW" altLang="en-US" dirty="0">
                <a:solidFill>
                  <a:srgbClr val="C00000"/>
                </a:solidFill>
              </a:rPr>
              <a:t>台新</a:t>
            </a:r>
            <a:r>
              <a:rPr lang="en-US" altLang="zh-TW" dirty="0">
                <a:solidFill>
                  <a:srgbClr val="C00000"/>
                </a:solidFill>
              </a:rPr>
              <a:t>Point</a:t>
            </a:r>
            <a:r>
              <a:rPr lang="zh-TW" altLang="en-US" dirty="0">
                <a:solidFill>
                  <a:srgbClr val="C00000"/>
                </a:solidFill>
              </a:rPr>
              <a:t>；玉山全卡友送</a:t>
            </a:r>
            <a:r>
              <a:rPr lang="en-US" altLang="zh-TW" dirty="0">
                <a:solidFill>
                  <a:srgbClr val="C00000"/>
                </a:solidFill>
              </a:rPr>
              <a:t>0.1%</a:t>
            </a:r>
            <a:r>
              <a:rPr lang="zh-TW" altLang="en-US" dirty="0">
                <a:solidFill>
                  <a:srgbClr val="C00000"/>
                </a:solidFill>
              </a:rPr>
              <a:t>刷卡金；永豐卡友登錄領</a:t>
            </a:r>
            <a:r>
              <a:rPr lang="en-US" altLang="zh-TW" dirty="0">
                <a:solidFill>
                  <a:srgbClr val="C00000"/>
                </a:solidFill>
              </a:rPr>
              <a:t>0.15%</a:t>
            </a:r>
            <a:r>
              <a:rPr lang="zh-TW" altLang="en-US" dirty="0">
                <a:solidFill>
                  <a:srgbClr val="C00000"/>
                </a:solidFill>
              </a:rPr>
              <a:t>刷卡金</a:t>
            </a:r>
            <a:r>
              <a:rPr lang="zh-TW" altLang="en-US" b="0" dirty="0"/>
              <a:t>。另外，以街口支付繳款抽</a:t>
            </a:r>
            <a:r>
              <a:rPr lang="en-US" altLang="zh-TW" b="0" dirty="0"/>
              <a:t>5%</a:t>
            </a:r>
            <a:r>
              <a:rPr lang="zh-TW" altLang="en-US" b="0" dirty="0"/>
              <a:t>街口幣，單筆稅額達標再抽</a:t>
            </a:r>
            <a:r>
              <a:rPr lang="en-US" altLang="zh-TW" b="0" dirty="0"/>
              <a:t>5,000</a:t>
            </a:r>
            <a:r>
              <a:rPr lang="zh-TW" altLang="en-US" b="0" dirty="0"/>
              <a:t>元。</a:t>
            </a:r>
          </a:p>
          <a:p>
            <a:r>
              <a:rPr lang="zh-TW" altLang="en-US" b="0" dirty="0">
                <a:solidFill>
                  <a:schemeClr val="tx1"/>
                </a:solidFill>
              </a:rPr>
              <a:t>中國信託針對不同信用卡設計不同的繳稅回饋方案。</a:t>
            </a:r>
            <a:r>
              <a:rPr lang="zh-TW" altLang="en-US" dirty="0">
                <a:solidFill>
                  <a:srgbClr val="0070C0"/>
                </a:solidFill>
              </a:rPr>
              <a:t>其中刷商旅鈦金卡、</a:t>
            </a:r>
            <a:r>
              <a:rPr lang="en-US" altLang="zh-TW" dirty="0">
                <a:solidFill>
                  <a:srgbClr val="0070C0"/>
                </a:solidFill>
              </a:rPr>
              <a:t>LINE Pay</a:t>
            </a:r>
            <a:r>
              <a:rPr lang="zh-TW" altLang="en-US" dirty="0">
                <a:solidFill>
                  <a:srgbClr val="0070C0"/>
                </a:solidFill>
              </a:rPr>
              <a:t>卡給</a:t>
            </a:r>
            <a:r>
              <a:rPr lang="en-US" altLang="zh-TW" dirty="0">
                <a:solidFill>
                  <a:srgbClr val="0070C0"/>
                </a:solidFill>
              </a:rPr>
              <a:t>0.1%</a:t>
            </a:r>
            <a:r>
              <a:rPr lang="zh-TW" altLang="en-US" dirty="0">
                <a:solidFill>
                  <a:srgbClr val="0070C0"/>
                </a:solidFill>
              </a:rPr>
              <a:t>刷卡金、</a:t>
            </a:r>
            <a:r>
              <a:rPr lang="en-US" altLang="zh-TW" dirty="0">
                <a:solidFill>
                  <a:srgbClr val="0070C0"/>
                </a:solidFill>
              </a:rPr>
              <a:t>LINE POINTS</a:t>
            </a:r>
            <a:r>
              <a:rPr lang="zh-TW" altLang="en-US" dirty="0">
                <a:solidFill>
                  <a:srgbClr val="0070C0"/>
                </a:solidFill>
              </a:rPr>
              <a:t>，以和泰聯名卡、</a:t>
            </a:r>
            <a:r>
              <a:rPr lang="en-US" altLang="zh-TW" dirty="0" err="1">
                <a:solidFill>
                  <a:srgbClr val="0070C0"/>
                </a:solidFill>
              </a:rPr>
              <a:t>uniopen</a:t>
            </a:r>
            <a:r>
              <a:rPr lang="zh-TW" altLang="en-US" dirty="0">
                <a:solidFill>
                  <a:srgbClr val="0070C0"/>
                </a:solidFill>
              </a:rPr>
              <a:t>聯名卡繳納領</a:t>
            </a:r>
            <a:r>
              <a:rPr lang="en-US" altLang="zh-TW" dirty="0">
                <a:solidFill>
                  <a:srgbClr val="0070C0"/>
                </a:solidFill>
              </a:rPr>
              <a:t>0.2%</a:t>
            </a:r>
            <a:r>
              <a:rPr lang="zh-TW" altLang="en-US" dirty="0">
                <a:solidFill>
                  <a:srgbClr val="0070C0"/>
                </a:solidFill>
              </a:rPr>
              <a:t>和泰</a:t>
            </a:r>
            <a:r>
              <a:rPr lang="en-US" altLang="zh-TW" dirty="0">
                <a:solidFill>
                  <a:srgbClr val="0070C0"/>
                </a:solidFill>
              </a:rPr>
              <a:t>Points</a:t>
            </a:r>
            <a:r>
              <a:rPr lang="zh-TW" altLang="en-US" dirty="0">
                <a:solidFill>
                  <a:srgbClr val="0070C0"/>
                </a:solidFill>
              </a:rPr>
              <a:t>或</a:t>
            </a:r>
            <a:r>
              <a:rPr lang="en-US" altLang="zh-TW" dirty="0">
                <a:solidFill>
                  <a:srgbClr val="0070C0"/>
                </a:solidFill>
              </a:rPr>
              <a:t>OPENPOINTS</a:t>
            </a:r>
            <a:r>
              <a:rPr lang="zh-TW" altLang="en-US" dirty="0">
                <a:solidFill>
                  <a:srgbClr val="0070C0"/>
                </a:solidFill>
              </a:rPr>
              <a:t>，單筆稅額滿</a:t>
            </a:r>
            <a:r>
              <a:rPr lang="en-US" altLang="zh-TW" dirty="0">
                <a:solidFill>
                  <a:srgbClr val="0070C0"/>
                </a:solidFill>
              </a:rPr>
              <a:t>1,000</a:t>
            </a:r>
            <a:r>
              <a:rPr lang="zh-TW" altLang="en-US" dirty="0">
                <a:solidFill>
                  <a:srgbClr val="0070C0"/>
                </a:solidFill>
              </a:rPr>
              <a:t>萬元加贈</a:t>
            </a:r>
            <a:r>
              <a:rPr lang="en-US" altLang="zh-TW" dirty="0">
                <a:solidFill>
                  <a:srgbClr val="0070C0"/>
                </a:solidFill>
              </a:rPr>
              <a:t>2</a:t>
            </a:r>
            <a:r>
              <a:rPr lang="zh-TW" altLang="en-US" dirty="0">
                <a:solidFill>
                  <a:srgbClr val="0070C0"/>
                </a:solidFill>
              </a:rPr>
              <a:t>萬點和泰</a:t>
            </a:r>
            <a:r>
              <a:rPr lang="en-US" altLang="zh-TW" dirty="0">
                <a:solidFill>
                  <a:srgbClr val="0070C0"/>
                </a:solidFill>
              </a:rPr>
              <a:t>Points</a:t>
            </a:r>
            <a:r>
              <a:rPr lang="zh-TW" altLang="en-US" dirty="0">
                <a:solidFill>
                  <a:srgbClr val="0070C0"/>
                </a:solidFill>
              </a:rPr>
              <a:t>或</a:t>
            </a:r>
            <a:r>
              <a:rPr lang="en-US" altLang="zh-TW" dirty="0">
                <a:solidFill>
                  <a:srgbClr val="0070C0"/>
                </a:solidFill>
              </a:rPr>
              <a:t>OPENPOINTS</a:t>
            </a:r>
            <a:r>
              <a:rPr lang="zh-TW" altLang="en-US" dirty="0">
                <a:solidFill>
                  <a:srgbClr val="0070C0"/>
                </a:solidFill>
              </a:rPr>
              <a:t>，相當於最高有</a:t>
            </a:r>
            <a:r>
              <a:rPr lang="en-US" altLang="zh-TW" dirty="0">
                <a:solidFill>
                  <a:srgbClr val="0070C0"/>
                </a:solidFill>
              </a:rPr>
              <a:t>0.4%</a:t>
            </a:r>
            <a:r>
              <a:rPr lang="zh-TW" altLang="en-US" dirty="0">
                <a:solidFill>
                  <a:srgbClr val="0070C0"/>
                </a:solidFill>
              </a:rPr>
              <a:t>的回饋率</a:t>
            </a:r>
            <a:r>
              <a:rPr lang="zh-TW" altLang="en-US" b="0" dirty="0"/>
              <a:t>。持</a:t>
            </a:r>
            <a:r>
              <a:rPr lang="zh-TW" altLang="en-US" dirty="0">
                <a:solidFill>
                  <a:srgbClr val="0070C0"/>
                </a:solidFill>
              </a:rPr>
              <a:t>中信財管鼎鑽卡繳交稅款享</a:t>
            </a:r>
            <a:r>
              <a:rPr lang="en-US" altLang="zh-TW" dirty="0">
                <a:solidFill>
                  <a:srgbClr val="0070C0"/>
                </a:solidFill>
              </a:rPr>
              <a:t>0.1%</a:t>
            </a:r>
            <a:r>
              <a:rPr lang="zh-TW" altLang="en-US" dirty="0">
                <a:solidFill>
                  <a:srgbClr val="0070C0"/>
                </a:solidFill>
              </a:rPr>
              <a:t>現金回饋，若為鼎富家會員加碼至</a:t>
            </a:r>
            <a:r>
              <a:rPr lang="en-US" altLang="zh-TW" dirty="0">
                <a:solidFill>
                  <a:srgbClr val="0070C0"/>
                </a:solidFill>
              </a:rPr>
              <a:t>0.15%</a:t>
            </a:r>
            <a:r>
              <a:rPr lang="zh-TW" altLang="en-US" dirty="0">
                <a:solidFill>
                  <a:srgbClr val="0070C0"/>
                </a:solidFill>
              </a:rPr>
              <a:t>，稅額達</a:t>
            </a:r>
            <a:r>
              <a:rPr lang="en-US" altLang="zh-TW" dirty="0">
                <a:solidFill>
                  <a:srgbClr val="0070C0"/>
                </a:solidFill>
              </a:rPr>
              <a:t>5,000</a:t>
            </a:r>
            <a:r>
              <a:rPr lang="zh-TW" altLang="en-US" dirty="0">
                <a:solidFill>
                  <a:srgbClr val="0070C0"/>
                </a:solidFill>
              </a:rPr>
              <a:t>萬元再增至</a:t>
            </a:r>
            <a:r>
              <a:rPr lang="en-US" altLang="zh-TW" dirty="0">
                <a:solidFill>
                  <a:srgbClr val="0070C0"/>
                </a:solidFill>
              </a:rPr>
              <a:t>0.2%</a:t>
            </a:r>
            <a:r>
              <a:rPr lang="zh-TW" altLang="en-US" b="0" dirty="0"/>
              <a:t>。同時，針對</a:t>
            </a:r>
            <a:r>
              <a:rPr lang="zh-TW" altLang="en-US" dirty="0">
                <a:solidFill>
                  <a:srgbClr val="0070C0"/>
                </a:solidFill>
              </a:rPr>
              <a:t>偏好累積航空哩程的持卡人提供特別優惠，</a:t>
            </a:r>
            <a:r>
              <a:rPr lang="en-US" altLang="zh-TW" dirty="0">
                <a:solidFill>
                  <a:srgbClr val="0070C0"/>
                </a:solidFill>
              </a:rPr>
              <a:t>ANA</a:t>
            </a:r>
            <a:r>
              <a:rPr lang="zh-TW" altLang="en-US" dirty="0">
                <a:solidFill>
                  <a:srgbClr val="0070C0"/>
                </a:solidFill>
              </a:rPr>
              <a:t>聯名卡、中華航空聯名卡卡友繳綜所稅每</a:t>
            </a:r>
            <a:r>
              <a:rPr lang="en-US" altLang="zh-TW" dirty="0">
                <a:solidFill>
                  <a:srgbClr val="0070C0"/>
                </a:solidFill>
              </a:rPr>
              <a:t>300</a:t>
            </a:r>
            <a:r>
              <a:rPr lang="zh-TW" altLang="en-US" dirty="0">
                <a:solidFill>
                  <a:srgbClr val="0070C0"/>
                </a:solidFill>
              </a:rPr>
              <a:t>元回饋</a:t>
            </a:r>
            <a:r>
              <a:rPr lang="en-US" altLang="zh-TW" dirty="0">
                <a:solidFill>
                  <a:srgbClr val="0070C0"/>
                </a:solidFill>
              </a:rPr>
              <a:t>1</a:t>
            </a:r>
            <a:r>
              <a:rPr lang="zh-TW" altLang="en-US" dirty="0">
                <a:solidFill>
                  <a:srgbClr val="0070C0"/>
                </a:solidFill>
              </a:rPr>
              <a:t>哩，且回饋無上限</a:t>
            </a:r>
            <a:r>
              <a:rPr lang="zh-TW" altLang="en-US" b="0" dirty="0"/>
              <a:t>。</a:t>
            </a:r>
            <a:endParaRPr lang="en-US" altLang="zh-TW" b="0" dirty="0"/>
          </a:p>
          <a:p>
            <a:r>
              <a:rPr lang="zh-TW" altLang="en-US" b="0" dirty="0"/>
              <a:t>台新銀行為財管會員規畫專屬刷卡方案，</a:t>
            </a:r>
            <a:r>
              <a:rPr lang="zh-TW" altLang="en-US" dirty="0">
                <a:solidFill>
                  <a:srgbClr val="0070C0"/>
                </a:solidFill>
              </a:rPr>
              <a:t>私銀</a:t>
            </a:r>
            <a:r>
              <a:rPr lang="en-US" altLang="zh-TW" dirty="0">
                <a:solidFill>
                  <a:srgbClr val="0070C0"/>
                </a:solidFill>
              </a:rPr>
              <a:t>/</a:t>
            </a:r>
            <a:r>
              <a:rPr lang="zh-TW" altLang="en-US" dirty="0">
                <a:solidFill>
                  <a:srgbClr val="0070C0"/>
                </a:solidFill>
              </a:rPr>
              <a:t>財管會員持任一張台新卡繳稅均贈</a:t>
            </a:r>
            <a:r>
              <a:rPr lang="en-US" altLang="zh-TW" dirty="0">
                <a:solidFill>
                  <a:srgbClr val="0070C0"/>
                </a:solidFill>
              </a:rPr>
              <a:t>0.4%</a:t>
            </a:r>
            <a:r>
              <a:rPr lang="zh-TW" altLang="en-US" dirty="0">
                <a:solidFill>
                  <a:srgbClr val="0070C0"/>
                </a:solidFill>
              </a:rPr>
              <a:t>台新</a:t>
            </a:r>
            <a:r>
              <a:rPr lang="en-US" altLang="zh-TW" dirty="0">
                <a:solidFill>
                  <a:srgbClr val="0070C0"/>
                </a:solidFill>
              </a:rPr>
              <a:t>Point</a:t>
            </a:r>
            <a:r>
              <a:rPr lang="zh-TW" altLang="en-US" dirty="0">
                <a:solidFill>
                  <a:srgbClr val="0070C0"/>
                </a:solidFill>
              </a:rPr>
              <a:t>，且可分</a:t>
            </a:r>
            <a:r>
              <a:rPr lang="en-US" altLang="zh-TW" dirty="0">
                <a:solidFill>
                  <a:srgbClr val="0070C0"/>
                </a:solidFill>
              </a:rPr>
              <a:t>3</a:t>
            </a:r>
            <a:r>
              <a:rPr lang="zh-TW" altLang="en-US" dirty="0">
                <a:solidFill>
                  <a:srgbClr val="0070C0"/>
                </a:solidFill>
              </a:rPr>
              <a:t>、</a:t>
            </a:r>
            <a:r>
              <a:rPr lang="en-US" altLang="zh-TW" dirty="0">
                <a:solidFill>
                  <a:srgbClr val="0070C0"/>
                </a:solidFill>
              </a:rPr>
              <a:t>6</a:t>
            </a:r>
            <a:r>
              <a:rPr lang="zh-TW" altLang="en-US" dirty="0">
                <a:solidFill>
                  <a:srgbClr val="0070C0"/>
                </a:solidFill>
              </a:rPr>
              <a:t>期</a:t>
            </a:r>
            <a:r>
              <a:rPr lang="en-US" altLang="zh-TW" dirty="0">
                <a:solidFill>
                  <a:srgbClr val="0070C0"/>
                </a:solidFill>
              </a:rPr>
              <a:t>0</a:t>
            </a:r>
            <a:r>
              <a:rPr lang="zh-TW" altLang="en-US" dirty="0">
                <a:solidFill>
                  <a:srgbClr val="0070C0"/>
                </a:solidFill>
              </a:rPr>
              <a:t>利率，單筆達</a:t>
            </a:r>
            <a:r>
              <a:rPr lang="en-US" altLang="zh-TW" dirty="0">
                <a:solidFill>
                  <a:srgbClr val="0070C0"/>
                </a:solidFill>
              </a:rPr>
              <a:t>12</a:t>
            </a:r>
            <a:r>
              <a:rPr lang="zh-TW" altLang="en-US" dirty="0">
                <a:solidFill>
                  <a:srgbClr val="0070C0"/>
                </a:solidFill>
              </a:rPr>
              <a:t>萬元能分</a:t>
            </a:r>
            <a:r>
              <a:rPr lang="en-US" altLang="zh-TW" dirty="0">
                <a:solidFill>
                  <a:srgbClr val="0070C0"/>
                </a:solidFill>
              </a:rPr>
              <a:t>12</a:t>
            </a:r>
            <a:r>
              <a:rPr lang="zh-TW" altLang="en-US" dirty="0">
                <a:solidFill>
                  <a:srgbClr val="0070C0"/>
                </a:solidFill>
              </a:rPr>
              <a:t>期</a:t>
            </a:r>
            <a:r>
              <a:rPr lang="en-US" altLang="zh-TW" dirty="0">
                <a:solidFill>
                  <a:srgbClr val="0070C0"/>
                </a:solidFill>
              </a:rPr>
              <a:t>0</a:t>
            </a:r>
            <a:r>
              <a:rPr lang="zh-TW" altLang="en-US" dirty="0">
                <a:solidFill>
                  <a:srgbClr val="0070C0"/>
                </a:solidFill>
              </a:rPr>
              <a:t>利率；以台新</a:t>
            </a:r>
            <a:r>
              <a:rPr lang="en-US" altLang="zh-TW" dirty="0">
                <a:solidFill>
                  <a:srgbClr val="0070C0"/>
                </a:solidFill>
              </a:rPr>
              <a:t>Richart</a:t>
            </a:r>
            <a:r>
              <a:rPr lang="zh-TW" altLang="en-US" dirty="0">
                <a:solidFill>
                  <a:srgbClr val="0070C0"/>
                </a:solidFill>
              </a:rPr>
              <a:t>萬事達卡或任一張</a:t>
            </a:r>
            <a:r>
              <a:rPr lang="en-US" altLang="zh-TW" dirty="0">
                <a:solidFill>
                  <a:srgbClr val="0070C0"/>
                </a:solidFill>
              </a:rPr>
              <a:t>JCB</a:t>
            </a:r>
            <a:r>
              <a:rPr lang="zh-TW" altLang="en-US" dirty="0">
                <a:solidFill>
                  <a:srgbClr val="0070C0"/>
                </a:solidFill>
              </a:rPr>
              <a:t>卡，單筆繳滿</a:t>
            </a:r>
            <a:r>
              <a:rPr lang="en-US" altLang="zh-TW" dirty="0">
                <a:solidFill>
                  <a:srgbClr val="0070C0"/>
                </a:solidFill>
              </a:rPr>
              <a:t>20</a:t>
            </a:r>
            <a:r>
              <a:rPr lang="zh-TW" altLang="en-US" dirty="0">
                <a:solidFill>
                  <a:srgbClr val="0070C0"/>
                </a:solidFill>
              </a:rPr>
              <a:t>萬元加送</a:t>
            </a:r>
            <a:r>
              <a:rPr lang="en-US" altLang="zh-TW" dirty="0">
                <a:solidFill>
                  <a:srgbClr val="0070C0"/>
                </a:solidFill>
              </a:rPr>
              <a:t>0.1%</a:t>
            </a:r>
            <a:r>
              <a:rPr lang="zh-TW" altLang="en-US" dirty="0">
                <a:solidFill>
                  <a:srgbClr val="0070C0"/>
                </a:solidFill>
              </a:rPr>
              <a:t>，加總最高回饋率達</a:t>
            </a:r>
            <a:r>
              <a:rPr lang="en-US" altLang="zh-TW" dirty="0">
                <a:solidFill>
                  <a:srgbClr val="0070C0"/>
                </a:solidFill>
              </a:rPr>
              <a:t>0.5%</a:t>
            </a:r>
            <a:r>
              <a:rPr lang="zh-TW" altLang="en-US" b="0" dirty="0"/>
              <a:t>。</a:t>
            </a:r>
          </a:p>
          <a:p>
            <a:endParaRPr lang="zh-TW" altLang="en-US" b="0" dirty="0"/>
          </a:p>
        </p:txBody>
      </p:sp>
      <p:sp>
        <p:nvSpPr>
          <p:cNvPr id="4" name="文字方塊 3">
            <a:extLst>
              <a:ext uri="{FF2B5EF4-FFF2-40B4-BE49-F238E27FC236}">
                <a16:creationId xmlns:a16="http://schemas.microsoft.com/office/drawing/2014/main" id="{04CF1849-DBB5-51D5-22A3-095FBDF180FB}"/>
              </a:ext>
            </a:extLst>
          </p:cNvPr>
          <p:cNvSpPr txBox="1"/>
          <p:nvPr/>
        </p:nvSpPr>
        <p:spPr>
          <a:xfrm>
            <a:off x="6048000" y="864004"/>
            <a:ext cx="5760000" cy="2339679"/>
          </a:xfrm>
          <a:prstGeom prst="rect">
            <a:avLst/>
          </a:prstGeom>
          <a:solidFill>
            <a:sysClr val="window" lastClr="FFFFFF"/>
          </a:solidFill>
          <a:ln w="12700" cap="flat" cmpd="sng" algn="ctr">
            <a:solidFill>
              <a:schemeClr val="accent3">
                <a:lumMod val="75000"/>
              </a:schemeClr>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TW" altLang="en-US" dirty="0">
                <a:solidFill>
                  <a:srgbClr val="0070C0"/>
                </a:solidFill>
              </a:rPr>
              <a:t>玉山銀行不分卡別繳稅都送</a:t>
            </a:r>
            <a:r>
              <a:rPr lang="en-US" altLang="zh-TW" dirty="0">
                <a:solidFill>
                  <a:srgbClr val="0070C0"/>
                </a:solidFill>
              </a:rPr>
              <a:t>0.1% e point</a:t>
            </a:r>
            <a:r>
              <a:rPr lang="zh-TW" altLang="en-US" dirty="0">
                <a:solidFill>
                  <a:srgbClr val="0070C0"/>
                </a:solidFill>
              </a:rPr>
              <a:t>；世界卡、無限卡、</a:t>
            </a:r>
            <a:r>
              <a:rPr lang="en-US" altLang="zh-TW" dirty="0">
                <a:solidFill>
                  <a:srgbClr val="0070C0"/>
                </a:solidFill>
              </a:rPr>
              <a:t>Unicard</a:t>
            </a:r>
            <a:r>
              <a:rPr lang="zh-TW" altLang="en-US" dirty="0">
                <a:solidFill>
                  <a:srgbClr val="0070C0"/>
                </a:solidFill>
              </a:rPr>
              <a:t>或熊本熊卡贈</a:t>
            </a:r>
            <a:r>
              <a:rPr lang="en-US" altLang="zh-TW" dirty="0">
                <a:solidFill>
                  <a:srgbClr val="0070C0"/>
                </a:solidFill>
              </a:rPr>
              <a:t>0.2%</a:t>
            </a:r>
            <a:r>
              <a:rPr lang="zh-TW" altLang="en-US" dirty="0">
                <a:solidFill>
                  <a:srgbClr val="0070C0"/>
                </a:solidFill>
              </a:rPr>
              <a:t> </a:t>
            </a:r>
            <a:r>
              <a:rPr lang="en-US" altLang="zh-TW" dirty="0">
                <a:solidFill>
                  <a:srgbClr val="0070C0"/>
                </a:solidFill>
              </a:rPr>
              <a:t>e point</a:t>
            </a:r>
            <a:r>
              <a:rPr lang="zh-TW" altLang="en-US" dirty="0">
                <a:solidFill>
                  <a:srgbClr val="0070C0"/>
                </a:solidFill>
              </a:rPr>
              <a:t>，稅額高於</a:t>
            </a:r>
            <a:r>
              <a:rPr lang="en-US" altLang="zh-TW" dirty="0">
                <a:solidFill>
                  <a:srgbClr val="0070C0"/>
                </a:solidFill>
              </a:rPr>
              <a:t>100</a:t>
            </a:r>
            <a:r>
              <a:rPr lang="zh-TW" altLang="en-US" dirty="0">
                <a:solidFill>
                  <a:srgbClr val="0070C0"/>
                </a:solidFill>
              </a:rPr>
              <a:t>萬元加碼至</a:t>
            </a:r>
            <a:r>
              <a:rPr lang="en-US" altLang="zh-TW" dirty="0">
                <a:solidFill>
                  <a:srgbClr val="0070C0"/>
                </a:solidFill>
              </a:rPr>
              <a:t>0.3%</a:t>
            </a:r>
            <a:r>
              <a:rPr lang="zh-TW" altLang="en-US" dirty="0">
                <a:solidFill>
                  <a:srgbClr val="0070C0"/>
                </a:solidFill>
              </a:rPr>
              <a:t>；刷星宇航空聯名卡每</a:t>
            </a:r>
            <a:r>
              <a:rPr lang="en-US" altLang="zh-TW" dirty="0">
                <a:solidFill>
                  <a:srgbClr val="0070C0"/>
                </a:solidFill>
              </a:rPr>
              <a:t>200</a:t>
            </a:r>
            <a:r>
              <a:rPr lang="zh-TW" altLang="en-US" dirty="0">
                <a:solidFill>
                  <a:srgbClr val="0070C0"/>
                </a:solidFill>
              </a:rPr>
              <a:t>元贈送</a:t>
            </a:r>
            <a:r>
              <a:rPr lang="en-US" altLang="zh-TW" dirty="0">
                <a:solidFill>
                  <a:srgbClr val="0070C0"/>
                </a:solidFill>
              </a:rPr>
              <a:t>1</a:t>
            </a:r>
            <a:r>
              <a:rPr lang="zh-TW" altLang="en-US" dirty="0">
                <a:solidFill>
                  <a:srgbClr val="0070C0"/>
                </a:solidFill>
              </a:rPr>
              <a:t>哩，換算回饋率約</a:t>
            </a:r>
            <a:r>
              <a:rPr lang="en-US" altLang="zh-TW" dirty="0">
                <a:solidFill>
                  <a:srgbClr val="0070C0"/>
                </a:solidFill>
              </a:rPr>
              <a:t>0.6%</a:t>
            </a:r>
            <a:r>
              <a:rPr lang="zh-TW" altLang="en-US" b="0" dirty="0"/>
              <a:t>。</a:t>
            </a:r>
            <a:r>
              <a:rPr lang="zh-TW" altLang="en-US" dirty="0">
                <a:solidFill>
                  <a:srgbClr val="0070C0"/>
                </a:solidFill>
              </a:rPr>
              <a:t>永豐幣倍卡、</a:t>
            </a:r>
            <a:r>
              <a:rPr lang="en-US" altLang="zh-TW" dirty="0">
                <a:solidFill>
                  <a:srgbClr val="0070C0"/>
                </a:solidFill>
              </a:rPr>
              <a:t>DAWHO</a:t>
            </a:r>
            <a:r>
              <a:rPr lang="zh-TW" altLang="en-US" dirty="0">
                <a:solidFill>
                  <a:srgbClr val="0070C0"/>
                </a:solidFill>
              </a:rPr>
              <a:t>卡卡友繳付稅款並完成登錄拿</a:t>
            </a:r>
            <a:r>
              <a:rPr lang="en-US" altLang="zh-TW" dirty="0">
                <a:solidFill>
                  <a:srgbClr val="0070C0"/>
                </a:solidFill>
              </a:rPr>
              <a:t>0.15%</a:t>
            </a:r>
            <a:r>
              <a:rPr lang="zh-TW" altLang="en-US" dirty="0">
                <a:solidFill>
                  <a:srgbClr val="0070C0"/>
                </a:solidFill>
              </a:rPr>
              <a:t>，每人上限</a:t>
            </a:r>
            <a:r>
              <a:rPr lang="en-US" altLang="zh-TW" dirty="0">
                <a:solidFill>
                  <a:srgbClr val="0070C0"/>
                </a:solidFill>
              </a:rPr>
              <a:t>1,000</a:t>
            </a:r>
            <a:r>
              <a:rPr lang="zh-TW" altLang="en-US" dirty="0">
                <a:solidFill>
                  <a:srgbClr val="0070C0"/>
                </a:solidFill>
              </a:rPr>
              <a:t>元；刷永傳世界卡、永富世界卡給</a:t>
            </a:r>
            <a:r>
              <a:rPr lang="en-US" altLang="zh-TW" dirty="0">
                <a:solidFill>
                  <a:srgbClr val="0070C0"/>
                </a:solidFill>
              </a:rPr>
              <a:t>0.38%</a:t>
            </a:r>
            <a:r>
              <a:rPr lang="zh-TW" altLang="en-US" dirty="0">
                <a:solidFill>
                  <a:srgbClr val="0070C0"/>
                </a:solidFill>
              </a:rPr>
              <a:t>、</a:t>
            </a:r>
            <a:r>
              <a:rPr lang="en-US" altLang="zh-TW" dirty="0">
                <a:solidFill>
                  <a:srgbClr val="0070C0"/>
                </a:solidFill>
              </a:rPr>
              <a:t>0.25%</a:t>
            </a:r>
            <a:r>
              <a:rPr lang="zh-TW" altLang="en-US" dirty="0">
                <a:solidFill>
                  <a:srgbClr val="0070C0"/>
                </a:solidFill>
              </a:rPr>
              <a:t>刷卡金，最高回饋</a:t>
            </a:r>
            <a:r>
              <a:rPr lang="en-US" altLang="zh-TW" dirty="0">
                <a:solidFill>
                  <a:srgbClr val="0070C0"/>
                </a:solidFill>
              </a:rPr>
              <a:t>15</a:t>
            </a:r>
            <a:r>
              <a:rPr lang="zh-TW" altLang="en-US" dirty="0">
                <a:solidFill>
                  <a:srgbClr val="0070C0"/>
                </a:solidFill>
              </a:rPr>
              <a:t>萬元、</a:t>
            </a:r>
            <a:r>
              <a:rPr lang="en-US" altLang="zh-TW" dirty="0">
                <a:solidFill>
                  <a:srgbClr val="0070C0"/>
                </a:solidFill>
              </a:rPr>
              <a:t>5</a:t>
            </a:r>
            <a:r>
              <a:rPr lang="zh-TW" altLang="en-US" dirty="0">
                <a:solidFill>
                  <a:srgbClr val="0070C0"/>
                </a:solidFill>
              </a:rPr>
              <a:t>萬元</a:t>
            </a:r>
            <a:r>
              <a:rPr lang="zh-TW" altLang="en-US" b="0" dirty="0"/>
              <a:t>。街口支付</a:t>
            </a:r>
            <a:r>
              <a:rPr lang="zh-TW" altLang="en-US" dirty="0">
                <a:solidFill>
                  <a:srgbClr val="0070C0"/>
                </a:solidFill>
              </a:rPr>
              <a:t>新註冊成為街口支付會員，以街口帳戶繳納所得稅抽</a:t>
            </a:r>
            <a:r>
              <a:rPr lang="en-US" altLang="zh-TW" dirty="0">
                <a:solidFill>
                  <a:srgbClr val="0070C0"/>
                </a:solidFill>
              </a:rPr>
              <a:t>5%</a:t>
            </a:r>
            <a:r>
              <a:rPr lang="zh-TW" altLang="en-US" dirty="0">
                <a:solidFill>
                  <a:srgbClr val="0070C0"/>
                </a:solidFill>
              </a:rPr>
              <a:t>街口幣，最高送</a:t>
            </a:r>
            <a:r>
              <a:rPr lang="en-US" altLang="zh-TW" dirty="0">
                <a:solidFill>
                  <a:srgbClr val="0070C0"/>
                </a:solidFill>
              </a:rPr>
              <a:t>400</a:t>
            </a:r>
            <a:r>
              <a:rPr lang="zh-TW" altLang="en-US" dirty="0">
                <a:solidFill>
                  <a:srgbClr val="0070C0"/>
                </a:solidFill>
              </a:rPr>
              <a:t>元街口幣；既有用戶抽稅額</a:t>
            </a:r>
            <a:r>
              <a:rPr lang="en-US" altLang="zh-TW" dirty="0">
                <a:solidFill>
                  <a:srgbClr val="0070C0"/>
                </a:solidFill>
              </a:rPr>
              <a:t>3%</a:t>
            </a:r>
            <a:r>
              <a:rPr lang="zh-TW" altLang="en-US" dirty="0">
                <a:solidFill>
                  <a:srgbClr val="0070C0"/>
                </a:solidFill>
              </a:rPr>
              <a:t>街口幣，最高入袋</a:t>
            </a:r>
            <a:r>
              <a:rPr lang="en-US" altLang="zh-TW" dirty="0">
                <a:solidFill>
                  <a:srgbClr val="0070C0"/>
                </a:solidFill>
              </a:rPr>
              <a:t>200</a:t>
            </a:r>
            <a:r>
              <a:rPr lang="zh-TW" altLang="en-US" dirty="0">
                <a:solidFill>
                  <a:srgbClr val="0070C0"/>
                </a:solidFill>
              </a:rPr>
              <a:t>元街口幣</a:t>
            </a:r>
            <a:r>
              <a:rPr lang="zh-TW" altLang="en-US" b="0" dirty="0"/>
              <a:t>。</a:t>
            </a:r>
          </a:p>
          <a:p>
            <a:pPr latinLnBrk="1"/>
            <a:endParaRPr lang="zh-TW" altLang="en-US" b="0" dirty="0">
              <a:solidFill>
                <a:prstClr val="black"/>
              </a:solidFill>
            </a:endParaRPr>
          </a:p>
        </p:txBody>
      </p:sp>
      <p:sp>
        <p:nvSpPr>
          <p:cNvPr id="11" name="矩形 10">
            <a:extLst>
              <a:ext uri="{FF2B5EF4-FFF2-40B4-BE49-F238E27FC236}">
                <a16:creationId xmlns:a16="http://schemas.microsoft.com/office/drawing/2014/main" id="{59FED433-2AF1-DCF6-0342-9AEB31522BD0}"/>
              </a:ext>
            </a:extLst>
          </p:cNvPr>
          <p:cNvSpPr/>
          <p:nvPr/>
        </p:nvSpPr>
        <p:spPr>
          <a:xfrm>
            <a:off x="5569614" y="465258"/>
            <a:ext cx="1763624"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Arial" panose="020B0604020202020204" pitchFamily="34" charset="0"/>
                <a:ea typeface="微軟正黑體" panose="020B0604030504040204" pitchFamily="34" charset="-120"/>
                <a:cs typeface="+mn-cs"/>
              </a:rPr>
              <a:t>2026/04/23</a:t>
            </a:r>
            <a:r>
              <a:rPr kumimoji="0" lang="zh-TW" altLang="en-US" sz="1200" b="0" i="0" u="none" strike="noStrike" kern="1200" cap="none" spc="0" normalizeH="0" baseline="0" noProof="0" dirty="0">
                <a:ln>
                  <a:noFill/>
                </a:ln>
                <a:solidFill>
                  <a:prstClr val="black"/>
                </a:solidFill>
                <a:effectLst/>
                <a:uLnTx/>
                <a:uFillTx/>
                <a:latin typeface="Arial" panose="020B0604020202020204" pitchFamily="34" charset="0"/>
                <a:ea typeface="微軟正黑體" panose="020B0604030504040204" pitchFamily="34" charset="-120"/>
                <a:cs typeface="+mn-cs"/>
              </a:rPr>
              <a:t> </a:t>
            </a:r>
            <a:r>
              <a:rPr lang="zh-TW" altLang="en-US" sz="1200" b="0" dirty="0">
                <a:solidFill>
                  <a:prstClr val="black"/>
                </a:solidFill>
                <a:latin typeface="Arial" panose="020B0604020202020204" pitchFamily="34" charset="0"/>
                <a:ea typeface="微軟正黑體" panose="020B0604030504040204" pitchFamily="34" charset="-120"/>
              </a:rPr>
              <a:t>卡優新聞網</a:t>
            </a:r>
            <a:endParaRPr kumimoji="0" lang="zh-TW" altLang="en-US" sz="1200" b="0" i="0" u="none" strike="noStrike" kern="1200" cap="none" spc="0" normalizeH="0" baseline="0" noProof="0" dirty="0">
              <a:ln>
                <a:noFill/>
              </a:ln>
              <a:solidFill>
                <a:prstClr val="black"/>
              </a:solidFill>
              <a:effectLst/>
              <a:uLnTx/>
              <a:uFillTx/>
              <a:latin typeface="Arial" panose="020B0604020202020204" pitchFamily="34" charset="0"/>
              <a:ea typeface="微軟正黑體" panose="020B0604030504040204" pitchFamily="34" charset="-120"/>
              <a:cs typeface="+mn-cs"/>
            </a:endParaRPr>
          </a:p>
        </p:txBody>
      </p:sp>
      <p:sp>
        <p:nvSpPr>
          <p:cNvPr id="7" name="文字方塊 6">
            <a:extLst>
              <a:ext uri="{FF2B5EF4-FFF2-40B4-BE49-F238E27FC236}">
                <a16:creationId xmlns:a16="http://schemas.microsoft.com/office/drawing/2014/main" id="{45F77849-98CD-2B12-E165-7771FBE765CE}"/>
              </a:ext>
            </a:extLst>
          </p:cNvPr>
          <p:cNvSpPr txBox="1"/>
          <p:nvPr/>
        </p:nvSpPr>
        <p:spPr>
          <a:xfrm>
            <a:off x="6045114" y="3236898"/>
            <a:ext cx="5794837" cy="325080"/>
          </a:xfrm>
          <a:prstGeom prst="rect">
            <a:avLst/>
          </a:prstGeom>
          <a:solidFill>
            <a:srgbClr val="595959"/>
          </a:solidFill>
          <a:ln w="12700" cap="flat" cmpd="sng" algn="ctr">
            <a:noFill/>
            <a:prstDash val="solid"/>
            <a:miter lim="800000"/>
          </a:ln>
          <a:effectLst/>
        </p:spPr>
        <p:txBody>
          <a:bodyPr rtlCol="0" anchor="ct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400" i="0" u="none" strike="noStrike" kern="0" cap="none" spc="0" normalizeH="0" baseline="0">
                <a:ln>
                  <a:noFill/>
                </a:ln>
                <a:solidFill>
                  <a:prstClr val="white"/>
                </a:solidFill>
                <a:effectLst/>
                <a:uLnTx/>
                <a:uFillTx/>
                <a:latin typeface="微軟正黑體" panose="020B0604030504040204" pitchFamily="34" charset="-120"/>
                <a:ea typeface="微軟正黑體" panose="020B0604030504040204" pitchFamily="34" charset="-120"/>
              </a:defRPr>
            </a:lvl1pPr>
          </a:lstStyle>
          <a:p>
            <a:r>
              <a:rPr lang="zh-TW" altLang="en-US" dirty="0"/>
              <a:t>信用卡報稅優惠整理</a:t>
            </a:r>
          </a:p>
        </p:txBody>
      </p:sp>
      <p:sp>
        <p:nvSpPr>
          <p:cNvPr id="8" name="文字方塊 7">
            <a:extLst>
              <a:ext uri="{FF2B5EF4-FFF2-40B4-BE49-F238E27FC236}">
                <a16:creationId xmlns:a16="http://schemas.microsoft.com/office/drawing/2014/main" id="{C0FD60CD-FEA0-139C-07CE-986C158839A6}"/>
              </a:ext>
            </a:extLst>
          </p:cNvPr>
          <p:cNvSpPr txBox="1"/>
          <p:nvPr/>
        </p:nvSpPr>
        <p:spPr>
          <a:xfrm>
            <a:off x="10282798" y="3318850"/>
            <a:ext cx="2002457" cy="230832"/>
          </a:xfrm>
          <a:prstGeom prst="rect">
            <a:avLst/>
          </a:prstGeom>
          <a:noFill/>
        </p:spPr>
        <p:txBody>
          <a:bodyPr wrap="square">
            <a:spAutoFit/>
          </a:bodyPr>
          <a:lstStyle/>
          <a:p>
            <a:r>
              <a:rPr lang="zh-TW" altLang="en-US" sz="900" dirty="0">
                <a:solidFill>
                  <a:schemeClr val="bg1"/>
                </a:solidFill>
                <a:latin typeface="微軟正黑體" panose="020B0604030504040204" pitchFamily="34" charset="-120"/>
                <a:ea typeface="微軟正黑體" panose="020B0604030504040204" pitchFamily="34" charset="-120"/>
              </a:rPr>
              <a:t>資料來源：同業、新聞整理</a:t>
            </a:r>
            <a:endParaRPr lang="zh-TW" altLang="en-US" sz="2000" dirty="0">
              <a:solidFill>
                <a:schemeClr val="bg1"/>
              </a:solidFill>
              <a:latin typeface="微軟正黑體" panose="020B0604030504040204" pitchFamily="34" charset="-120"/>
              <a:ea typeface="微軟正黑體" panose="020B0604030504040204" pitchFamily="34" charset="-120"/>
            </a:endParaRPr>
          </a:p>
        </p:txBody>
      </p:sp>
      <p:graphicFrame>
        <p:nvGraphicFramePr>
          <p:cNvPr id="5" name="表格 4">
            <a:extLst>
              <a:ext uri="{FF2B5EF4-FFF2-40B4-BE49-F238E27FC236}">
                <a16:creationId xmlns:a16="http://schemas.microsoft.com/office/drawing/2014/main" id="{9CB232EE-1921-1017-D9E2-9137A1F2B07B}"/>
              </a:ext>
            </a:extLst>
          </p:cNvPr>
          <p:cNvGraphicFramePr>
            <a:graphicFrameLocks noGrp="1"/>
          </p:cNvGraphicFramePr>
          <p:nvPr>
            <p:extLst>
              <p:ext uri="{D42A27DB-BD31-4B8C-83A1-F6EECF244321}">
                <p14:modId xmlns:p14="http://schemas.microsoft.com/office/powerpoint/2010/main" val="2225073756"/>
              </p:ext>
            </p:extLst>
          </p:nvPr>
        </p:nvGraphicFramePr>
        <p:xfrm>
          <a:off x="6045114" y="3609053"/>
          <a:ext cx="5794837" cy="2947136"/>
        </p:xfrm>
        <a:graphic>
          <a:graphicData uri="http://schemas.openxmlformats.org/drawingml/2006/table">
            <a:tbl>
              <a:tblPr>
                <a:tableStyleId>{616DA210-FB5B-4158-B5E0-FEB733F419BA}</a:tableStyleId>
              </a:tblPr>
              <a:tblGrid>
                <a:gridCol w="555920">
                  <a:extLst>
                    <a:ext uri="{9D8B030D-6E8A-4147-A177-3AD203B41FA5}">
                      <a16:colId xmlns:a16="http://schemas.microsoft.com/office/drawing/2014/main" val="2726619598"/>
                    </a:ext>
                  </a:extLst>
                </a:gridCol>
                <a:gridCol w="1873601">
                  <a:extLst>
                    <a:ext uri="{9D8B030D-6E8A-4147-A177-3AD203B41FA5}">
                      <a16:colId xmlns:a16="http://schemas.microsoft.com/office/drawing/2014/main" val="978443918"/>
                    </a:ext>
                  </a:extLst>
                </a:gridCol>
                <a:gridCol w="1428377">
                  <a:extLst>
                    <a:ext uri="{9D8B030D-6E8A-4147-A177-3AD203B41FA5}">
                      <a16:colId xmlns:a16="http://schemas.microsoft.com/office/drawing/2014/main" val="1928539865"/>
                    </a:ext>
                  </a:extLst>
                </a:gridCol>
                <a:gridCol w="1936939">
                  <a:extLst>
                    <a:ext uri="{9D8B030D-6E8A-4147-A177-3AD203B41FA5}">
                      <a16:colId xmlns:a16="http://schemas.microsoft.com/office/drawing/2014/main" val="3811310142"/>
                    </a:ext>
                  </a:extLst>
                </a:gridCol>
              </a:tblGrid>
              <a:tr h="153030">
                <a:tc>
                  <a:txBody>
                    <a:bodyPr/>
                    <a:lstStyle/>
                    <a:p>
                      <a:pPr algn="ctr" rtl="0" fontAlgn="b">
                        <a:buNone/>
                      </a:pPr>
                      <a:r>
                        <a:rPr lang="zh-TW" altLang="en-US" sz="900" b="1" dirty="0">
                          <a:effectLst/>
                          <a:latin typeface="微軟正黑體" panose="020B0604030504040204" pitchFamily="34" charset="-120"/>
                          <a:ea typeface="微軟正黑體" panose="020B0604030504040204" pitchFamily="34" charset="-120"/>
                        </a:rPr>
                        <a:t>國銀</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tc>
                  <a:txBody>
                    <a:bodyPr/>
                    <a:lstStyle/>
                    <a:p>
                      <a:pPr algn="ctr" rtl="0" fontAlgn="b">
                        <a:buNone/>
                      </a:pPr>
                      <a:r>
                        <a:rPr lang="zh-TW" altLang="en-US" sz="900" b="1" dirty="0">
                          <a:effectLst/>
                          <a:latin typeface="微軟正黑體" panose="020B0604030504040204" pitchFamily="34" charset="-120"/>
                          <a:ea typeface="微軟正黑體" panose="020B0604030504040204" pitchFamily="34" charset="-120"/>
                        </a:rPr>
                        <a:t>對象</a:t>
                      </a:r>
                      <a:r>
                        <a:rPr lang="en-US" altLang="zh-TW" sz="900" b="1" dirty="0">
                          <a:effectLst/>
                          <a:latin typeface="微軟正黑體" panose="020B0604030504040204" pitchFamily="34" charset="-120"/>
                          <a:ea typeface="微軟正黑體" panose="020B0604030504040204" pitchFamily="34" charset="-120"/>
                        </a:rPr>
                        <a:t>/</a:t>
                      </a:r>
                      <a:r>
                        <a:rPr lang="zh-TW" altLang="en-US" sz="900" b="1" dirty="0">
                          <a:effectLst/>
                          <a:latin typeface="微軟正黑體" panose="020B0604030504040204" pitchFamily="34" charset="-120"/>
                          <a:ea typeface="微軟正黑體" panose="020B0604030504040204" pitchFamily="34" charset="-120"/>
                        </a:rPr>
                        <a:t>卡別</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tc>
                  <a:txBody>
                    <a:bodyPr/>
                    <a:lstStyle/>
                    <a:p>
                      <a:pPr algn="ctr" rtl="0" fontAlgn="b">
                        <a:buNone/>
                      </a:pPr>
                      <a:r>
                        <a:rPr lang="zh-TW" altLang="en-US" sz="900" b="1" dirty="0">
                          <a:effectLst/>
                          <a:latin typeface="微軟正黑體" panose="020B0604030504040204" pitchFamily="34" charset="-120"/>
                          <a:ea typeface="微軟正黑體" panose="020B0604030504040204" pitchFamily="34" charset="-120"/>
                        </a:rPr>
                        <a:t>回饋</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tc>
                  <a:txBody>
                    <a:bodyPr/>
                    <a:lstStyle/>
                    <a:p>
                      <a:pPr algn="ctr" rtl="0" fontAlgn="b">
                        <a:buNone/>
                      </a:pPr>
                      <a:r>
                        <a:rPr lang="zh-TW" altLang="en-US" sz="900" b="1" dirty="0">
                          <a:effectLst/>
                          <a:latin typeface="微軟正黑體" panose="020B0604030504040204" pitchFamily="34" charset="-120"/>
                          <a:ea typeface="微軟正黑體" panose="020B0604030504040204" pitchFamily="34" charset="-120"/>
                        </a:rPr>
                        <a:t>備註</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840270420"/>
                  </a:ext>
                </a:extLst>
              </a:tr>
              <a:tr h="150456">
                <a:tc rowSpan="4">
                  <a:txBody>
                    <a:bodyPr/>
                    <a:lstStyle/>
                    <a:p>
                      <a:pPr algn="ctr" rtl="0" fontAlgn="b">
                        <a:buNone/>
                      </a:pPr>
                      <a:r>
                        <a:rPr lang="zh-TW" altLang="en-US" sz="900" dirty="0">
                          <a:effectLst/>
                          <a:latin typeface="微軟正黑體" panose="020B0604030504040204" pitchFamily="34" charset="-120"/>
                          <a:ea typeface="微軟正黑體" panose="020B0604030504040204" pitchFamily="34" charset="-120"/>
                        </a:rPr>
                        <a:t>中信</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lvl="0" algn="l" rtl="0" fontAlgn="b">
                        <a:buNone/>
                      </a:pPr>
                      <a:r>
                        <a:rPr lang="zh-TW" altLang="en-US" sz="900" dirty="0">
                          <a:effectLst/>
                          <a:latin typeface="微軟正黑體" panose="020B0604030504040204" pitchFamily="34" charset="-120"/>
                          <a:ea typeface="微軟正黑體" panose="020B0604030504040204" pitchFamily="34" charset="-120"/>
                        </a:rPr>
                        <a:t>商旅鈦金卡 </a:t>
                      </a:r>
                      <a:r>
                        <a:rPr lang="en-US" altLang="zh-TW" sz="900" dirty="0">
                          <a:effectLst/>
                          <a:latin typeface="微軟正黑體" panose="020B0604030504040204" pitchFamily="34" charset="-120"/>
                          <a:ea typeface="微軟正黑體" panose="020B0604030504040204" pitchFamily="34" charset="-120"/>
                        </a:rPr>
                        <a:t>/</a:t>
                      </a:r>
                      <a:r>
                        <a:rPr lang="zh-TW" altLang="en-US" sz="900" dirty="0">
                          <a:effectLst/>
                          <a:latin typeface="微軟正黑體" panose="020B0604030504040204" pitchFamily="34" charset="-120"/>
                          <a:ea typeface="微軟正黑體" panose="020B0604030504040204" pitchFamily="34" charset="-120"/>
                        </a:rPr>
                        <a:t> </a:t>
                      </a:r>
                      <a:r>
                        <a:rPr lang="en-US" sz="900" dirty="0">
                          <a:effectLst/>
                          <a:latin typeface="微軟正黑體" panose="020B0604030504040204" pitchFamily="34" charset="-120"/>
                          <a:ea typeface="微軟正黑體" panose="020B0604030504040204" pitchFamily="34" charset="-120"/>
                        </a:rPr>
                        <a:t>LINE Pay</a:t>
                      </a:r>
                      <a:r>
                        <a:rPr lang="zh-TW" altLang="en-US" sz="900" dirty="0">
                          <a:effectLst/>
                          <a:latin typeface="微軟正黑體" panose="020B0604030504040204" pitchFamily="34" charset="-120"/>
                          <a:ea typeface="微軟正黑體" panose="020B0604030504040204" pitchFamily="34" charset="-120"/>
                        </a:rPr>
                        <a:t>卡</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en-US" altLang="zh-TW" sz="900" dirty="0">
                          <a:effectLst/>
                          <a:latin typeface="微軟正黑體" panose="020B0604030504040204" pitchFamily="34" charset="-120"/>
                          <a:ea typeface="微軟正黑體" panose="020B0604030504040204" pitchFamily="34" charset="-120"/>
                        </a:rPr>
                        <a:t>0.1% </a:t>
                      </a:r>
                      <a:r>
                        <a:rPr lang="zh-TW" altLang="en-US" sz="900" dirty="0">
                          <a:effectLst/>
                          <a:latin typeface="微軟正黑體" panose="020B0604030504040204" pitchFamily="34" charset="-120"/>
                          <a:ea typeface="微軟正黑體" panose="020B0604030504040204" pitchFamily="34" charset="-120"/>
                        </a:rPr>
                        <a:t>刷卡金 </a:t>
                      </a:r>
                      <a:r>
                        <a:rPr lang="en-US" altLang="zh-TW" sz="900" dirty="0">
                          <a:effectLst/>
                          <a:latin typeface="微軟正黑體" panose="020B0604030504040204" pitchFamily="34" charset="-120"/>
                          <a:ea typeface="微軟正黑體" panose="020B0604030504040204" pitchFamily="34" charset="-120"/>
                        </a:rPr>
                        <a:t>/</a:t>
                      </a:r>
                      <a:r>
                        <a:rPr lang="zh-TW" altLang="en-US" sz="900" dirty="0">
                          <a:effectLst/>
                          <a:latin typeface="微軟正黑體" panose="020B0604030504040204" pitchFamily="34" charset="-120"/>
                          <a:ea typeface="微軟正黑體" panose="020B0604030504040204" pitchFamily="34" charset="-120"/>
                        </a:rPr>
                        <a:t> </a:t>
                      </a:r>
                      <a:r>
                        <a:rPr lang="en-US" sz="900" dirty="0">
                          <a:effectLst/>
                          <a:latin typeface="微軟正黑體" panose="020B0604030504040204" pitchFamily="34" charset="-120"/>
                          <a:ea typeface="微軟正黑體" panose="020B0604030504040204" pitchFamily="34" charset="-120"/>
                        </a:rPr>
                        <a:t>LINE POINTS</a:t>
                      </a:r>
                    </a:p>
                  </a:txBody>
                  <a:tcPr marL="0" marR="0"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en-US" altLang="zh-TW" sz="900" dirty="0">
                          <a:effectLst/>
                          <a:latin typeface="微軟正黑體" panose="020B0604030504040204" pitchFamily="34" charset="-120"/>
                          <a:ea typeface="微軟正黑體" panose="020B0604030504040204" pitchFamily="34" charset="-120"/>
                        </a:rPr>
                        <a:t>-</a:t>
                      </a:r>
                      <a:endParaRPr lang="zh-TW" altLang="en-US" sz="900" dirty="0">
                        <a:effectLst/>
                        <a:latin typeface="微軟正黑體" panose="020B0604030504040204" pitchFamily="34" charset="-120"/>
                        <a:ea typeface="微軟正黑體" panose="020B0604030504040204" pitchFamily="34" charset="-120"/>
                      </a:endParaRP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77099454"/>
                  </a:ext>
                </a:extLst>
              </a:tr>
              <a:tr h="290152">
                <a:tc vMerge="1">
                  <a:txBody>
                    <a:bodyPr/>
                    <a:lstStyle/>
                    <a:p>
                      <a:pPr rtl="0" fontAlgn="b">
                        <a:buNone/>
                      </a:pPr>
                      <a:endParaRPr lang="zh-TW" altLang="en-US" sz="1000" dirty="0">
                        <a:effectLst/>
                        <a:latin typeface="微軟正黑體" panose="020B0604030504040204" pitchFamily="34" charset="-120"/>
                        <a:ea typeface="微軟正黑體" panose="020B0604030504040204" pitchFamily="34" charset="-120"/>
                      </a:endParaRPr>
                    </a:p>
                  </a:txBody>
                  <a:tcPr marL="7923" marR="7923" marT="5282" marB="5282"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lvl="0" algn="l" rtl="0" fontAlgn="b">
                        <a:buNone/>
                      </a:pPr>
                      <a:r>
                        <a:rPr lang="zh-TW" altLang="en-US" sz="900" dirty="0">
                          <a:effectLst/>
                          <a:latin typeface="微軟正黑體" panose="020B0604030504040204" pitchFamily="34" charset="-120"/>
                          <a:ea typeface="微軟正黑體" panose="020B0604030504040204" pitchFamily="34" charset="-120"/>
                        </a:rPr>
                        <a:t>和泰聯名卡、</a:t>
                      </a:r>
                      <a:r>
                        <a:rPr lang="en-US" altLang="zh-TW" sz="900" dirty="0" err="1">
                          <a:effectLst/>
                          <a:latin typeface="微軟正黑體" panose="020B0604030504040204" pitchFamily="34" charset="-120"/>
                          <a:ea typeface="微軟正黑體" panose="020B0604030504040204" pitchFamily="34" charset="-120"/>
                        </a:rPr>
                        <a:t>uniopen</a:t>
                      </a:r>
                      <a:r>
                        <a:rPr lang="zh-TW" altLang="en-US" sz="900" dirty="0">
                          <a:effectLst/>
                          <a:latin typeface="微軟正黑體" panose="020B0604030504040204" pitchFamily="34" charset="-120"/>
                          <a:ea typeface="微軟正黑體" panose="020B0604030504040204" pitchFamily="34" charset="-120"/>
                        </a:rPr>
                        <a:t>聯名卡</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en-US" sz="900" dirty="0">
                          <a:effectLst/>
                          <a:latin typeface="微軟正黑體" panose="020B0604030504040204" pitchFamily="34" charset="-120"/>
                          <a:ea typeface="微軟正黑體" panose="020B0604030504040204" pitchFamily="34" charset="-120"/>
                        </a:rPr>
                        <a:t>0.2% </a:t>
                      </a:r>
                      <a:r>
                        <a:rPr lang="en-US" sz="900" dirty="0" err="1">
                          <a:effectLst/>
                          <a:latin typeface="微軟正黑體" panose="020B0604030504040204" pitchFamily="34" charset="-120"/>
                          <a:ea typeface="微軟正黑體" panose="020B0604030504040204" pitchFamily="34" charset="-120"/>
                        </a:rPr>
                        <a:t>和泰Points或</a:t>
                      </a:r>
                      <a:r>
                        <a:rPr lang="en-US" sz="900" dirty="0">
                          <a:effectLst/>
                          <a:latin typeface="微軟正黑體" panose="020B0604030504040204" pitchFamily="34" charset="-120"/>
                          <a:ea typeface="微軟正黑體" panose="020B0604030504040204" pitchFamily="34" charset="-120"/>
                        </a:rPr>
                        <a:t> OPENPOINTS</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zh-TW" altLang="en-US" sz="900" dirty="0">
                          <a:effectLst/>
                          <a:latin typeface="微軟正黑體" panose="020B0604030504040204" pitchFamily="34" charset="-120"/>
                          <a:ea typeface="微軟正黑體" panose="020B0604030504040204" pitchFamily="34" charset="-120"/>
                        </a:rPr>
                        <a:t>單筆滿</a:t>
                      </a:r>
                      <a:r>
                        <a:rPr lang="en-US" altLang="zh-TW" sz="900" dirty="0">
                          <a:effectLst/>
                          <a:latin typeface="微軟正黑體" panose="020B0604030504040204" pitchFamily="34" charset="-120"/>
                          <a:ea typeface="微軟正黑體" panose="020B0604030504040204" pitchFamily="34" charset="-120"/>
                        </a:rPr>
                        <a:t>1,000</a:t>
                      </a:r>
                      <a:r>
                        <a:rPr lang="zh-TW" altLang="en-US" sz="900" dirty="0">
                          <a:effectLst/>
                          <a:latin typeface="微軟正黑體" panose="020B0604030504040204" pitchFamily="34" charset="-120"/>
                          <a:ea typeface="微軟正黑體" panose="020B0604030504040204" pitchFamily="34" charset="-120"/>
                        </a:rPr>
                        <a:t>萬加贈</a:t>
                      </a:r>
                      <a:r>
                        <a:rPr lang="en-US" altLang="zh-TW" sz="900" dirty="0">
                          <a:effectLst/>
                          <a:latin typeface="微軟正黑體" panose="020B0604030504040204" pitchFamily="34" charset="-120"/>
                          <a:ea typeface="微軟正黑體" panose="020B0604030504040204" pitchFamily="34" charset="-120"/>
                        </a:rPr>
                        <a:t>2</a:t>
                      </a:r>
                      <a:r>
                        <a:rPr lang="zh-TW" altLang="en-US" sz="900" dirty="0">
                          <a:effectLst/>
                          <a:latin typeface="微軟正黑體" panose="020B0604030504040204" pitchFamily="34" charset="-120"/>
                          <a:ea typeface="微軟正黑體" panose="020B0604030504040204" pitchFamily="34" charset="-120"/>
                        </a:rPr>
                        <a:t>萬點</a:t>
                      </a:r>
                      <a:endParaRPr lang="en-US" altLang="zh-TW" sz="900" dirty="0">
                        <a:effectLst/>
                        <a:latin typeface="微軟正黑體" panose="020B0604030504040204" pitchFamily="34" charset="-120"/>
                        <a:ea typeface="微軟正黑體" panose="020B0604030504040204" pitchFamily="34" charset="-120"/>
                      </a:endParaRPr>
                    </a:p>
                  </a:txBody>
                  <a:tcPr marL="0" marR="0"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58378623"/>
                  </a:ext>
                </a:extLst>
              </a:tr>
              <a:tr h="290152">
                <a:tc vMerge="1">
                  <a:txBody>
                    <a:bodyPr/>
                    <a:lstStyle/>
                    <a:p>
                      <a:pPr rtl="0" fontAlgn="b">
                        <a:buNone/>
                      </a:pPr>
                      <a:endParaRPr lang="zh-TW" altLang="en-US" sz="1000" dirty="0">
                        <a:effectLst/>
                        <a:latin typeface="微軟正黑體" panose="020B0604030504040204" pitchFamily="34" charset="-120"/>
                        <a:ea typeface="微軟正黑體" panose="020B0604030504040204" pitchFamily="34" charset="-120"/>
                      </a:endParaRPr>
                    </a:p>
                  </a:txBody>
                  <a:tcPr marL="7923" marR="7923" marT="5282" marB="5282"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lvl="0" algn="l" rtl="0" fontAlgn="b">
                        <a:buNone/>
                      </a:pPr>
                      <a:r>
                        <a:rPr lang="zh-TW" altLang="en-US" sz="900" dirty="0">
                          <a:effectLst/>
                          <a:latin typeface="微軟正黑體" panose="020B0604030504040204" pitchFamily="34" charset="-120"/>
                          <a:ea typeface="微軟正黑體" panose="020B0604030504040204" pitchFamily="34" charset="-120"/>
                        </a:rPr>
                        <a:t>財管會員 </a:t>
                      </a:r>
                      <a:r>
                        <a:rPr lang="en-US" altLang="zh-TW" sz="900" dirty="0">
                          <a:effectLst/>
                          <a:latin typeface="微軟正黑體" panose="020B0604030504040204" pitchFamily="34" charset="-120"/>
                          <a:ea typeface="微軟正黑體" panose="020B0604030504040204" pitchFamily="34" charset="-120"/>
                        </a:rPr>
                        <a:t>(</a:t>
                      </a:r>
                      <a:r>
                        <a:rPr lang="zh-TW" altLang="en-US" sz="900" dirty="0">
                          <a:effectLst/>
                          <a:latin typeface="微軟正黑體" panose="020B0604030504040204" pitchFamily="34" charset="-120"/>
                          <a:ea typeface="微軟正黑體" panose="020B0604030504040204" pitchFamily="34" charset="-120"/>
                        </a:rPr>
                        <a:t>鼎鑽卡</a:t>
                      </a:r>
                      <a:r>
                        <a:rPr lang="en-US" altLang="zh-TW" sz="900" dirty="0">
                          <a:effectLst/>
                          <a:latin typeface="微軟正黑體" panose="020B0604030504040204" pitchFamily="34" charset="-120"/>
                          <a:ea typeface="微軟正黑體" panose="020B0604030504040204" pitchFamily="34" charset="-120"/>
                        </a:rPr>
                        <a:t>/</a:t>
                      </a:r>
                      <a:r>
                        <a:rPr lang="zh-TW" altLang="en-US" sz="900" dirty="0">
                          <a:effectLst/>
                          <a:latin typeface="微軟正黑體" panose="020B0604030504040204" pitchFamily="34" charset="-120"/>
                          <a:ea typeface="微軟正黑體" panose="020B0604030504040204" pitchFamily="34" charset="-120"/>
                        </a:rPr>
                        <a:t>鼎富家</a:t>
                      </a:r>
                      <a:r>
                        <a:rPr lang="en-US" altLang="zh-TW" sz="900" dirty="0">
                          <a:effectLst/>
                          <a:latin typeface="微軟正黑體" panose="020B0604030504040204" pitchFamily="34" charset="-120"/>
                          <a:ea typeface="微軟正黑體" panose="020B0604030504040204" pitchFamily="34" charset="-120"/>
                        </a:rPr>
                        <a:t>)</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en-US" altLang="zh-TW" sz="900" dirty="0">
                          <a:effectLst/>
                          <a:latin typeface="微軟正黑體" panose="020B0604030504040204" pitchFamily="34" charset="-120"/>
                          <a:ea typeface="微軟正黑體" panose="020B0604030504040204" pitchFamily="34" charset="-120"/>
                        </a:rPr>
                        <a:t>0.1% ~ 0.2% </a:t>
                      </a:r>
                      <a:r>
                        <a:rPr lang="zh-TW" altLang="en-US" sz="900" dirty="0">
                          <a:effectLst/>
                          <a:latin typeface="微軟正黑體" panose="020B0604030504040204" pitchFamily="34" charset="-120"/>
                          <a:ea typeface="微軟正黑體" panose="020B0604030504040204" pitchFamily="34" charset="-120"/>
                        </a:rPr>
                        <a:t>現金回饋</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zh-TW" altLang="en-US" sz="900" dirty="0">
                          <a:effectLst/>
                          <a:latin typeface="微軟正黑體" panose="020B0604030504040204" pitchFamily="34" charset="-120"/>
                          <a:ea typeface="微軟正黑體" panose="020B0604030504040204" pitchFamily="34" charset="-120"/>
                        </a:rPr>
                        <a:t>稅額達</a:t>
                      </a:r>
                      <a:r>
                        <a:rPr lang="en-US" altLang="zh-TW" sz="900" dirty="0">
                          <a:effectLst/>
                          <a:latin typeface="微軟正黑體" panose="020B0604030504040204" pitchFamily="34" charset="-120"/>
                          <a:ea typeface="微軟正黑體" panose="020B0604030504040204" pitchFamily="34" charset="-120"/>
                        </a:rPr>
                        <a:t>5,000</a:t>
                      </a:r>
                      <a:r>
                        <a:rPr lang="zh-TW" altLang="en-US" sz="900" dirty="0">
                          <a:effectLst/>
                          <a:latin typeface="微軟正黑體" panose="020B0604030504040204" pitchFamily="34" charset="-120"/>
                          <a:ea typeface="微軟正黑體" panose="020B0604030504040204" pitchFamily="34" charset="-120"/>
                        </a:rPr>
                        <a:t>萬享</a:t>
                      </a:r>
                      <a:r>
                        <a:rPr lang="en-US" altLang="zh-TW" sz="900" dirty="0">
                          <a:effectLst/>
                          <a:latin typeface="微軟正黑體" panose="020B0604030504040204" pitchFamily="34" charset="-120"/>
                          <a:ea typeface="微軟正黑體" panose="020B0604030504040204" pitchFamily="34" charset="-120"/>
                        </a:rPr>
                        <a:t>0.2%</a:t>
                      </a:r>
                      <a:r>
                        <a:rPr lang="zh-TW" altLang="en-US" sz="900" dirty="0">
                          <a:effectLst/>
                          <a:latin typeface="微軟正黑體" panose="020B0604030504040204" pitchFamily="34" charset="-120"/>
                          <a:ea typeface="微軟正黑體" panose="020B0604030504040204" pitchFamily="34" charset="-120"/>
                        </a:rPr>
                        <a:t>；首富家以上可抽</a:t>
                      </a:r>
                      <a:r>
                        <a:rPr lang="en-US" altLang="zh-TW" sz="900" dirty="0">
                          <a:effectLst/>
                          <a:latin typeface="微軟正黑體" panose="020B0604030504040204" pitchFamily="34" charset="-120"/>
                          <a:ea typeface="微軟正黑體" panose="020B0604030504040204" pitchFamily="34" charset="-120"/>
                        </a:rPr>
                        <a:t>60</a:t>
                      </a:r>
                      <a:r>
                        <a:rPr lang="zh-TW" altLang="en-US" sz="900" dirty="0">
                          <a:effectLst/>
                          <a:latin typeface="微軟正黑體" panose="020B0604030504040204" pitchFamily="34" charset="-120"/>
                          <a:ea typeface="微軟正黑體" panose="020B0604030504040204" pitchFamily="34" charset="-120"/>
                        </a:rPr>
                        <a:t>萬刷卡金</a:t>
                      </a:r>
                    </a:p>
                  </a:txBody>
                  <a:tcPr marL="0" marR="0"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04160000"/>
                  </a:ext>
                </a:extLst>
              </a:tr>
              <a:tr h="150456">
                <a:tc vMerge="1">
                  <a:txBody>
                    <a:bodyPr/>
                    <a:lstStyle/>
                    <a:p>
                      <a:pPr rtl="0" fontAlgn="b">
                        <a:buNone/>
                      </a:pPr>
                      <a:endParaRPr lang="zh-TW" altLang="en-US" sz="1000" dirty="0">
                        <a:effectLst/>
                        <a:latin typeface="微軟正黑體" panose="020B0604030504040204" pitchFamily="34" charset="-120"/>
                        <a:ea typeface="微軟正黑體" panose="020B0604030504040204" pitchFamily="34" charset="-120"/>
                      </a:endParaRPr>
                    </a:p>
                  </a:txBody>
                  <a:tcPr marL="7923" marR="7923" marT="5282" marB="5282"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lvl="0" algn="l" rtl="0" fontAlgn="b">
                        <a:buNone/>
                      </a:pPr>
                      <a:r>
                        <a:rPr lang="zh-TW" altLang="en-US" sz="900" dirty="0">
                          <a:effectLst/>
                          <a:latin typeface="微軟正黑體" panose="020B0604030504040204" pitchFamily="34" charset="-120"/>
                          <a:ea typeface="微軟正黑體" panose="020B0604030504040204" pitchFamily="34" charset="-120"/>
                        </a:rPr>
                        <a:t>航空聯名卡 </a:t>
                      </a:r>
                      <a:r>
                        <a:rPr lang="en-US" altLang="zh-TW" sz="900" dirty="0">
                          <a:effectLst/>
                          <a:latin typeface="微軟正黑體" panose="020B0604030504040204" pitchFamily="34" charset="-120"/>
                          <a:ea typeface="微軟正黑體" panose="020B0604030504040204" pitchFamily="34" charset="-120"/>
                        </a:rPr>
                        <a:t>(</a:t>
                      </a:r>
                      <a:r>
                        <a:rPr lang="en-US" sz="900" dirty="0">
                          <a:effectLst/>
                          <a:latin typeface="微軟正黑體" panose="020B0604030504040204" pitchFamily="34" charset="-120"/>
                          <a:ea typeface="微軟正黑體" panose="020B0604030504040204" pitchFamily="34" charset="-120"/>
                        </a:rPr>
                        <a:t>ANA/</a:t>
                      </a:r>
                      <a:r>
                        <a:rPr lang="zh-TW" altLang="en-US" sz="900" dirty="0">
                          <a:effectLst/>
                          <a:latin typeface="微軟正黑體" panose="020B0604030504040204" pitchFamily="34" charset="-120"/>
                          <a:ea typeface="微軟正黑體" panose="020B0604030504040204" pitchFamily="34" charset="-120"/>
                        </a:rPr>
                        <a:t>華航</a:t>
                      </a:r>
                      <a:r>
                        <a:rPr lang="en-US" altLang="zh-TW" sz="900" dirty="0">
                          <a:effectLst/>
                          <a:latin typeface="微軟正黑體" panose="020B0604030504040204" pitchFamily="34" charset="-120"/>
                          <a:ea typeface="微軟正黑體" panose="020B0604030504040204" pitchFamily="34" charset="-120"/>
                        </a:rPr>
                        <a:t>)</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zh-TW" altLang="en-US" sz="900" dirty="0">
                          <a:effectLst/>
                          <a:latin typeface="微軟正黑體" panose="020B0604030504040204" pitchFamily="34" charset="-120"/>
                          <a:ea typeface="微軟正黑體" panose="020B0604030504040204" pitchFamily="34" charset="-120"/>
                        </a:rPr>
                        <a:t>每</a:t>
                      </a:r>
                      <a:r>
                        <a:rPr lang="en-US" altLang="zh-TW" sz="900" dirty="0">
                          <a:effectLst/>
                          <a:latin typeface="微軟正黑體" panose="020B0604030504040204" pitchFamily="34" charset="-120"/>
                          <a:ea typeface="微軟正黑體" panose="020B0604030504040204" pitchFamily="34" charset="-120"/>
                        </a:rPr>
                        <a:t>300</a:t>
                      </a:r>
                      <a:r>
                        <a:rPr lang="zh-TW" altLang="en-US" sz="900" dirty="0">
                          <a:effectLst/>
                          <a:latin typeface="微軟正黑體" panose="020B0604030504040204" pitchFamily="34" charset="-120"/>
                          <a:ea typeface="微軟正黑體" panose="020B0604030504040204" pitchFamily="34" charset="-120"/>
                        </a:rPr>
                        <a:t>元回饋 </a:t>
                      </a:r>
                      <a:r>
                        <a:rPr lang="en-US" altLang="zh-TW" sz="900" dirty="0">
                          <a:effectLst/>
                          <a:latin typeface="微軟正黑體" panose="020B0604030504040204" pitchFamily="34" charset="-120"/>
                          <a:ea typeface="微軟正黑體" panose="020B0604030504040204" pitchFamily="34" charset="-120"/>
                        </a:rPr>
                        <a:t>1 </a:t>
                      </a:r>
                      <a:r>
                        <a:rPr lang="zh-TW" altLang="en-US" sz="900" dirty="0">
                          <a:effectLst/>
                          <a:latin typeface="微軟正黑體" panose="020B0604030504040204" pitchFamily="34" charset="-120"/>
                          <a:ea typeface="微軟正黑體" panose="020B0604030504040204" pitchFamily="34" charset="-120"/>
                        </a:rPr>
                        <a:t>哩</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zh-TW" altLang="en-US" sz="900" dirty="0">
                          <a:effectLst/>
                          <a:latin typeface="微軟正黑體" panose="020B0604030504040204" pitchFamily="34" charset="-120"/>
                          <a:ea typeface="微軟正黑體" panose="020B0604030504040204" pitchFamily="34" charset="-120"/>
                        </a:rPr>
                        <a:t>回饋無上限</a:t>
                      </a:r>
                    </a:p>
                  </a:txBody>
                  <a:tcPr marL="0" marR="0"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43335979"/>
                  </a:ext>
                </a:extLst>
              </a:tr>
              <a:tr h="429849">
                <a:tc rowSpan="2">
                  <a:txBody>
                    <a:bodyPr/>
                    <a:lstStyle/>
                    <a:p>
                      <a:pPr algn="ctr" rtl="0" fontAlgn="b">
                        <a:buNone/>
                      </a:pPr>
                      <a:r>
                        <a:rPr lang="zh-TW" altLang="en-US" sz="900" dirty="0">
                          <a:effectLst/>
                          <a:latin typeface="微軟正黑體" panose="020B0604030504040204" pitchFamily="34" charset="-120"/>
                          <a:ea typeface="微軟正黑體" panose="020B0604030504040204" pitchFamily="34" charset="-120"/>
                        </a:rPr>
                        <a:t>台新</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lvl="0" algn="l" rtl="0" fontAlgn="b">
                        <a:buNone/>
                      </a:pPr>
                      <a:r>
                        <a:rPr lang="zh-TW" altLang="en-US" sz="900" dirty="0">
                          <a:effectLst/>
                          <a:latin typeface="微軟正黑體" panose="020B0604030504040204" pitchFamily="34" charset="-120"/>
                          <a:ea typeface="微軟正黑體" panose="020B0604030504040204" pitchFamily="34" charset="-120"/>
                        </a:rPr>
                        <a:t>私銀</a:t>
                      </a:r>
                      <a:r>
                        <a:rPr lang="en-US" altLang="zh-TW" sz="900" dirty="0">
                          <a:effectLst/>
                          <a:latin typeface="微軟正黑體" panose="020B0604030504040204" pitchFamily="34" charset="-120"/>
                          <a:ea typeface="微軟正黑體" panose="020B0604030504040204" pitchFamily="34" charset="-120"/>
                        </a:rPr>
                        <a:t>/</a:t>
                      </a:r>
                      <a:r>
                        <a:rPr lang="zh-TW" altLang="en-US" sz="900" dirty="0">
                          <a:effectLst/>
                          <a:latin typeface="微軟正黑體" panose="020B0604030504040204" pitchFamily="34" charset="-120"/>
                          <a:ea typeface="微軟正黑體" panose="020B0604030504040204" pitchFamily="34" charset="-120"/>
                        </a:rPr>
                        <a:t>財管會員</a:t>
                      </a:r>
                      <a:endParaRPr lang="en-US" altLang="zh-TW" sz="900" dirty="0">
                        <a:effectLst/>
                        <a:latin typeface="微軟正黑體" panose="020B0604030504040204" pitchFamily="34" charset="-120"/>
                        <a:ea typeface="微軟正黑體" panose="020B0604030504040204" pitchFamily="34" charset="-120"/>
                      </a:endParaRP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zh-TW" altLang="en-US" sz="900" dirty="0">
                          <a:effectLst/>
                          <a:latin typeface="微軟正黑體" panose="020B0604030504040204" pitchFamily="34" charset="-120"/>
                          <a:ea typeface="微軟正黑體" panose="020B0604030504040204" pitchFamily="34" charset="-120"/>
                        </a:rPr>
                        <a:t>最高 </a:t>
                      </a:r>
                      <a:r>
                        <a:rPr lang="en-US" altLang="zh-TW" sz="900" dirty="0">
                          <a:effectLst/>
                          <a:latin typeface="微軟正黑體" panose="020B0604030504040204" pitchFamily="34" charset="-120"/>
                          <a:ea typeface="微軟正黑體" panose="020B0604030504040204" pitchFamily="34" charset="-120"/>
                        </a:rPr>
                        <a:t>0.5%</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不限金額享</a:t>
                      </a:r>
                      <a:r>
                        <a:rPr lang="en-US" altLang="zh-TW" sz="900" kern="1200" dirty="0">
                          <a:solidFill>
                            <a:schemeClr val="tx1"/>
                          </a:solidFill>
                          <a:effectLst/>
                          <a:latin typeface="微軟正黑體" panose="020B0604030504040204" pitchFamily="34" charset="-120"/>
                          <a:ea typeface="微軟正黑體" panose="020B0604030504040204" pitchFamily="34" charset="-120"/>
                          <a:cs typeface="+mn-cs"/>
                        </a:rPr>
                        <a:t>0.4%</a:t>
                      </a: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，最高回饋</a:t>
                      </a:r>
                      <a:r>
                        <a:rPr lang="en-US" altLang="zh-TW" sz="900" kern="1200" dirty="0">
                          <a:solidFill>
                            <a:schemeClr val="tx1"/>
                          </a:solidFill>
                          <a:effectLst/>
                          <a:latin typeface="微軟正黑體" panose="020B0604030504040204" pitchFamily="34" charset="-120"/>
                          <a:ea typeface="微軟正黑體" panose="020B0604030504040204" pitchFamily="34" charset="-120"/>
                          <a:cs typeface="+mn-cs"/>
                        </a:rPr>
                        <a:t>10</a:t>
                      </a: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萬元；</a:t>
                      </a:r>
                    </a:p>
                    <a:p>
                      <a:pPr marL="0" marR="0" lvl="0" indent="0" algn="l" defTabSz="914400" rtl="0" eaLnBrk="1" fontAlgn="b" latinLnBrk="0" hangingPunct="1">
                        <a:lnSpc>
                          <a:spcPct val="100000"/>
                        </a:lnSpc>
                        <a:spcBef>
                          <a:spcPts val="0"/>
                        </a:spcBef>
                        <a:spcAft>
                          <a:spcPts val="0"/>
                        </a:spcAft>
                        <a:buClrTx/>
                        <a:buSzTx/>
                        <a:buFontTx/>
                        <a:buNone/>
                        <a:tabLst/>
                        <a:defRPr/>
                      </a:pP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單筆滿</a:t>
                      </a:r>
                      <a:r>
                        <a:rPr lang="en-US" altLang="zh-TW" sz="900" kern="1200" dirty="0">
                          <a:solidFill>
                            <a:schemeClr val="tx1"/>
                          </a:solidFill>
                          <a:effectLst/>
                          <a:latin typeface="微軟正黑體" panose="020B0604030504040204" pitchFamily="34" charset="-120"/>
                          <a:ea typeface="微軟正黑體" panose="020B0604030504040204" pitchFamily="34" charset="-120"/>
                          <a:cs typeface="+mn-cs"/>
                        </a:rPr>
                        <a:t>20</a:t>
                      </a: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萬元加贈</a:t>
                      </a:r>
                      <a:r>
                        <a:rPr lang="en-US" altLang="zh-TW" sz="900" kern="1200" dirty="0">
                          <a:solidFill>
                            <a:schemeClr val="tx1"/>
                          </a:solidFill>
                          <a:effectLst/>
                          <a:latin typeface="微軟正黑體" panose="020B0604030504040204" pitchFamily="34" charset="-120"/>
                          <a:ea typeface="微軟正黑體" panose="020B0604030504040204" pitchFamily="34" charset="-120"/>
                          <a:cs typeface="+mn-cs"/>
                        </a:rPr>
                        <a:t>0.1%</a:t>
                      </a: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，最高回饋</a:t>
                      </a:r>
                      <a:r>
                        <a:rPr lang="en-US" altLang="zh-TW" sz="900" kern="1200" dirty="0">
                          <a:solidFill>
                            <a:schemeClr val="tx1"/>
                          </a:solidFill>
                          <a:effectLst/>
                          <a:latin typeface="微軟正黑體" panose="020B0604030504040204" pitchFamily="34" charset="-120"/>
                          <a:ea typeface="微軟正黑體" panose="020B0604030504040204" pitchFamily="34" charset="-120"/>
                          <a:cs typeface="+mn-cs"/>
                        </a:rPr>
                        <a:t>10</a:t>
                      </a: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萬元</a:t>
                      </a:r>
                      <a:r>
                        <a:rPr lang="en-US" altLang="zh-TW" sz="900" kern="1200" dirty="0">
                          <a:solidFill>
                            <a:schemeClr val="tx1"/>
                          </a:solidFill>
                          <a:effectLst/>
                          <a:latin typeface="微軟正黑體" panose="020B0604030504040204" pitchFamily="34" charset="-120"/>
                          <a:ea typeface="微軟正黑體" panose="020B0604030504040204" pitchFamily="34" charset="-120"/>
                          <a:cs typeface="+mn-cs"/>
                        </a:rPr>
                        <a:t>(</a:t>
                      </a: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限台新</a:t>
                      </a:r>
                      <a:r>
                        <a:rPr lang="en-US" altLang="zh-TW" sz="900" kern="1200" dirty="0">
                          <a:solidFill>
                            <a:schemeClr val="tx1"/>
                          </a:solidFill>
                          <a:effectLst/>
                          <a:latin typeface="微軟正黑體" panose="020B0604030504040204" pitchFamily="34" charset="-120"/>
                          <a:ea typeface="微軟正黑體" panose="020B0604030504040204" pitchFamily="34" charset="-120"/>
                          <a:cs typeface="+mn-cs"/>
                        </a:rPr>
                        <a:t>Richart</a:t>
                      </a: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萬事達卡、</a:t>
                      </a:r>
                      <a:r>
                        <a:rPr lang="en-US" altLang="zh-TW" sz="900" kern="1200" dirty="0">
                          <a:solidFill>
                            <a:schemeClr val="tx1"/>
                          </a:solidFill>
                          <a:effectLst/>
                          <a:latin typeface="微軟正黑體" panose="020B0604030504040204" pitchFamily="34" charset="-120"/>
                          <a:ea typeface="微軟正黑體" panose="020B0604030504040204" pitchFamily="34" charset="-120"/>
                          <a:cs typeface="+mn-cs"/>
                        </a:rPr>
                        <a:t>JCB)</a:t>
                      </a:r>
                    </a:p>
                  </a:txBody>
                  <a:tcPr marL="0" marR="0"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84222990"/>
                  </a:ext>
                </a:extLst>
              </a:tr>
              <a:tr h="429849">
                <a:tc vMerge="1">
                  <a:txBody>
                    <a:bodyPr/>
                    <a:lstStyle/>
                    <a:p>
                      <a:pPr algn="ctr" rtl="0" fontAlgn="b">
                        <a:buNone/>
                      </a:pPr>
                      <a:endParaRPr lang="zh-TW" altLang="en-US" sz="900" dirty="0">
                        <a:effectLst/>
                        <a:latin typeface="微軟正黑體" panose="020B0604030504040204" pitchFamily="34" charset="-120"/>
                        <a:ea typeface="微軟正黑體" panose="020B0604030504040204" pitchFamily="34" charset="-120"/>
                      </a:endParaRP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lvl="0" algn="l" rtl="0" fontAlgn="b">
                        <a:buNone/>
                      </a:pPr>
                      <a:r>
                        <a:rPr lang="zh-TW" altLang="en-US" sz="900" dirty="0">
                          <a:effectLst/>
                          <a:latin typeface="微軟正黑體" panose="020B0604030504040204" pitchFamily="34" charset="-120"/>
                          <a:ea typeface="微軟正黑體" panose="020B0604030504040204" pitchFamily="34" charset="-120"/>
                        </a:rPr>
                        <a:t>其他卡友</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最高 </a:t>
                      </a:r>
                      <a:r>
                        <a:rPr lang="en-US" altLang="zh-TW" sz="900" kern="1200" dirty="0">
                          <a:solidFill>
                            <a:schemeClr val="tx1"/>
                          </a:solidFill>
                          <a:effectLst/>
                          <a:latin typeface="微軟正黑體" panose="020B0604030504040204" pitchFamily="34" charset="-120"/>
                          <a:ea typeface="微軟正黑體" panose="020B0604030504040204" pitchFamily="34" charset="-120"/>
                          <a:cs typeface="+mn-cs"/>
                        </a:rPr>
                        <a:t>0.2%</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不限金額享</a:t>
                      </a:r>
                      <a:r>
                        <a:rPr lang="en-US" altLang="zh-TW" sz="900" kern="1200" dirty="0">
                          <a:solidFill>
                            <a:schemeClr val="tx1"/>
                          </a:solidFill>
                          <a:effectLst/>
                          <a:latin typeface="微軟正黑體" panose="020B0604030504040204" pitchFamily="34" charset="-120"/>
                          <a:ea typeface="微軟正黑體" panose="020B0604030504040204" pitchFamily="34" charset="-120"/>
                          <a:cs typeface="+mn-cs"/>
                        </a:rPr>
                        <a:t>0.1%</a:t>
                      </a: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，最高回饋</a:t>
                      </a:r>
                      <a:r>
                        <a:rPr lang="en-US" altLang="zh-TW" sz="900" kern="1200" dirty="0">
                          <a:solidFill>
                            <a:schemeClr val="tx1"/>
                          </a:solidFill>
                          <a:effectLst/>
                          <a:latin typeface="微軟正黑體" panose="020B0604030504040204" pitchFamily="34" charset="-120"/>
                          <a:ea typeface="微軟正黑體" panose="020B0604030504040204" pitchFamily="34" charset="-120"/>
                          <a:cs typeface="+mn-cs"/>
                        </a:rPr>
                        <a:t>2,000</a:t>
                      </a: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元；</a:t>
                      </a:r>
                    </a:p>
                    <a:p>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單筆滿</a:t>
                      </a:r>
                      <a:r>
                        <a:rPr lang="en-US" altLang="zh-TW" sz="900" kern="1200" dirty="0">
                          <a:solidFill>
                            <a:schemeClr val="tx1"/>
                          </a:solidFill>
                          <a:effectLst/>
                          <a:latin typeface="微軟正黑體" panose="020B0604030504040204" pitchFamily="34" charset="-120"/>
                          <a:ea typeface="微軟正黑體" panose="020B0604030504040204" pitchFamily="34" charset="-120"/>
                          <a:cs typeface="+mn-cs"/>
                        </a:rPr>
                        <a:t>20</a:t>
                      </a: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萬元加贈</a:t>
                      </a:r>
                      <a:r>
                        <a:rPr lang="en-US" altLang="zh-TW" sz="900" kern="1200" dirty="0">
                          <a:solidFill>
                            <a:schemeClr val="tx1"/>
                          </a:solidFill>
                          <a:effectLst/>
                          <a:latin typeface="微軟正黑體" panose="020B0604030504040204" pitchFamily="34" charset="-120"/>
                          <a:ea typeface="微軟正黑體" panose="020B0604030504040204" pitchFamily="34" charset="-120"/>
                          <a:cs typeface="+mn-cs"/>
                        </a:rPr>
                        <a:t>0.1%</a:t>
                      </a: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，最高回饋</a:t>
                      </a:r>
                      <a:r>
                        <a:rPr lang="en-US" altLang="zh-TW" sz="900" kern="1200" dirty="0">
                          <a:solidFill>
                            <a:schemeClr val="tx1"/>
                          </a:solidFill>
                          <a:effectLst/>
                          <a:latin typeface="微軟正黑體" panose="020B0604030504040204" pitchFamily="34" charset="-120"/>
                          <a:ea typeface="微軟正黑體" panose="020B0604030504040204" pitchFamily="34" charset="-120"/>
                          <a:cs typeface="+mn-cs"/>
                        </a:rPr>
                        <a:t>10</a:t>
                      </a: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萬元</a:t>
                      </a:r>
                      <a:r>
                        <a:rPr lang="en-US" altLang="zh-TW" sz="900" kern="1200" dirty="0">
                          <a:solidFill>
                            <a:schemeClr val="tx1"/>
                          </a:solidFill>
                          <a:effectLst/>
                          <a:latin typeface="微軟正黑體" panose="020B0604030504040204" pitchFamily="34" charset="-120"/>
                          <a:ea typeface="微軟正黑體" panose="020B0604030504040204" pitchFamily="34" charset="-120"/>
                          <a:cs typeface="+mn-cs"/>
                        </a:rPr>
                        <a:t>(</a:t>
                      </a: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限</a:t>
                      </a:r>
                      <a:r>
                        <a:rPr lang="en-US" altLang="zh-TW" sz="900" kern="1200" dirty="0">
                          <a:solidFill>
                            <a:schemeClr val="tx1"/>
                          </a:solidFill>
                          <a:effectLst/>
                          <a:latin typeface="微軟正黑體" panose="020B0604030504040204" pitchFamily="34" charset="-120"/>
                          <a:ea typeface="微軟正黑體" panose="020B0604030504040204" pitchFamily="34" charset="-120"/>
                          <a:cs typeface="+mn-cs"/>
                        </a:rPr>
                        <a:t>Richart</a:t>
                      </a: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萬事達卡、</a:t>
                      </a:r>
                      <a:r>
                        <a:rPr lang="en-US" altLang="zh-TW" sz="900" kern="1200" dirty="0">
                          <a:solidFill>
                            <a:schemeClr val="tx1"/>
                          </a:solidFill>
                          <a:effectLst/>
                          <a:latin typeface="微軟正黑體" panose="020B0604030504040204" pitchFamily="34" charset="-120"/>
                          <a:ea typeface="微軟正黑體" panose="020B0604030504040204" pitchFamily="34" charset="-120"/>
                          <a:cs typeface="+mn-cs"/>
                        </a:rPr>
                        <a:t>JCB)</a:t>
                      </a:r>
                      <a:r>
                        <a:rPr lang="zh-TW" altLang="en-US" sz="900" kern="1200" dirty="0">
                          <a:solidFill>
                            <a:schemeClr val="tx1"/>
                          </a:solidFill>
                          <a:effectLst/>
                          <a:latin typeface="微軟正黑體" panose="020B0604030504040204" pitchFamily="34" charset="-120"/>
                          <a:ea typeface="微軟正黑體" panose="020B0604030504040204" pitchFamily="34" charset="-120"/>
                          <a:cs typeface="+mn-cs"/>
                        </a:rPr>
                        <a:t>或分期</a:t>
                      </a:r>
                    </a:p>
                  </a:txBody>
                  <a:tcPr marL="0" marR="0"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48413924"/>
                  </a:ext>
                </a:extLst>
              </a:tr>
              <a:tr h="150456">
                <a:tc rowSpan="3">
                  <a:txBody>
                    <a:bodyPr/>
                    <a:lstStyle/>
                    <a:p>
                      <a:pPr algn="ctr" rtl="0" fontAlgn="b">
                        <a:buNone/>
                      </a:pPr>
                      <a:r>
                        <a:rPr lang="zh-TW" altLang="en-US" sz="900" dirty="0">
                          <a:effectLst/>
                          <a:latin typeface="微軟正黑體" panose="020B0604030504040204" pitchFamily="34" charset="-120"/>
                          <a:ea typeface="微軟正黑體" panose="020B0604030504040204" pitchFamily="34" charset="-120"/>
                        </a:rPr>
                        <a:t>玉山</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lvl="0" rtl="0" fontAlgn="b">
                        <a:buNone/>
                      </a:pPr>
                      <a:r>
                        <a:rPr lang="zh-TW" altLang="en-US" sz="900" dirty="0">
                          <a:effectLst/>
                          <a:latin typeface="微軟正黑體" panose="020B0604030504040204" pitchFamily="34" charset="-120"/>
                          <a:ea typeface="微軟正黑體" panose="020B0604030504040204" pitchFamily="34" charset="-120"/>
                        </a:rPr>
                        <a:t>全卡友</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en-US" sz="900" dirty="0">
                          <a:effectLst/>
                          <a:latin typeface="微軟正黑體" panose="020B0604030504040204" pitchFamily="34" charset="-120"/>
                          <a:ea typeface="微軟正黑體" panose="020B0604030504040204" pitchFamily="34" charset="-120"/>
                        </a:rPr>
                        <a:t>0.1% e point</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en-US" altLang="zh-TW" sz="900" dirty="0">
                          <a:effectLst/>
                          <a:latin typeface="微軟正黑體" panose="020B0604030504040204" pitchFamily="34" charset="-120"/>
                          <a:ea typeface="微軟正黑體" panose="020B0604030504040204" pitchFamily="34" charset="-120"/>
                        </a:rPr>
                        <a:t>-</a:t>
                      </a:r>
                      <a:endParaRPr lang="zh-TW" altLang="en-US" sz="900" dirty="0">
                        <a:effectLst/>
                        <a:latin typeface="微軟正黑體" panose="020B0604030504040204" pitchFamily="34" charset="-120"/>
                        <a:ea typeface="微軟正黑體" panose="020B0604030504040204" pitchFamily="34" charset="-120"/>
                      </a:endParaRP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82153786"/>
                  </a:ext>
                </a:extLst>
              </a:tr>
              <a:tr h="150456">
                <a:tc vMerge="1">
                  <a:txBody>
                    <a:bodyPr/>
                    <a:lstStyle/>
                    <a:p>
                      <a:pPr rtl="0" fontAlgn="b">
                        <a:buNone/>
                      </a:pPr>
                      <a:endParaRPr lang="zh-TW" altLang="en-US" sz="1000" dirty="0">
                        <a:effectLst/>
                        <a:latin typeface="微軟正黑體" panose="020B0604030504040204" pitchFamily="34" charset="-120"/>
                        <a:ea typeface="微軟正黑體" panose="020B0604030504040204" pitchFamily="34" charset="-120"/>
                      </a:endParaRPr>
                    </a:p>
                  </a:txBody>
                  <a:tcPr marL="7923" marR="7923" marT="5282" marB="5282"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lvl="0" rtl="0" fontAlgn="b">
                        <a:buNone/>
                      </a:pPr>
                      <a:r>
                        <a:rPr lang="zh-TW" altLang="en-US" sz="900" dirty="0">
                          <a:effectLst/>
                          <a:latin typeface="微軟正黑體" panose="020B0604030504040204" pitchFamily="34" charset="-120"/>
                          <a:ea typeface="微軟正黑體" panose="020B0604030504040204" pitchFamily="34" charset="-120"/>
                        </a:rPr>
                        <a:t>指定卡</a:t>
                      </a:r>
                      <a:r>
                        <a:rPr lang="en-US" altLang="zh-TW" sz="900" dirty="0">
                          <a:effectLst/>
                          <a:latin typeface="微軟正黑體" panose="020B0604030504040204" pitchFamily="34" charset="-120"/>
                          <a:ea typeface="微軟正黑體" panose="020B0604030504040204" pitchFamily="34" charset="-120"/>
                        </a:rPr>
                        <a:t>(</a:t>
                      </a:r>
                      <a:r>
                        <a:rPr lang="zh-TW" altLang="en-US" sz="900" dirty="0">
                          <a:effectLst/>
                          <a:latin typeface="微軟正黑體" panose="020B0604030504040204" pitchFamily="34" charset="-120"/>
                          <a:ea typeface="微軟正黑體" panose="020B0604030504040204" pitchFamily="34" charset="-120"/>
                        </a:rPr>
                        <a:t>世界</a:t>
                      </a:r>
                      <a:r>
                        <a:rPr lang="en-US" altLang="zh-TW" sz="900" dirty="0">
                          <a:effectLst/>
                          <a:latin typeface="微軟正黑體" panose="020B0604030504040204" pitchFamily="34" charset="-120"/>
                          <a:ea typeface="微軟正黑體" panose="020B0604030504040204" pitchFamily="34" charset="-120"/>
                        </a:rPr>
                        <a:t>/</a:t>
                      </a:r>
                      <a:r>
                        <a:rPr lang="zh-TW" altLang="en-US" sz="900" dirty="0">
                          <a:effectLst/>
                          <a:latin typeface="微軟正黑體" panose="020B0604030504040204" pitchFamily="34" charset="-120"/>
                          <a:ea typeface="微軟正黑體" panose="020B0604030504040204" pitchFamily="34" charset="-120"/>
                        </a:rPr>
                        <a:t>無限</a:t>
                      </a:r>
                      <a:r>
                        <a:rPr lang="en-US" altLang="zh-TW" sz="900" dirty="0">
                          <a:effectLst/>
                          <a:latin typeface="微軟正黑體" panose="020B0604030504040204" pitchFamily="34" charset="-120"/>
                          <a:ea typeface="微軟正黑體" panose="020B0604030504040204" pitchFamily="34" charset="-120"/>
                        </a:rPr>
                        <a:t>/</a:t>
                      </a:r>
                      <a:r>
                        <a:rPr lang="en-US" sz="900" dirty="0">
                          <a:effectLst/>
                          <a:latin typeface="微軟正黑體" panose="020B0604030504040204" pitchFamily="34" charset="-120"/>
                          <a:ea typeface="微軟正黑體" panose="020B0604030504040204" pitchFamily="34" charset="-120"/>
                        </a:rPr>
                        <a:t>Unicard/</a:t>
                      </a:r>
                      <a:r>
                        <a:rPr lang="zh-TW" altLang="en-US" sz="900" dirty="0">
                          <a:effectLst/>
                          <a:latin typeface="微軟正黑體" panose="020B0604030504040204" pitchFamily="34" charset="-120"/>
                          <a:ea typeface="微軟正黑體" panose="020B0604030504040204" pitchFamily="34" charset="-120"/>
                        </a:rPr>
                        <a:t>熊本熊</a:t>
                      </a:r>
                      <a:r>
                        <a:rPr lang="en-US" altLang="zh-TW" sz="900" dirty="0">
                          <a:effectLst/>
                          <a:latin typeface="微軟正黑體" panose="020B0604030504040204" pitchFamily="34" charset="-120"/>
                          <a:ea typeface="微軟正黑體" panose="020B0604030504040204" pitchFamily="34" charset="-120"/>
                        </a:rPr>
                        <a:t>)</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en-US" sz="900" dirty="0">
                          <a:effectLst/>
                          <a:latin typeface="微軟正黑體" panose="020B0604030504040204" pitchFamily="34" charset="-120"/>
                          <a:ea typeface="微軟正黑體" panose="020B0604030504040204" pitchFamily="34" charset="-120"/>
                        </a:rPr>
                        <a:t>0.2% ~ 0.3% e point</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zh-TW" altLang="en-US" sz="900" dirty="0">
                          <a:effectLst/>
                          <a:latin typeface="微軟正黑體" panose="020B0604030504040204" pitchFamily="34" charset="-120"/>
                          <a:ea typeface="微軟正黑體" panose="020B0604030504040204" pitchFamily="34" charset="-120"/>
                        </a:rPr>
                        <a:t>稅額滿</a:t>
                      </a:r>
                      <a:r>
                        <a:rPr lang="en-US" altLang="zh-TW" sz="900" dirty="0">
                          <a:effectLst/>
                          <a:latin typeface="微軟正黑體" panose="020B0604030504040204" pitchFamily="34" charset="-120"/>
                          <a:ea typeface="微軟正黑體" panose="020B0604030504040204" pitchFamily="34" charset="-120"/>
                        </a:rPr>
                        <a:t>100</a:t>
                      </a:r>
                      <a:r>
                        <a:rPr lang="zh-TW" altLang="en-US" sz="900" dirty="0">
                          <a:effectLst/>
                          <a:latin typeface="微軟正黑體" panose="020B0604030504040204" pitchFamily="34" charset="-120"/>
                          <a:ea typeface="微軟正黑體" panose="020B0604030504040204" pitchFamily="34" charset="-120"/>
                        </a:rPr>
                        <a:t>萬加碼至 </a:t>
                      </a:r>
                      <a:r>
                        <a:rPr lang="en-US" altLang="zh-TW" sz="900" dirty="0">
                          <a:effectLst/>
                          <a:latin typeface="微軟正黑體" panose="020B0604030504040204" pitchFamily="34" charset="-120"/>
                          <a:ea typeface="微軟正黑體" panose="020B0604030504040204" pitchFamily="34" charset="-120"/>
                        </a:rPr>
                        <a:t>0.3%</a:t>
                      </a:r>
                    </a:p>
                  </a:txBody>
                  <a:tcPr marL="0" marR="0"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75423715"/>
                  </a:ext>
                </a:extLst>
              </a:tr>
              <a:tr h="150456">
                <a:tc vMerge="1">
                  <a:txBody>
                    <a:bodyPr/>
                    <a:lstStyle/>
                    <a:p>
                      <a:pPr rtl="0" fontAlgn="b">
                        <a:buNone/>
                      </a:pPr>
                      <a:endParaRPr lang="zh-TW" altLang="en-US" sz="1000" dirty="0">
                        <a:effectLst/>
                        <a:latin typeface="微軟正黑體" panose="020B0604030504040204" pitchFamily="34" charset="-120"/>
                        <a:ea typeface="微軟正黑體" panose="020B0604030504040204" pitchFamily="34" charset="-120"/>
                      </a:endParaRPr>
                    </a:p>
                  </a:txBody>
                  <a:tcPr marL="7923" marR="7923" marT="5282" marB="5282"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lvl="0" rtl="0" fontAlgn="b">
                        <a:buNone/>
                      </a:pPr>
                      <a:r>
                        <a:rPr lang="zh-TW" altLang="en-US" sz="900" dirty="0">
                          <a:effectLst/>
                          <a:latin typeface="微軟正黑體" panose="020B0604030504040204" pitchFamily="34" charset="-120"/>
                          <a:ea typeface="微軟正黑體" panose="020B0604030504040204" pitchFamily="34" charset="-120"/>
                        </a:rPr>
                        <a:t>星宇航空聯名卡</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zh-TW" altLang="en-US" sz="900" dirty="0">
                          <a:effectLst/>
                          <a:latin typeface="微軟正黑體" panose="020B0604030504040204" pitchFamily="34" charset="-120"/>
                          <a:ea typeface="微軟正黑體" panose="020B0604030504040204" pitchFamily="34" charset="-120"/>
                        </a:rPr>
                        <a:t>每</a:t>
                      </a:r>
                      <a:r>
                        <a:rPr lang="en-US" altLang="zh-TW" sz="900" dirty="0">
                          <a:effectLst/>
                          <a:latin typeface="微軟正黑體" panose="020B0604030504040204" pitchFamily="34" charset="-120"/>
                          <a:ea typeface="微軟正黑體" panose="020B0604030504040204" pitchFamily="34" charset="-120"/>
                        </a:rPr>
                        <a:t>200</a:t>
                      </a:r>
                      <a:r>
                        <a:rPr lang="zh-TW" altLang="en-US" sz="900" dirty="0">
                          <a:effectLst/>
                          <a:latin typeface="微軟正黑體" panose="020B0604030504040204" pitchFamily="34" charset="-120"/>
                          <a:ea typeface="微軟正黑體" panose="020B0604030504040204" pitchFamily="34" charset="-120"/>
                        </a:rPr>
                        <a:t>元回饋 </a:t>
                      </a:r>
                      <a:r>
                        <a:rPr lang="en-US" altLang="zh-TW" sz="900" dirty="0">
                          <a:effectLst/>
                          <a:latin typeface="微軟正黑體" panose="020B0604030504040204" pitchFamily="34" charset="-120"/>
                          <a:ea typeface="微軟正黑體" panose="020B0604030504040204" pitchFamily="34" charset="-120"/>
                        </a:rPr>
                        <a:t>1 </a:t>
                      </a:r>
                      <a:r>
                        <a:rPr lang="zh-TW" altLang="en-US" sz="900" dirty="0">
                          <a:effectLst/>
                          <a:latin typeface="微軟正黑體" panose="020B0604030504040204" pitchFamily="34" charset="-120"/>
                          <a:ea typeface="微軟正黑體" panose="020B0604030504040204" pitchFamily="34" charset="-120"/>
                        </a:rPr>
                        <a:t>哩</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en-US" altLang="zh-TW" sz="900" dirty="0">
                          <a:effectLst/>
                          <a:latin typeface="微軟正黑體" panose="020B0604030504040204" pitchFamily="34" charset="-120"/>
                          <a:ea typeface="微軟正黑體" panose="020B0604030504040204" pitchFamily="34" charset="-120"/>
                        </a:rPr>
                        <a:t>-</a:t>
                      </a:r>
                    </a:p>
                  </a:txBody>
                  <a:tcPr marL="0" marR="0"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45187434"/>
                  </a:ext>
                </a:extLst>
              </a:tr>
              <a:tr h="150456">
                <a:tc rowSpan="2">
                  <a:txBody>
                    <a:bodyPr/>
                    <a:lstStyle/>
                    <a:p>
                      <a:pPr algn="ctr" rtl="0" fontAlgn="b">
                        <a:buNone/>
                      </a:pPr>
                      <a:r>
                        <a:rPr lang="zh-TW" altLang="en-US" sz="900" dirty="0">
                          <a:effectLst/>
                          <a:latin typeface="微軟正黑體" panose="020B0604030504040204" pitchFamily="34" charset="-120"/>
                          <a:ea typeface="微軟正黑體" panose="020B0604030504040204" pitchFamily="34" charset="-120"/>
                        </a:rPr>
                        <a:t>永豐</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lvl="0" rtl="0" fontAlgn="b">
                        <a:buNone/>
                      </a:pPr>
                      <a:r>
                        <a:rPr lang="zh-TW" altLang="en-US" sz="900" dirty="0">
                          <a:effectLst/>
                          <a:latin typeface="微軟正黑體" panose="020B0604030504040204" pitchFamily="34" charset="-120"/>
                          <a:ea typeface="微軟正黑體" panose="020B0604030504040204" pitchFamily="34" charset="-120"/>
                        </a:rPr>
                        <a:t>幣倍卡、</a:t>
                      </a:r>
                      <a:r>
                        <a:rPr lang="en-US" sz="900" dirty="0">
                          <a:effectLst/>
                          <a:latin typeface="微軟正黑體" panose="020B0604030504040204" pitchFamily="34" charset="-120"/>
                          <a:ea typeface="微軟正黑體" panose="020B0604030504040204" pitchFamily="34" charset="-120"/>
                        </a:rPr>
                        <a:t>DAWHO</a:t>
                      </a:r>
                      <a:r>
                        <a:rPr lang="zh-TW" altLang="en-US" sz="900" dirty="0">
                          <a:effectLst/>
                          <a:latin typeface="微軟正黑體" panose="020B0604030504040204" pitchFamily="34" charset="-120"/>
                          <a:ea typeface="微軟正黑體" panose="020B0604030504040204" pitchFamily="34" charset="-120"/>
                        </a:rPr>
                        <a:t>卡</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en-US" altLang="zh-TW" sz="900" dirty="0">
                          <a:effectLst/>
                          <a:latin typeface="微軟正黑體" panose="020B0604030504040204" pitchFamily="34" charset="-120"/>
                          <a:ea typeface="微軟正黑體" panose="020B0604030504040204" pitchFamily="34" charset="-120"/>
                        </a:rPr>
                        <a:t>0.15% </a:t>
                      </a:r>
                      <a:r>
                        <a:rPr lang="zh-TW" altLang="en-US" sz="900" dirty="0">
                          <a:effectLst/>
                          <a:latin typeface="微軟正黑體" panose="020B0604030504040204" pitchFamily="34" charset="-120"/>
                          <a:ea typeface="微軟正黑體" panose="020B0604030504040204" pitchFamily="34" charset="-120"/>
                        </a:rPr>
                        <a:t>刷卡金</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zh-TW" altLang="en-US" sz="900" dirty="0">
                          <a:effectLst/>
                          <a:latin typeface="微軟正黑體" panose="020B0604030504040204" pitchFamily="34" charset="-120"/>
                          <a:ea typeface="微軟正黑體" panose="020B0604030504040204" pitchFamily="34" charset="-120"/>
                        </a:rPr>
                        <a:t>需登錄，上限每人</a:t>
                      </a:r>
                      <a:r>
                        <a:rPr lang="en-US" altLang="zh-TW" sz="900" dirty="0">
                          <a:effectLst/>
                          <a:latin typeface="微軟正黑體" panose="020B0604030504040204" pitchFamily="34" charset="-120"/>
                          <a:ea typeface="微軟正黑體" panose="020B0604030504040204" pitchFamily="34" charset="-120"/>
                        </a:rPr>
                        <a:t>1,000</a:t>
                      </a:r>
                      <a:r>
                        <a:rPr lang="zh-TW" altLang="en-US" sz="900" dirty="0">
                          <a:effectLst/>
                          <a:latin typeface="微軟正黑體" panose="020B0604030504040204" pitchFamily="34" charset="-120"/>
                          <a:ea typeface="微軟正黑體" panose="020B0604030504040204" pitchFamily="34" charset="-120"/>
                        </a:rPr>
                        <a:t>元</a:t>
                      </a:r>
                    </a:p>
                  </a:txBody>
                  <a:tcPr marL="0" marR="0"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4367380"/>
                  </a:ext>
                </a:extLst>
              </a:tr>
              <a:tr h="150456">
                <a:tc vMerge="1">
                  <a:txBody>
                    <a:bodyPr/>
                    <a:lstStyle/>
                    <a:p>
                      <a:pPr rtl="0" fontAlgn="b">
                        <a:buNone/>
                      </a:pPr>
                      <a:endParaRPr lang="zh-TW" altLang="en-US" sz="1000" dirty="0">
                        <a:effectLst/>
                        <a:latin typeface="微軟正黑體" panose="020B0604030504040204" pitchFamily="34" charset="-120"/>
                        <a:ea typeface="微軟正黑體" panose="020B0604030504040204" pitchFamily="34" charset="-120"/>
                      </a:endParaRPr>
                    </a:p>
                  </a:txBody>
                  <a:tcPr marL="7923" marR="7923" marT="5282" marB="5282"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lvl="0" rtl="0" fontAlgn="b">
                        <a:buNone/>
                      </a:pPr>
                      <a:r>
                        <a:rPr lang="zh-TW" altLang="en-US" sz="900" dirty="0">
                          <a:effectLst/>
                          <a:latin typeface="微軟正黑體" panose="020B0604030504040204" pitchFamily="34" charset="-120"/>
                          <a:ea typeface="微軟正黑體" panose="020B0604030504040204" pitchFamily="34" charset="-120"/>
                        </a:rPr>
                        <a:t>永傳世界卡 </a:t>
                      </a:r>
                      <a:r>
                        <a:rPr lang="en-US" altLang="zh-TW" sz="900" dirty="0">
                          <a:effectLst/>
                          <a:latin typeface="微軟正黑體" panose="020B0604030504040204" pitchFamily="34" charset="-120"/>
                          <a:ea typeface="微軟正黑體" panose="020B0604030504040204" pitchFamily="34" charset="-120"/>
                        </a:rPr>
                        <a:t>/ </a:t>
                      </a:r>
                      <a:r>
                        <a:rPr lang="zh-TW" altLang="en-US" sz="900" dirty="0">
                          <a:effectLst/>
                          <a:latin typeface="微軟正黑體" panose="020B0604030504040204" pitchFamily="34" charset="-120"/>
                          <a:ea typeface="微軟正黑體" panose="020B0604030504040204" pitchFamily="34" charset="-120"/>
                        </a:rPr>
                        <a:t>永富世界卡</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en-US" altLang="zh-TW" sz="900" dirty="0">
                          <a:effectLst/>
                          <a:latin typeface="微軟正黑體" panose="020B0604030504040204" pitchFamily="34" charset="-120"/>
                          <a:ea typeface="微軟正黑體" panose="020B0604030504040204" pitchFamily="34" charset="-120"/>
                        </a:rPr>
                        <a:t>0.38% / 0.25% </a:t>
                      </a:r>
                      <a:r>
                        <a:rPr lang="zh-TW" altLang="en-US" sz="900" dirty="0">
                          <a:effectLst/>
                          <a:latin typeface="微軟正黑體" panose="020B0604030504040204" pitchFamily="34" charset="-120"/>
                          <a:ea typeface="微軟正黑體" panose="020B0604030504040204" pitchFamily="34" charset="-120"/>
                        </a:rPr>
                        <a:t>刷卡金</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zh-TW" altLang="en-US" sz="900" dirty="0">
                          <a:effectLst/>
                          <a:latin typeface="微軟正黑體" panose="020B0604030504040204" pitchFamily="34" charset="-120"/>
                          <a:ea typeface="微軟正黑體" panose="020B0604030504040204" pitchFamily="34" charset="-120"/>
                        </a:rPr>
                        <a:t>上限每人</a:t>
                      </a:r>
                      <a:r>
                        <a:rPr lang="en-US" altLang="zh-TW" sz="900" dirty="0">
                          <a:effectLst/>
                          <a:latin typeface="微軟正黑體" panose="020B0604030504040204" pitchFamily="34" charset="-120"/>
                          <a:ea typeface="微軟正黑體" panose="020B0604030504040204" pitchFamily="34" charset="-120"/>
                        </a:rPr>
                        <a:t>15</a:t>
                      </a:r>
                      <a:r>
                        <a:rPr lang="zh-TW" altLang="en-US" sz="900" dirty="0">
                          <a:effectLst/>
                          <a:latin typeface="微軟正黑體" panose="020B0604030504040204" pitchFamily="34" charset="-120"/>
                          <a:ea typeface="微軟正黑體" panose="020B0604030504040204" pitchFamily="34" charset="-120"/>
                        </a:rPr>
                        <a:t>萬元 </a:t>
                      </a:r>
                      <a:r>
                        <a:rPr lang="en-US" altLang="zh-TW" sz="900" dirty="0">
                          <a:effectLst/>
                          <a:latin typeface="微軟正黑體" panose="020B0604030504040204" pitchFamily="34" charset="-120"/>
                          <a:ea typeface="微軟正黑體" panose="020B0604030504040204" pitchFamily="34" charset="-120"/>
                        </a:rPr>
                        <a:t>/ 5</a:t>
                      </a:r>
                      <a:r>
                        <a:rPr lang="zh-TW" altLang="en-US" sz="900" dirty="0">
                          <a:effectLst/>
                          <a:latin typeface="微軟正黑體" panose="020B0604030504040204" pitchFamily="34" charset="-120"/>
                          <a:ea typeface="微軟正黑體" panose="020B0604030504040204" pitchFamily="34" charset="-120"/>
                        </a:rPr>
                        <a:t>萬元</a:t>
                      </a:r>
                    </a:p>
                  </a:txBody>
                  <a:tcPr marL="0" marR="0"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43355648"/>
                  </a:ext>
                </a:extLst>
              </a:tr>
              <a:tr h="150456">
                <a:tc rowSpan="2">
                  <a:txBody>
                    <a:bodyPr/>
                    <a:lstStyle/>
                    <a:p>
                      <a:pPr algn="ctr" rtl="0" fontAlgn="b">
                        <a:buNone/>
                      </a:pPr>
                      <a:r>
                        <a:rPr lang="zh-TW" altLang="en-US" sz="900" dirty="0">
                          <a:effectLst/>
                          <a:latin typeface="微軟正黑體" panose="020B0604030504040204" pitchFamily="34" charset="-120"/>
                          <a:ea typeface="微軟正黑體" panose="020B0604030504040204" pitchFamily="34" charset="-120"/>
                        </a:rPr>
                        <a:t>街口</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lvl="0" rtl="0" fontAlgn="b">
                        <a:buNone/>
                      </a:pPr>
                      <a:r>
                        <a:rPr lang="zh-TW" altLang="en-US" sz="900" dirty="0">
                          <a:effectLst/>
                          <a:latin typeface="微軟正黑體" panose="020B0604030504040204" pitchFamily="34" charset="-120"/>
                          <a:ea typeface="微軟正黑體" panose="020B0604030504040204" pitchFamily="34" charset="-120"/>
                        </a:rPr>
                        <a:t>新註冊會員</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en-US" altLang="zh-TW" sz="900" dirty="0">
                          <a:effectLst/>
                          <a:latin typeface="微軟正黑體" panose="020B0604030504040204" pitchFamily="34" charset="-120"/>
                          <a:ea typeface="微軟正黑體" panose="020B0604030504040204" pitchFamily="34" charset="-120"/>
                        </a:rPr>
                        <a:t>5% </a:t>
                      </a:r>
                      <a:r>
                        <a:rPr lang="zh-TW" altLang="en-US" sz="900" dirty="0">
                          <a:effectLst/>
                          <a:latin typeface="微軟正黑體" panose="020B0604030504040204" pitchFamily="34" charset="-120"/>
                          <a:ea typeface="微軟正黑體" panose="020B0604030504040204" pitchFamily="34" charset="-120"/>
                        </a:rPr>
                        <a:t>街口幣</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zh-TW" altLang="en-US" sz="900" dirty="0">
                          <a:effectLst/>
                          <a:latin typeface="微軟正黑體" panose="020B0604030504040204" pitchFamily="34" charset="-120"/>
                          <a:ea typeface="微軟正黑體" panose="020B0604030504040204" pitchFamily="34" charset="-120"/>
                        </a:rPr>
                        <a:t>抽獎制，最高送</a:t>
                      </a:r>
                      <a:r>
                        <a:rPr lang="en-US" altLang="zh-TW" sz="900" dirty="0">
                          <a:effectLst/>
                          <a:latin typeface="微軟正黑體" panose="020B0604030504040204" pitchFamily="34" charset="-120"/>
                          <a:ea typeface="微軟正黑體" panose="020B0604030504040204" pitchFamily="34" charset="-120"/>
                        </a:rPr>
                        <a:t>400</a:t>
                      </a:r>
                      <a:r>
                        <a:rPr lang="zh-TW" altLang="en-US" sz="900" dirty="0">
                          <a:effectLst/>
                          <a:latin typeface="微軟正黑體" panose="020B0604030504040204" pitchFamily="34" charset="-120"/>
                          <a:ea typeface="微軟正黑體" panose="020B0604030504040204" pitchFamily="34" charset="-120"/>
                        </a:rPr>
                        <a:t>元</a:t>
                      </a:r>
                    </a:p>
                  </a:txBody>
                  <a:tcPr marL="0" marR="0"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94880139"/>
                  </a:ext>
                </a:extLst>
              </a:tr>
              <a:tr h="150456">
                <a:tc vMerge="1">
                  <a:txBody>
                    <a:bodyPr/>
                    <a:lstStyle/>
                    <a:p>
                      <a:pPr algn="ctr" rtl="0" fontAlgn="b">
                        <a:buNone/>
                      </a:pPr>
                      <a:endParaRPr lang="zh-TW" altLang="en-US" sz="1000" dirty="0">
                        <a:effectLst/>
                        <a:latin typeface="微軟正黑體" panose="020B0604030504040204" pitchFamily="34" charset="-120"/>
                        <a:ea typeface="微軟正黑體" panose="020B0604030504040204" pitchFamily="34" charset="-120"/>
                      </a:endParaRP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lvl="0" rtl="0" fontAlgn="b">
                        <a:buNone/>
                      </a:pPr>
                      <a:r>
                        <a:rPr lang="zh-TW" altLang="en-US" sz="900" dirty="0">
                          <a:effectLst/>
                          <a:latin typeface="微軟正黑體" panose="020B0604030504040204" pitchFamily="34" charset="-120"/>
                          <a:ea typeface="微軟正黑體" panose="020B0604030504040204" pitchFamily="34" charset="-120"/>
                        </a:rPr>
                        <a:t>既有用戶</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en-US" altLang="zh-TW" sz="900" dirty="0">
                          <a:effectLst/>
                          <a:latin typeface="微軟正黑體" panose="020B0604030504040204" pitchFamily="34" charset="-120"/>
                          <a:ea typeface="微軟正黑體" panose="020B0604030504040204" pitchFamily="34" charset="-120"/>
                        </a:rPr>
                        <a:t>3% </a:t>
                      </a:r>
                      <a:r>
                        <a:rPr lang="zh-TW" altLang="en-US" sz="900" dirty="0">
                          <a:effectLst/>
                          <a:latin typeface="微軟正黑體" panose="020B0604030504040204" pitchFamily="34" charset="-120"/>
                          <a:ea typeface="微軟正黑體" panose="020B0604030504040204" pitchFamily="34" charset="-120"/>
                        </a:rPr>
                        <a:t>街口幣</a:t>
                      </a:r>
                    </a:p>
                  </a:txBody>
                  <a:tcPr marL="7923" marR="7923"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rtl="0" fontAlgn="b">
                        <a:buNone/>
                      </a:pPr>
                      <a:r>
                        <a:rPr lang="zh-TW" altLang="en-US" sz="900" dirty="0">
                          <a:effectLst/>
                          <a:latin typeface="微軟正黑體" panose="020B0604030504040204" pitchFamily="34" charset="-120"/>
                          <a:ea typeface="微軟正黑體" panose="020B0604030504040204" pitchFamily="34" charset="-120"/>
                        </a:rPr>
                        <a:t>抽獎制，最高送</a:t>
                      </a:r>
                      <a:r>
                        <a:rPr lang="en-US" altLang="zh-TW" sz="900" dirty="0">
                          <a:effectLst/>
                          <a:latin typeface="微軟正黑體" panose="020B0604030504040204" pitchFamily="34" charset="-120"/>
                          <a:ea typeface="微軟正黑體" panose="020B0604030504040204" pitchFamily="34" charset="-120"/>
                        </a:rPr>
                        <a:t>200</a:t>
                      </a:r>
                      <a:r>
                        <a:rPr lang="zh-TW" altLang="en-US" sz="900" dirty="0">
                          <a:effectLst/>
                          <a:latin typeface="微軟正黑體" panose="020B0604030504040204" pitchFamily="34" charset="-120"/>
                          <a:ea typeface="微軟正黑體" panose="020B0604030504040204" pitchFamily="34" charset="-120"/>
                        </a:rPr>
                        <a:t>元</a:t>
                      </a:r>
                    </a:p>
                  </a:txBody>
                  <a:tcPr marL="0" marR="0" marT="5282" marB="528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92402345"/>
                  </a:ext>
                </a:extLst>
              </a:tr>
            </a:tbl>
          </a:graphicData>
        </a:graphic>
      </p:graphicFrame>
    </p:spTree>
    <p:extLst>
      <p:ext uri="{BB962C8B-B14F-4D97-AF65-F5344CB8AC3E}">
        <p14:creationId xmlns:p14="http://schemas.microsoft.com/office/powerpoint/2010/main" val="296609747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6DDC9-8C9A-D71C-2996-DF2CB658623D}"/>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5241CCDD-F1FE-5C50-4C36-710636530662}"/>
              </a:ext>
            </a:extLst>
          </p:cNvPr>
          <p:cNvSpPr txBox="1"/>
          <p:nvPr/>
        </p:nvSpPr>
        <p:spPr>
          <a:xfrm>
            <a:off x="311920" y="314805"/>
            <a:ext cx="4829575" cy="396919"/>
          </a:xfrm>
          <a:prstGeom prst="rect">
            <a:avLst/>
          </a:prstGeom>
          <a:solidFill>
            <a:schemeClr val="bg1">
              <a:lumMod val="85000"/>
            </a:schemeClr>
          </a:solidFill>
          <a:ln w="6350" cap="flat" cmpd="sng" algn="ctr">
            <a:solidFill>
              <a:schemeClr val="bg1">
                <a:lumMod val="85000"/>
              </a:schemeClr>
            </a:solidFill>
            <a:prstDash val="solid"/>
            <a:miter lim="800000"/>
          </a:ln>
          <a:effectLst/>
        </p:spPr>
        <p:txBody>
          <a:bodyPr wrap="square">
            <a:noAutofit/>
          </a:bodyPr>
          <a:lstStyle>
            <a:defPPr>
              <a:defRPr lang="en-US"/>
            </a:defPPr>
            <a:lvl1pPr marR="0" lvl="0" indent="0">
              <a:lnSpc>
                <a:spcPct val="100000"/>
              </a:lnSpc>
              <a:spcBef>
                <a:spcPts val="0"/>
              </a:spcBef>
              <a:spcAft>
                <a:spcPts val="0"/>
              </a:spcAft>
              <a:buClrTx/>
              <a:buSzTx/>
              <a:buFontTx/>
              <a:buNone/>
              <a:tabLst/>
              <a:defRPr kumimoji="0" sz="2000" i="0" u="none" strike="noStrike" cap="none" spc="0" normalizeH="0" baseline="0">
                <a:ln>
                  <a:noFill/>
                </a:ln>
                <a:solidFill>
                  <a:srgbClr val="000000"/>
                </a:solidFill>
                <a:effectLst/>
                <a:uLnTx/>
                <a:uFillTx/>
                <a:latin typeface="微軟正黑體" panose="020B0604030504040204" pitchFamily="34" charset="-120"/>
                <a:ea typeface="微軟正黑體" panose="020B0604030504040204" pitchFamily="34" charset="-120"/>
              </a:defRPr>
            </a:lvl1pPr>
          </a:lstStyle>
          <a:p>
            <a:r>
              <a:rPr lang="zh-TW" altLang="en-US" dirty="0"/>
              <a:t>看好新南向經濟動能穩健 國銀揭布局重點</a:t>
            </a:r>
          </a:p>
        </p:txBody>
      </p:sp>
      <p:sp>
        <p:nvSpPr>
          <p:cNvPr id="2" name="文字方塊 1">
            <a:extLst>
              <a:ext uri="{FF2B5EF4-FFF2-40B4-BE49-F238E27FC236}">
                <a16:creationId xmlns:a16="http://schemas.microsoft.com/office/drawing/2014/main" id="{3488E9F8-4E8D-3EFE-DC39-9914B972157A}"/>
              </a:ext>
            </a:extLst>
          </p:cNvPr>
          <p:cNvSpPr txBox="1"/>
          <p:nvPr/>
        </p:nvSpPr>
        <p:spPr>
          <a:xfrm>
            <a:off x="141113" y="864000"/>
            <a:ext cx="5760000" cy="5542670"/>
          </a:xfrm>
          <a:prstGeom prst="rect">
            <a:avLst/>
          </a:prstGeom>
          <a:solidFill>
            <a:sysClr val="window" lastClr="FFFFFF"/>
          </a:solidFill>
          <a:ln w="12700" cap="flat" cmpd="sng" algn="ctr">
            <a:solidFill>
              <a:schemeClr val="tx1">
                <a:lumMod val="50000"/>
                <a:lumOff val="50000"/>
              </a:schemeClr>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TW" altLang="en-US" b="0" dirty="0"/>
              <a:t>根據金管會統計，</a:t>
            </a:r>
            <a:r>
              <a:rPr lang="zh-TW" altLang="en-US" dirty="0">
                <a:solidFill>
                  <a:srgbClr val="C00000"/>
                </a:solidFill>
              </a:rPr>
              <a:t>本國銀行</a:t>
            </a:r>
            <a:r>
              <a:rPr lang="en-US" altLang="zh-TW" dirty="0">
                <a:solidFill>
                  <a:srgbClr val="C00000"/>
                </a:solidFill>
              </a:rPr>
              <a:t>2025</a:t>
            </a:r>
            <a:r>
              <a:rPr lang="zh-TW" altLang="en-US" dirty="0">
                <a:solidFill>
                  <a:srgbClr val="C00000"/>
                </a:solidFill>
              </a:rPr>
              <a:t>年於新南向國家獲利達新台幣</a:t>
            </a:r>
            <a:r>
              <a:rPr lang="en-US" altLang="zh-TW" dirty="0">
                <a:solidFill>
                  <a:srgbClr val="C00000"/>
                </a:solidFill>
              </a:rPr>
              <a:t>256.7</a:t>
            </a:r>
            <a:r>
              <a:rPr lang="zh-TW" altLang="en-US" dirty="0">
                <a:solidFill>
                  <a:srgbClr val="C00000"/>
                </a:solidFill>
              </a:rPr>
              <a:t>億元，寫下歷年新高。看好新南向國家經濟動能穩健，國銀持續加大布局，今年包含印度、澳洲、越南等地皆為看好潛力的市場</a:t>
            </a:r>
            <a:r>
              <a:rPr lang="zh-TW" altLang="en-US" b="0" dirty="0"/>
              <a:t>。</a:t>
            </a:r>
          </a:p>
          <a:p>
            <a:r>
              <a:rPr lang="zh-TW" altLang="en-US" b="0" dirty="0"/>
              <a:t>金管會統計顯示，</a:t>
            </a:r>
            <a:r>
              <a:rPr lang="en-US" altLang="zh-TW" dirty="0">
                <a:solidFill>
                  <a:srgbClr val="0070C0"/>
                </a:solidFill>
              </a:rPr>
              <a:t>2025</a:t>
            </a:r>
            <a:r>
              <a:rPr lang="zh-TW" altLang="en-US" dirty="0">
                <a:solidFill>
                  <a:srgbClr val="0070C0"/>
                </a:solidFill>
              </a:rPr>
              <a:t>年全年本國銀行海外分支機構（含分、子行）獲利為新台幣</a:t>
            </a:r>
            <a:r>
              <a:rPr lang="en-US" altLang="zh-TW" dirty="0">
                <a:solidFill>
                  <a:srgbClr val="0070C0"/>
                </a:solidFill>
              </a:rPr>
              <a:t>918</a:t>
            </a:r>
            <a:r>
              <a:rPr lang="zh-TW" altLang="en-US" dirty="0">
                <a:solidFill>
                  <a:srgbClr val="0070C0"/>
                </a:solidFill>
              </a:rPr>
              <a:t>億元，創下歷年新高，年增</a:t>
            </a:r>
            <a:r>
              <a:rPr lang="en-US" altLang="zh-TW" dirty="0">
                <a:solidFill>
                  <a:srgbClr val="0070C0"/>
                </a:solidFill>
              </a:rPr>
              <a:t>5.3%</a:t>
            </a:r>
            <a:r>
              <a:rPr lang="zh-TW" altLang="en-US" dirty="0">
                <a:solidFill>
                  <a:srgbClr val="0070C0"/>
                </a:solidFill>
              </a:rPr>
              <a:t>。其中，來自新南向國家貢獻獲利達</a:t>
            </a:r>
            <a:r>
              <a:rPr lang="en-US" altLang="zh-TW" dirty="0">
                <a:solidFill>
                  <a:srgbClr val="0070C0"/>
                </a:solidFill>
              </a:rPr>
              <a:t>256.7</a:t>
            </a:r>
            <a:r>
              <a:rPr lang="zh-TW" altLang="en-US" dirty="0">
                <a:solidFill>
                  <a:srgbClr val="0070C0"/>
                </a:solidFill>
              </a:rPr>
              <a:t>億元</a:t>
            </a:r>
            <a:r>
              <a:rPr lang="zh-TW" altLang="en-US" b="0" dirty="0"/>
              <a:t>，同步刷新紀錄，也因此成為兵家必爭之地，多家國銀正加速擴張版圖。</a:t>
            </a:r>
          </a:p>
          <a:p>
            <a:r>
              <a:rPr lang="zh-TW" altLang="en-US" b="0" dirty="0"/>
              <a:t>台北富邦銀行指出，</a:t>
            </a:r>
            <a:r>
              <a:rPr lang="zh-TW" altLang="en-US" dirty="0">
                <a:solidFill>
                  <a:srgbClr val="0070C0"/>
                </a:solidFill>
              </a:rPr>
              <a:t>今年新南向授信狀況與去年同期相比，成長動能主要來自印度、澳洲與新加坡。北富銀現在已在香港、越南、新加坡等地設有分行，並在印尼、澳洲、韓國等地設有辦事處</a:t>
            </a:r>
            <a:r>
              <a:rPr lang="zh-TW" altLang="en-US" b="0" dirty="0"/>
              <a:t>。為完善亞太區域的經營網絡，正持續推動海外據點的設置計畫。新據點部分，北富銀也積極推動澳洲雪梨辦事處升格為分行，以及印度</a:t>
            </a:r>
            <a:r>
              <a:rPr lang="en-US" altLang="zh-TW" b="0" dirty="0"/>
              <a:t>GIFT City</a:t>
            </a:r>
            <a:r>
              <a:rPr lang="zh-TW" altLang="en-US" b="0" dirty="0"/>
              <a:t>分行的申設作業。</a:t>
            </a:r>
          </a:p>
          <a:p>
            <a:r>
              <a:rPr lang="zh-TW" altLang="en-US" b="0" dirty="0"/>
              <a:t>國泰世華銀分析，新南向國家經濟成長動能穩健，台商雖面臨地緣政治與關稅挑戰，供應鏈移轉及長期海外布局的金融需求仍持續增加，因此成為海外布局的重點授信市場。此外，新南向區域內中產階級崛起、金融滲透率提升，企業金融、跨境金流及零售金融服務也皆具備顯著成長潛力。</a:t>
            </a:r>
          </a:p>
          <a:p>
            <a:endParaRPr lang="zh-TW" altLang="en-US" b="0" dirty="0"/>
          </a:p>
        </p:txBody>
      </p:sp>
      <p:sp>
        <p:nvSpPr>
          <p:cNvPr id="4" name="文字方塊 3">
            <a:extLst>
              <a:ext uri="{FF2B5EF4-FFF2-40B4-BE49-F238E27FC236}">
                <a16:creationId xmlns:a16="http://schemas.microsoft.com/office/drawing/2014/main" id="{979FB1C3-2CF3-73F8-E6DE-262DC2F0412B}"/>
              </a:ext>
            </a:extLst>
          </p:cNvPr>
          <p:cNvSpPr txBox="1"/>
          <p:nvPr/>
        </p:nvSpPr>
        <p:spPr>
          <a:xfrm>
            <a:off x="6048000" y="864001"/>
            <a:ext cx="5760000" cy="4181241"/>
          </a:xfrm>
          <a:prstGeom prst="rect">
            <a:avLst/>
          </a:prstGeom>
          <a:solidFill>
            <a:sysClr val="window" lastClr="FFFFFF"/>
          </a:solidFill>
          <a:ln w="12700" cap="flat" cmpd="sng" algn="ctr">
            <a:solidFill>
              <a:schemeClr val="tx1">
                <a:lumMod val="50000"/>
                <a:lumOff val="50000"/>
              </a:schemeClr>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TW" altLang="en-US" b="0" dirty="0"/>
              <a:t>國泰世華銀新南向市場的策略，是結合「跟隨台商」與「在地深耕」雙軌並行。目前國泰世華銀於新南向地區包含</a:t>
            </a:r>
            <a:r>
              <a:rPr lang="en-US" altLang="zh-TW" b="0" dirty="0"/>
              <a:t>7</a:t>
            </a:r>
            <a:r>
              <a:rPr lang="zh-TW" altLang="en-US" b="0" dirty="0"/>
              <a:t>個海外分行、</a:t>
            </a:r>
            <a:r>
              <a:rPr lang="en-US" altLang="zh-TW" b="0" dirty="0"/>
              <a:t>4</a:t>
            </a:r>
            <a:r>
              <a:rPr lang="zh-TW" altLang="en-US" b="0" dirty="0"/>
              <a:t>個代表人辦事處以及</a:t>
            </a:r>
            <a:r>
              <a:rPr lang="en-US" altLang="zh-TW" b="0" dirty="0"/>
              <a:t>1</a:t>
            </a:r>
            <a:r>
              <a:rPr lang="zh-TW" altLang="en-US" b="0" dirty="0"/>
              <a:t>個子行。國泰世華印度孟買分行設立案目前已進入印度主管機關的正式審查階段，持續向南亞延伸布局。國泰世華新南向版圖覆蓋新加坡、越南、馬來西亞、菲律賓、緬甸、寮國、柬埔寨、泰國、印尼等</a:t>
            </a:r>
            <a:r>
              <a:rPr lang="en-US" altLang="zh-TW" b="0" dirty="0"/>
              <a:t>9</a:t>
            </a:r>
            <a:r>
              <a:rPr lang="zh-TW" altLang="en-US" b="0" dirty="0"/>
              <a:t>國；其中，越南因今年經濟成長率目標上看雙位數，不僅是區域內的領先國家，更是台商投資最集中的熱點之一，企業金融與跨境服務需求強勁。</a:t>
            </a:r>
            <a:endParaRPr lang="en-US" altLang="zh-TW" b="0" dirty="0"/>
          </a:p>
          <a:p>
            <a:r>
              <a:rPr lang="zh-TW" altLang="en-US" b="0" dirty="0"/>
              <a:t>目前在新南向國家共有超過</a:t>
            </a:r>
            <a:r>
              <a:rPr lang="en-US" altLang="zh-TW" b="0" dirty="0"/>
              <a:t>120</a:t>
            </a:r>
            <a:r>
              <a:rPr lang="zh-TW" altLang="en-US" b="0" dirty="0"/>
              <a:t>個據點的中信銀觀察，近年受地緣政治與疫情影響，東南亞為全球供應鏈移轉的主要受惠者，像是越南、泰國、印尼、印度皆為台商投資的熱點，逐步帶動產業聚落成形，另外，台商對東南亞投資相當大比例集中在新加坡，皆帶動相關地區台商的金融需求持續成長。</a:t>
            </a:r>
            <a:endParaRPr lang="zh-TW" altLang="en-US" b="0" dirty="0">
              <a:solidFill>
                <a:prstClr val="black"/>
              </a:solidFill>
            </a:endParaRPr>
          </a:p>
          <a:p>
            <a:endParaRPr lang="zh-TW" altLang="en-US" b="0" dirty="0">
              <a:solidFill>
                <a:srgbClr val="272727"/>
              </a:solidFill>
            </a:endParaRPr>
          </a:p>
        </p:txBody>
      </p:sp>
      <p:sp>
        <p:nvSpPr>
          <p:cNvPr id="11" name="矩形 10">
            <a:extLst>
              <a:ext uri="{FF2B5EF4-FFF2-40B4-BE49-F238E27FC236}">
                <a16:creationId xmlns:a16="http://schemas.microsoft.com/office/drawing/2014/main" id="{C76CEC9A-B762-C10B-795E-B99210E2C56C}"/>
              </a:ext>
            </a:extLst>
          </p:cNvPr>
          <p:cNvSpPr/>
          <p:nvPr/>
        </p:nvSpPr>
        <p:spPr>
          <a:xfrm>
            <a:off x="5141495" y="434725"/>
            <a:ext cx="1763624"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Arial" panose="020B0604020202020204" pitchFamily="34" charset="0"/>
                <a:ea typeface="微軟正黑體" panose="020B0604030504040204" pitchFamily="34" charset="-120"/>
                <a:cs typeface="+mn-cs"/>
              </a:rPr>
              <a:t>2026/04/25</a:t>
            </a:r>
            <a:r>
              <a:rPr lang="zh-TW" altLang="en-US" sz="1200" b="0" dirty="0">
                <a:solidFill>
                  <a:prstClr val="black"/>
                </a:solidFill>
                <a:latin typeface="Arial" panose="020B0604020202020204" pitchFamily="34" charset="0"/>
                <a:ea typeface="微軟正黑體" panose="020B0604030504040204" pitchFamily="34" charset="-120"/>
              </a:rPr>
              <a:t> 中央通訊社</a:t>
            </a:r>
            <a:endParaRPr kumimoji="0" lang="zh-TW" altLang="en-US" sz="1200" b="0" i="0" u="none" strike="noStrike" kern="1200" cap="none" spc="0" normalizeH="0" baseline="0" noProof="0" dirty="0">
              <a:ln>
                <a:noFill/>
              </a:ln>
              <a:solidFill>
                <a:prstClr val="black"/>
              </a:solidFill>
              <a:effectLst/>
              <a:uLnTx/>
              <a:uFillTx/>
              <a:latin typeface="Arial" panose="020B0604020202020204" pitchFamily="34" charset="0"/>
              <a:ea typeface="微軟正黑體" panose="020B0604030504040204" pitchFamily="34" charset="-120"/>
              <a:cs typeface="+mn-cs"/>
            </a:endParaRPr>
          </a:p>
        </p:txBody>
      </p:sp>
      <p:sp>
        <p:nvSpPr>
          <p:cNvPr id="5" name="文字方塊 4">
            <a:extLst>
              <a:ext uri="{FF2B5EF4-FFF2-40B4-BE49-F238E27FC236}">
                <a16:creationId xmlns:a16="http://schemas.microsoft.com/office/drawing/2014/main" id="{3D071B8D-6B65-B25E-C63C-19E6698F3940}"/>
              </a:ext>
            </a:extLst>
          </p:cNvPr>
          <p:cNvSpPr txBox="1"/>
          <p:nvPr/>
        </p:nvSpPr>
        <p:spPr>
          <a:xfrm>
            <a:off x="6048000" y="5116396"/>
            <a:ext cx="5760000" cy="385608"/>
          </a:xfrm>
          <a:prstGeom prst="rect">
            <a:avLst/>
          </a:prstGeom>
          <a:solidFill>
            <a:srgbClr val="595959"/>
          </a:solidFill>
          <a:ln w="12700" cap="flat" cmpd="sng" algn="ctr">
            <a:noFill/>
            <a:prstDash val="solid"/>
            <a:miter lim="800000"/>
          </a:ln>
          <a:effectLst/>
        </p:spPr>
        <p:txBody>
          <a:bodyPr rtlCol="0" anchor="ct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400" i="0" u="none" strike="noStrike" kern="0" cap="none" spc="0" normalizeH="0" baseline="0">
                <a:ln>
                  <a:noFill/>
                </a:ln>
                <a:solidFill>
                  <a:prstClr val="white"/>
                </a:solidFill>
                <a:effectLst/>
                <a:uLnTx/>
                <a:uFillTx/>
                <a:latin typeface="微軟正黑體" panose="020B0604030504040204" pitchFamily="34" charset="-120"/>
                <a:ea typeface="微軟正黑體" panose="020B0604030504040204" pitchFamily="34" charset="-120"/>
              </a:defRPr>
            </a:lvl1pPr>
          </a:lstStyle>
          <a:p>
            <a:pPr defTabSz="896203"/>
            <a:r>
              <a:rPr lang="zh-TW" altLang="en-US" dirty="0">
                <a:solidFill>
                  <a:schemeClr val="bg1"/>
                </a:solidFill>
              </a:rPr>
              <a:t>國銀中小企業放款情形</a:t>
            </a:r>
            <a:r>
              <a:rPr lang="en-US" altLang="zh-TW" sz="1050" dirty="0">
                <a:solidFill>
                  <a:schemeClr val="bg1"/>
                </a:solidFill>
              </a:rPr>
              <a:t>(2026/2</a:t>
            </a:r>
            <a:r>
              <a:rPr lang="zh-TW" altLang="en-US" sz="1050" dirty="0">
                <a:solidFill>
                  <a:schemeClr val="bg1"/>
                </a:solidFill>
              </a:rPr>
              <a:t>月</a:t>
            </a:r>
            <a:r>
              <a:rPr lang="en-US" altLang="zh-TW" sz="1050" dirty="0">
                <a:solidFill>
                  <a:schemeClr val="bg1"/>
                </a:solidFill>
              </a:rPr>
              <a:t>)</a:t>
            </a:r>
            <a:endParaRPr lang="en-US" altLang="zh-TW" sz="800" dirty="0">
              <a:solidFill>
                <a:schemeClr val="bg1"/>
              </a:solidFill>
            </a:endParaRPr>
          </a:p>
        </p:txBody>
      </p:sp>
      <p:sp>
        <p:nvSpPr>
          <p:cNvPr id="9" name="文字方塊 8">
            <a:extLst>
              <a:ext uri="{FF2B5EF4-FFF2-40B4-BE49-F238E27FC236}">
                <a16:creationId xmlns:a16="http://schemas.microsoft.com/office/drawing/2014/main" id="{ADF4758E-F5D0-D049-6566-21E187DAB9B5}"/>
              </a:ext>
            </a:extLst>
          </p:cNvPr>
          <p:cNvSpPr txBox="1"/>
          <p:nvPr/>
        </p:nvSpPr>
        <p:spPr>
          <a:xfrm>
            <a:off x="10716173" y="5271172"/>
            <a:ext cx="1304650" cy="230832"/>
          </a:xfrm>
          <a:prstGeom prst="rect">
            <a:avLst/>
          </a:prstGeom>
          <a:noFill/>
        </p:spPr>
        <p:txBody>
          <a:bodyPr wrap="square">
            <a:spAutoFit/>
          </a:bodyPr>
          <a:lstStyle/>
          <a:p>
            <a:r>
              <a:rPr lang="zh-TW" altLang="en-US" sz="900" dirty="0">
                <a:solidFill>
                  <a:schemeClr val="bg1"/>
                </a:solidFill>
                <a:latin typeface="微軟正黑體" panose="020B0604030504040204" pitchFamily="34" charset="-120"/>
                <a:ea typeface="微軟正黑體" panose="020B0604030504040204" pitchFamily="34" charset="-120"/>
              </a:rPr>
              <a:t>資料來源：金管會</a:t>
            </a:r>
            <a:endParaRPr lang="zh-TW" altLang="en-US" sz="2000" dirty="0">
              <a:solidFill>
                <a:schemeClr val="bg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41932170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59AED-B99B-D146-BE65-BD1195F47CF5}"/>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30AFEB8B-EF11-6C81-C513-77917C427497}"/>
              </a:ext>
            </a:extLst>
          </p:cNvPr>
          <p:cNvSpPr txBox="1"/>
          <p:nvPr/>
        </p:nvSpPr>
        <p:spPr>
          <a:xfrm>
            <a:off x="311920" y="314805"/>
            <a:ext cx="5662636" cy="396919"/>
          </a:xfrm>
          <a:prstGeom prst="rect">
            <a:avLst/>
          </a:prstGeom>
          <a:solidFill>
            <a:schemeClr val="bg1">
              <a:lumMod val="85000"/>
            </a:schemeClr>
          </a:solidFill>
          <a:ln w="6350" cap="flat" cmpd="sng" algn="ctr">
            <a:solidFill>
              <a:schemeClr val="bg1">
                <a:lumMod val="85000"/>
              </a:schemeClr>
            </a:solidFill>
            <a:prstDash val="solid"/>
            <a:miter lim="800000"/>
          </a:ln>
          <a:effectLst/>
        </p:spPr>
        <p:txBody>
          <a:bodyPr wrap="square">
            <a:noAutofit/>
          </a:bodyPr>
          <a:lstStyle>
            <a:defPPr>
              <a:defRPr lang="en-US"/>
            </a:defPPr>
            <a:lvl1pPr marR="0" lvl="0" indent="0">
              <a:lnSpc>
                <a:spcPct val="100000"/>
              </a:lnSpc>
              <a:spcBef>
                <a:spcPts val="0"/>
              </a:spcBef>
              <a:spcAft>
                <a:spcPts val="0"/>
              </a:spcAft>
              <a:buClrTx/>
              <a:buSzTx/>
              <a:buFontTx/>
              <a:buNone/>
              <a:tabLst/>
              <a:defRPr kumimoji="0" sz="2000" i="0" u="none" strike="noStrike" cap="none" spc="0" normalizeH="0" baseline="0">
                <a:ln>
                  <a:noFill/>
                </a:ln>
                <a:solidFill>
                  <a:srgbClr val="000000"/>
                </a:solidFill>
                <a:effectLst/>
                <a:uLnTx/>
                <a:uFillTx/>
                <a:latin typeface="微軟正黑體" panose="020B0604030504040204" pitchFamily="34" charset="-120"/>
                <a:ea typeface="微軟正黑體" panose="020B0604030504040204" pitchFamily="34" charset="-120"/>
              </a:defRPr>
            </a:lvl1pPr>
          </a:lstStyle>
          <a:p>
            <a:r>
              <a:rPr lang="zh-TW" altLang="en-US" dirty="0"/>
              <a:t>國銀攻印度 瞄準雙紅利 中信、兆豐、臺銀已設點</a:t>
            </a:r>
          </a:p>
          <a:p>
            <a:endParaRPr lang="zh-TW" altLang="en-US" dirty="0"/>
          </a:p>
        </p:txBody>
      </p:sp>
      <p:sp>
        <p:nvSpPr>
          <p:cNvPr id="2" name="文字方塊 1">
            <a:extLst>
              <a:ext uri="{FF2B5EF4-FFF2-40B4-BE49-F238E27FC236}">
                <a16:creationId xmlns:a16="http://schemas.microsoft.com/office/drawing/2014/main" id="{1B49041F-C9AC-ED8E-CAC0-D0BDF44C77C9}"/>
              </a:ext>
            </a:extLst>
          </p:cNvPr>
          <p:cNvSpPr txBox="1"/>
          <p:nvPr/>
        </p:nvSpPr>
        <p:spPr>
          <a:xfrm>
            <a:off x="141113" y="864000"/>
            <a:ext cx="5760000" cy="5542670"/>
          </a:xfrm>
          <a:prstGeom prst="rect">
            <a:avLst/>
          </a:prstGeom>
          <a:solidFill>
            <a:sysClr val="window" lastClr="FFFFFF"/>
          </a:solidFill>
          <a:ln w="12700" cap="flat" cmpd="sng" algn="ctr">
            <a:solidFill>
              <a:schemeClr val="tx1">
                <a:lumMod val="50000"/>
                <a:lumOff val="50000"/>
              </a:schemeClr>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TW" altLang="en-US" b="0" dirty="0"/>
              <a:t>印度經濟與人口紅利吸引金融機構布局。金管會昨（</a:t>
            </a:r>
            <a:r>
              <a:rPr lang="en-US" altLang="zh-TW" b="0" dirty="0"/>
              <a:t>14</a:t>
            </a:r>
            <a:r>
              <a:rPr lang="zh-TW" altLang="en-US" b="0" dirty="0"/>
              <a:t>）日表示，</a:t>
            </a:r>
            <a:r>
              <a:rPr lang="zh-TW" altLang="en-US" dirty="0">
                <a:solidFill>
                  <a:srgbClr val="C00000"/>
                </a:solidFill>
              </a:rPr>
              <a:t>同意兆豐銀行向印度主管機關申請設立古吉拉特邦金融特區（</a:t>
            </a:r>
            <a:r>
              <a:rPr lang="en-US" altLang="zh-TW" dirty="0">
                <a:solidFill>
                  <a:srgbClr val="C00000"/>
                </a:solidFill>
              </a:rPr>
              <a:t>GIFT City</a:t>
            </a:r>
            <a:r>
              <a:rPr lang="zh-TW" altLang="en-US" dirty="0">
                <a:solidFill>
                  <a:srgbClr val="C00000"/>
                </a:solidFill>
              </a:rPr>
              <a:t>）分行，目前已有三國銀在印度設有五分支機構，另有三家銀行已獲准設分行，在等待當地政府審查</a:t>
            </a:r>
            <a:r>
              <a:rPr lang="zh-TW" altLang="en-US" b="0" dirty="0"/>
              <a:t>。</a:t>
            </a:r>
          </a:p>
          <a:p>
            <a:r>
              <a:rPr lang="zh-TW" altLang="en-US" b="0" dirty="0"/>
              <a:t>根據金管會的最新資料，截至目前為止，</a:t>
            </a:r>
            <a:r>
              <a:rPr lang="zh-TW" altLang="en-US" dirty="0">
                <a:solidFill>
                  <a:srgbClr val="0070C0"/>
                </a:solidFill>
              </a:rPr>
              <a:t>本國銀行有中國信託銀行、兆豐銀行和臺灣銀行等三家銀行在印度共設有五家分支機構，台北富邦銀行、玉山銀行和國泰世華銀行也已獲得金管會核准於當地申設分行，仍等待印度主管機關審查中</a:t>
            </a:r>
            <a:r>
              <a:rPr lang="zh-TW" altLang="en-US" b="0" dirty="0"/>
              <a:t>。</a:t>
            </a:r>
            <a:endParaRPr lang="en-US" altLang="zh-TW" b="0" dirty="0"/>
          </a:p>
          <a:p>
            <a:r>
              <a:rPr lang="zh-TW" altLang="en-US" dirty="0">
                <a:solidFill>
                  <a:srgbClr val="0070C0"/>
                </a:solidFill>
              </a:rPr>
              <a:t>兆豐銀行考量到印度擁有龐大的市場經濟和人口基數，且印度政府積極推動獎勵計劃，因此規劃於</a:t>
            </a:r>
            <a:r>
              <a:rPr lang="en-US" altLang="zh-TW" dirty="0">
                <a:solidFill>
                  <a:srgbClr val="0070C0"/>
                </a:solidFill>
              </a:rPr>
              <a:t>GIFT City</a:t>
            </a:r>
            <a:r>
              <a:rPr lang="zh-TW" altLang="en-US" dirty="0">
                <a:solidFill>
                  <a:srgbClr val="0070C0"/>
                </a:solidFill>
              </a:rPr>
              <a:t>設立分行，強化該行於南亞市場的布局和競爭力</a:t>
            </a:r>
            <a:r>
              <a:rPr lang="zh-TW" altLang="en-US" b="0" dirty="0"/>
              <a:t>。金管會統計，截至今年</a:t>
            </a:r>
            <a:r>
              <a:rPr lang="en-US" altLang="zh-TW" b="0" dirty="0"/>
              <a:t>3</a:t>
            </a:r>
            <a:r>
              <a:rPr lang="zh-TW" altLang="en-US" b="0" dirty="0"/>
              <a:t>月底，兆豐銀行海外據點共有一家子行、</a:t>
            </a:r>
            <a:r>
              <a:rPr lang="en-US" altLang="zh-TW" b="0" dirty="0"/>
              <a:t>24</a:t>
            </a:r>
            <a:r>
              <a:rPr lang="zh-TW" altLang="en-US" b="0" dirty="0"/>
              <a:t>家分行、七家支行及二家代表人辦事處，分別位於澳洲、柬埔寨、加拿大、大陸地區、法國、香港、印度、日本、馬來西亞、緬甸、荷蘭、巴拿馬、菲律賓、新加坡、泰國、英國、美國及越南等</a:t>
            </a:r>
            <a:r>
              <a:rPr lang="en-US" altLang="zh-TW" b="0" dirty="0"/>
              <a:t>18</a:t>
            </a:r>
            <a:r>
              <a:rPr lang="zh-TW" altLang="en-US" b="0" dirty="0"/>
              <a:t>個國家或地區。若未來完成</a:t>
            </a:r>
            <a:r>
              <a:rPr lang="en-US" altLang="zh-TW" b="0" dirty="0"/>
              <a:t>GIFT City</a:t>
            </a:r>
            <a:r>
              <a:rPr lang="zh-TW" altLang="en-US" b="0" dirty="0"/>
              <a:t>分行設立，兆豐銀行在海外分行將躍升為</a:t>
            </a:r>
            <a:r>
              <a:rPr lang="en-US" altLang="zh-TW" b="0" dirty="0"/>
              <a:t>25</a:t>
            </a:r>
            <a:r>
              <a:rPr lang="zh-TW" altLang="en-US" b="0" dirty="0"/>
              <a:t>家。</a:t>
            </a:r>
          </a:p>
          <a:p>
            <a:endParaRPr lang="zh-TW" altLang="en-US" b="0" dirty="0"/>
          </a:p>
        </p:txBody>
      </p:sp>
      <p:sp>
        <p:nvSpPr>
          <p:cNvPr id="4" name="文字方塊 3">
            <a:extLst>
              <a:ext uri="{FF2B5EF4-FFF2-40B4-BE49-F238E27FC236}">
                <a16:creationId xmlns:a16="http://schemas.microsoft.com/office/drawing/2014/main" id="{D3DA64BA-91AC-128E-AE4F-CB6DE2E88D07}"/>
              </a:ext>
            </a:extLst>
          </p:cNvPr>
          <p:cNvSpPr txBox="1"/>
          <p:nvPr/>
        </p:nvSpPr>
        <p:spPr>
          <a:xfrm>
            <a:off x="6048000" y="864001"/>
            <a:ext cx="5760000" cy="2590708"/>
          </a:xfrm>
          <a:prstGeom prst="rect">
            <a:avLst/>
          </a:prstGeom>
          <a:solidFill>
            <a:sysClr val="window" lastClr="FFFFFF"/>
          </a:solidFill>
          <a:ln w="12700" cap="flat" cmpd="sng" algn="ctr">
            <a:solidFill>
              <a:schemeClr val="tx1">
                <a:lumMod val="50000"/>
                <a:lumOff val="50000"/>
              </a:schemeClr>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TW" altLang="en-US" b="0" dirty="0"/>
              <a:t>銀行局副局長王允中表示，</a:t>
            </a:r>
            <a:r>
              <a:rPr lang="zh-TW" altLang="en-US" dirty="0">
                <a:solidFill>
                  <a:srgbClr val="0070C0"/>
                </a:solidFill>
              </a:rPr>
              <a:t>中信銀今年獲印度核准設立</a:t>
            </a:r>
            <a:r>
              <a:rPr lang="en-US" altLang="zh-TW" dirty="0">
                <a:solidFill>
                  <a:srgbClr val="0070C0"/>
                </a:solidFill>
              </a:rPr>
              <a:t>GIFT City</a:t>
            </a:r>
            <a:r>
              <a:rPr lang="zh-TW" altLang="en-US" dirty="0">
                <a:solidFill>
                  <a:srgbClr val="0070C0"/>
                </a:solidFill>
              </a:rPr>
              <a:t>分行，北富銀申請設立的</a:t>
            </a:r>
            <a:r>
              <a:rPr lang="en-US" altLang="zh-TW" dirty="0">
                <a:solidFill>
                  <a:srgbClr val="0070C0"/>
                </a:solidFill>
              </a:rPr>
              <a:t>GIFT City</a:t>
            </a:r>
            <a:r>
              <a:rPr lang="zh-TW" altLang="en-US" dirty="0">
                <a:solidFill>
                  <a:srgbClr val="0070C0"/>
                </a:solidFill>
              </a:rPr>
              <a:t>分行則待印度主管機關核准中，國泰世華銀行和玉山銀行申請在孟買設立的分行也尚未取得印度核准</a:t>
            </a:r>
            <a:r>
              <a:rPr lang="zh-TW" altLang="en-US" b="0" dirty="0"/>
              <a:t>。</a:t>
            </a:r>
          </a:p>
          <a:p>
            <a:r>
              <a:rPr lang="zh-TW" altLang="en-US" b="0" dirty="0"/>
              <a:t>銀行局統計，</a:t>
            </a:r>
            <a:r>
              <a:rPr lang="zh-TW" altLang="en-US" dirty="0">
                <a:solidFill>
                  <a:srgbClr val="0070C0"/>
                </a:solidFill>
              </a:rPr>
              <a:t>目前國銀在印度的據點布局情形包含中信銀行新德里分行、中信銀行卡圖帕克姆分行、中信銀行</a:t>
            </a:r>
            <a:r>
              <a:rPr lang="en-US" altLang="zh-TW" dirty="0">
                <a:solidFill>
                  <a:srgbClr val="0070C0"/>
                </a:solidFill>
              </a:rPr>
              <a:t>GIFT City</a:t>
            </a:r>
            <a:r>
              <a:rPr lang="zh-TW" altLang="en-US" dirty="0">
                <a:solidFill>
                  <a:srgbClr val="0070C0"/>
                </a:solidFill>
              </a:rPr>
              <a:t>分行、臺灣銀行孟買代表人辦事處，以及兆豐銀行孟買代表人辦事處</a:t>
            </a:r>
            <a:r>
              <a:rPr lang="zh-TW" altLang="en-US" b="0" dirty="0"/>
              <a:t>。</a:t>
            </a:r>
            <a:r>
              <a:rPr lang="zh-TW" altLang="en-US" dirty="0">
                <a:solidFill>
                  <a:srgbClr val="C00000"/>
                </a:solidFill>
              </a:rPr>
              <a:t>待三家國銀申請中的分行經印度主管機關核准設立後，國銀在印度將會有六家分行和二家代表人辦事處</a:t>
            </a:r>
            <a:r>
              <a:rPr lang="zh-TW" altLang="en-US" b="0" dirty="0"/>
              <a:t>。</a:t>
            </a:r>
          </a:p>
          <a:p>
            <a:pPr fontAlgn="auto">
              <a:spcBef>
                <a:spcPts val="300"/>
              </a:spcBef>
              <a:spcAft>
                <a:spcPts val="0"/>
              </a:spcAft>
            </a:pPr>
            <a:endParaRPr lang="zh-TW" altLang="en-US" b="0" dirty="0">
              <a:solidFill>
                <a:prstClr val="black"/>
              </a:solidFill>
            </a:endParaRPr>
          </a:p>
          <a:p>
            <a:endParaRPr lang="zh-TW" altLang="en-US" b="0" dirty="0">
              <a:solidFill>
                <a:srgbClr val="272727"/>
              </a:solidFill>
            </a:endParaRPr>
          </a:p>
        </p:txBody>
      </p:sp>
      <p:sp>
        <p:nvSpPr>
          <p:cNvPr id="11" name="矩形 10">
            <a:extLst>
              <a:ext uri="{FF2B5EF4-FFF2-40B4-BE49-F238E27FC236}">
                <a16:creationId xmlns:a16="http://schemas.microsoft.com/office/drawing/2014/main" id="{71EE0C9D-23ED-41AF-CCC3-05FB55DA16E8}"/>
              </a:ext>
            </a:extLst>
          </p:cNvPr>
          <p:cNvSpPr/>
          <p:nvPr/>
        </p:nvSpPr>
        <p:spPr>
          <a:xfrm>
            <a:off x="5974556" y="434725"/>
            <a:ext cx="1609736"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Arial" panose="020B0604020202020204" pitchFamily="34" charset="0"/>
                <a:ea typeface="微軟正黑體" panose="020B0604030504040204" pitchFamily="34" charset="-120"/>
                <a:cs typeface="+mn-cs"/>
              </a:rPr>
              <a:t>2026/04/15</a:t>
            </a:r>
            <a:r>
              <a:rPr lang="zh-TW" altLang="en-US" sz="1200" b="0" dirty="0">
                <a:solidFill>
                  <a:prstClr val="black"/>
                </a:solidFill>
                <a:latin typeface="Arial" panose="020B0604020202020204" pitchFamily="34" charset="0"/>
                <a:ea typeface="微軟正黑體" panose="020B0604030504040204" pitchFamily="34" charset="-120"/>
              </a:rPr>
              <a:t> 經濟日報</a:t>
            </a:r>
            <a:endParaRPr kumimoji="0" lang="zh-TW" altLang="en-US" sz="1200" b="0" i="0" u="none" strike="noStrike" kern="1200" cap="none" spc="0" normalizeH="0" baseline="0" noProof="0" dirty="0">
              <a:ln>
                <a:noFill/>
              </a:ln>
              <a:solidFill>
                <a:prstClr val="black"/>
              </a:solidFill>
              <a:effectLst/>
              <a:uLnTx/>
              <a:uFillTx/>
              <a:latin typeface="Arial" panose="020B0604020202020204" pitchFamily="34" charset="0"/>
              <a:ea typeface="微軟正黑體" panose="020B0604030504040204" pitchFamily="34" charset="-120"/>
              <a:cs typeface="+mn-cs"/>
            </a:endParaRPr>
          </a:p>
        </p:txBody>
      </p:sp>
      <p:sp>
        <p:nvSpPr>
          <p:cNvPr id="5" name="文字方塊 4">
            <a:extLst>
              <a:ext uri="{FF2B5EF4-FFF2-40B4-BE49-F238E27FC236}">
                <a16:creationId xmlns:a16="http://schemas.microsoft.com/office/drawing/2014/main" id="{608B260A-C22F-E123-AD38-D0CF030459DD}"/>
              </a:ext>
            </a:extLst>
          </p:cNvPr>
          <p:cNvSpPr txBox="1"/>
          <p:nvPr/>
        </p:nvSpPr>
        <p:spPr>
          <a:xfrm>
            <a:off x="6047998" y="3522212"/>
            <a:ext cx="5760000" cy="385608"/>
          </a:xfrm>
          <a:prstGeom prst="rect">
            <a:avLst/>
          </a:prstGeom>
          <a:solidFill>
            <a:srgbClr val="595959"/>
          </a:solidFill>
          <a:ln w="12700" cap="flat" cmpd="sng" algn="ctr">
            <a:noFill/>
            <a:prstDash val="solid"/>
            <a:miter lim="800000"/>
          </a:ln>
          <a:effectLst/>
        </p:spPr>
        <p:txBody>
          <a:bodyPr rtlCol="0" anchor="ct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400" i="0" u="none" strike="noStrike" kern="0" cap="none" spc="0" normalizeH="0" baseline="0">
                <a:ln>
                  <a:noFill/>
                </a:ln>
                <a:solidFill>
                  <a:prstClr val="white"/>
                </a:solidFill>
                <a:effectLst/>
                <a:uLnTx/>
                <a:uFillTx/>
                <a:latin typeface="微軟正黑體" panose="020B0604030504040204" pitchFamily="34" charset="-120"/>
                <a:ea typeface="微軟正黑體" panose="020B0604030504040204" pitchFamily="34" charset="-120"/>
              </a:defRPr>
            </a:lvl1pPr>
          </a:lstStyle>
          <a:p>
            <a:r>
              <a:rPr lang="zh-TW" altLang="en-US" dirty="0"/>
              <a:t>國銀印度據點布局情形</a:t>
            </a:r>
          </a:p>
        </p:txBody>
      </p:sp>
      <p:graphicFrame>
        <p:nvGraphicFramePr>
          <p:cNvPr id="7" name="表格 6">
            <a:extLst>
              <a:ext uri="{FF2B5EF4-FFF2-40B4-BE49-F238E27FC236}">
                <a16:creationId xmlns:a16="http://schemas.microsoft.com/office/drawing/2014/main" id="{27429EBC-C15A-46AA-5F07-1B59B79F2BCD}"/>
              </a:ext>
            </a:extLst>
          </p:cNvPr>
          <p:cNvGraphicFramePr>
            <a:graphicFrameLocks noGrp="1"/>
          </p:cNvGraphicFramePr>
          <p:nvPr>
            <p:extLst>
              <p:ext uri="{D42A27DB-BD31-4B8C-83A1-F6EECF244321}">
                <p14:modId xmlns:p14="http://schemas.microsoft.com/office/powerpoint/2010/main" val="97361694"/>
              </p:ext>
            </p:extLst>
          </p:nvPr>
        </p:nvGraphicFramePr>
        <p:xfrm>
          <a:off x="6047998" y="3975325"/>
          <a:ext cx="5760000" cy="1920240"/>
        </p:xfrm>
        <a:graphic>
          <a:graphicData uri="http://schemas.openxmlformats.org/drawingml/2006/table">
            <a:tbl>
              <a:tblPr firstRow="1" bandRow="1">
                <a:tableStyleId>{5940675A-B579-460E-94D1-54222C63F5DA}</a:tableStyleId>
              </a:tblPr>
              <a:tblGrid>
                <a:gridCol w="1072993">
                  <a:extLst>
                    <a:ext uri="{9D8B030D-6E8A-4147-A177-3AD203B41FA5}">
                      <a16:colId xmlns:a16="http://schemas.microsoft.com/office/drawing/2014/main" val="4175419738"/>
                    </a:ext>
                  </a:extLst>
                </a:gridCol>
                <a:gridCol w="4687007">
                  <a:extLst>
                    <a:ext uri="{9D8B030D-6E8A-4147-A177-3AD203B41FA5}">
                      <a16:colId xmlns:a16="http://schemas.microsoft.com/office/drawing/2014/main" val="288048670"/>
                    </a:ext>
                  </a:extLst>
                </a:gridCol>
              </a:tblGrid>
              <a:tr h="0">
                <a:tc>
                  <a:txBody>
                    <a:bodyPr/>
                    <a:lstStyle/>
                    <a:p>
                      <a:pPr algn="ctr"/>
                      <a:r>
                        <a:rPr lang="zh-TW" altLang="en-US" sz="1050" b="1" dirty="0">
                          <a:latin typeface="微軟正黑體" panose="020B0604030504040204" pitchFamily="34" charset="-120"/>
                          <a:ea typeface="微軟正黑體" panose="020B0604030504040204" pitchFamily="34" charset="-120"/>
                        </a:rPr>
                        <a:t>國銀</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zh-TW" altLang="en-US" sz="1050" b="1" dirty="0">
                          <a:latin typeface="微軟正黑體" panose="020B0604030504040204" pitchFamily="34" charset="-120"/>
                          <a:ea typeface="微軟正黑體" panose="020B0604030504040204" pitchFamily="34" charset="-120"/>
                        </a:rPr>
                        <a:t>布局情形</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64938369"/>
                  </a:ext>
                </a:extLst>
              </a:tr>
              <a:tr h="125565">
                <a:tc>
                  <a:txBody>
                    <a:bodyPr/>
                    <a:lstStyle/>
                    <a:p>
                      <a:pPr algn="ctr"/>
                      <a:r>
                        <a:rPr lang="zh-TW" altLang="en-US" sz="1050" b="0" dirty="0">
                          <a:latin typeface="微軟正黑體" panose="020B0604030504040204" pitchFamily="34" charset="-120"/>
                          <a:ea typeface="微軟正黑體" panose="020B0604030504040204" pitchFamily="34" charset="-120"/>
                        </a:rPr>
                        <a:t>兆豐</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171450" indent="-171450" algn="l">
                        <a:buFont typeface="Arial" panose="020B0604020202020204" pitchFamily="34" charset="0"/>
                        <a:buChar char="•"/>
                      </a:pPr>
                      <a:r>
                        <a:rPr lang="zh-TW" altLang="en-US" sz="1050" dirty="0">
                          <a:latin typeface="微軟正黑體" panose="020B0604030504040204" pitchFamily="34" charset="-120"/>
                          <a:ea typeface="微軟正黑體" panose="020B0604030504040204" pitchFamily="34" charset="-120"/>
                        </a:rPr>
                        <a:t>已設立：孟買代表人辦事處</a:t>
                      </a:r>
                      <a:br>
                        <a:rPr lang="en-US" altLang="zh-TW" sz="1050" dirty="0">
                          <a:latin typeface="微軟正黑體" panose="020B0604030504040204" pitchFamily="34" charset="-120"/>
                          <a:ea typeface="微軟正黑體" panose="020B0604030504040204" pitchFamily="34" charset="-120"/>
                        </a:rPr>
                      </a:br>
                      <a:r>
                        <a:rPr lang="zh-TW" altLang="en-US" sz="1050" dirty="0">
                          <a:latin typeface="微軟正黑體" panose="020B0604030504040204" pitchFamily="34" charset="-120"/>
                          <a:ea typeface="微軟正黑體" panose="020B0604030504040204" pitchFamily="34" charset="-120"/>
                        </a:rPr>
                        <a:t>核准設立：</a:t>
                      </a:r>
                      <a:r>
                        <a:rPr lang="en-US" altLang="zh-TW" sz="1050" dirty="0">
                          <a:latin typeface="微軟正黑體" panose="020B0604030504040204" pitchFamily="34" charset="-120"/>
                          <a:ea typeface="微軟正黑體" panose="020B0604030504040204" pitchFamily="34" charset="-120"/>
                        </a:rPr>
                        <a:t>GIFT City</a:t>
                      </a:r>
                      <a:r>
                        <a:rPr lang="zh-TW" altLang="en-US" sz="1050" dirty="0">
                          <a:latin typeface="微軟正黑體" panose="020B0604030504040204" pitchFamily="34" charset="-120"/>
                          <a:ea typeface="微軟正黑體" panose="020B0604030504040204" pitchFamily="34" charset="-120"/>
                        </a:rPr>
                        <a:t>分行</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54835800"/>
                  </a:ext>
                </a:extLst>
              </a:tr>
              <a:tr h="0">
                <a:tc>
                  <a:txBody>
                    <a:bodyPr/>
                    <a:lstStyle/>
                    <a:p>
                      <a:pPr algn="ctr"/>
                      <a:r>
                        <a:rPr lang="zh-TW" altLang="en-US" sz="1050" b="0" dirty="0">
                          <a:latin typeface="微軟正黑體" panose="020B0604030504040204" pitchFamily="34" charset="-120"/>
                          <a:ea typeface="微軟正黑體" panose="020B0604030504040204" pitchFamily="34" charset="-120"/>
                        </a:rPr>
                        <a:t>中信</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171450" indent="-171450" algn="l">
                        <a:buFont typeface="Arial" panose="020B0604020202020204" pitchFamily="34" charset="0"/>
                        <a:buChar char="•"/>
                      </a:pPr>
                      <a:r>
                        <a:rPr lang="zh-TW" altLang="en-US" sz="1050" dirty="0">
                          <a:latin typeface="微軟正黑體" panose="020B0604030504040204" pitchFamily="34" charset="-120"/>
                          <a:ea typeface="微軟正黑體" panose="020B0604030504040204" pitchFamily="34" charset="-120"/>
                        </a:rPr>
                        <a:t>新德里分行、卡圖帕克姆分行、</a:t>
                      </a:r>
                      <a:r>
                        <a:rPr lang="en-US" altLang="zh-TW" sz="1050" dirty="0">
                          <a:latin typeface="微軟正黑體" panose="020B0604030504040204" pitchFamily="34" charset="-120"/>
                          <a:ea typeface="微軟正黑體" panose="020B0604030504040204" pitchFamily="34" charset="-120"/>
                        </a:rPr>
                        <a:t>GIFT City</a:t>
                      </a:r>
                      <a:r>
                        <a:rPr lang="zh-TW" altLang="en-US" sz="1050" dirty="0">
                          <a:latin typeface="微軟正黑體" panose="020B0604030504040204" pitchFamily="34" charset="-120"/>
                          <a:ea typeface="微軟正黑體" panose="020B0604030504040204" pitchFamily="34" charset="-120"/>
                        </a:rPr>
                        <a:t>分行</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85193378"/>
                  </a:ext>
                </a:extLst>
              </a:tr>
              <a:tr h="0">
                <a:tc>
                  <a:txBody>
                    <a:bodyPr/>
                    <a:lstStyle/>
                    <a:p>
                      <a:pPr algn="ctr"/>
                      <a:r>
                        <a:rPr lang="zh-TW" altLang="en-US" sz="1050" b="0" dirty="0">
                          <a:latin typeface="微軟正黑體" panose="020B0604030504040204" pitchFamily="34" charset="-120"/>
                          <a:ea typeface="微軟正黑體" panose="020B0604030504040204" pitchFamily="34" charset="-120"/>
                        </a:rPr>
                        <a:t>台銀</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171450" indent="-171450" algn="l">
                        <a:buFont typeface="Arial" panose="020B0604020202020204" pitchFamily="34" charset="0"/>
                        <a:buChar char="•"/>
                      </a:pPr>
                      <a:r>
                        <a:rPr lang="zh-TW" altLang="en-US" sz="1050" dirty="0">
                          <a:latin typeface="微軟正黑體" panose="020B0604030504040204" pitchFamily="34" charset="-120"/>
                          <a:ea typeface="微軟正黑體" panose="020B0604030504040204" pitchFamily="34" charset="-120"/>
                        </a:rPr>
                        <a:t>孟買代表人辦事處</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74799135"/>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050" b="0" dirty="0">
                          <a:latin typeface="微軟正黑體" panose="020B0604030504040204" pitchFamily="34" charset="-120"/>
                          <a:ea typeface="微軟正黑體" panose="020B0604030504040204" pitchFamily="34" charset="-120"/>
                        </a:rPr>
                        <a:t>北富銀</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171450" indent="-171450" algn="l">
                        <a:buFont typeface="Arial" panose="020B0604020202020204" pitchFamily="34" charset="0"/>
                        <a:buChar char="•"/>
                      </a:pPr>
                      <a:r>
                        <a:rPr lang="zh-TW" altLang="en-US" sz="1050" dirty="0">
                          <a:latin typeface="微軟正黑體" panose="020B0604030504040204" pitchFamily="34" charset="-120"/>
                          <a:ea typeface="微軟正黑體" panose="020B0604030504040204" pitchFamily="34" charset="-120"/>
                        </a:rPr>
                        <a:t>印度主管機關核准中：</a:t>
                      </a:r>
                      <a:r>
                        <a:rPr lang="en-US" altLang="zh-TW" sz="1050" dirty="0">
                          <a:latin typeface="微軟正黑體" panose="020B0604030504040204" pitchFamily="34" charset="-120"/>
                          <a:ea typeface="微軟正黑體" panose="020B0604030504040204" pitchFamily="34" charset="-120"/>
                        </a:rPr>
                        <a:t>GIFT City</a:t>
                      </a:r>
                      <a:r>
                        <a:rPr lang="zh-TW" altLang="en-US" sz="1050" dirty="0">
                          <a:latin typeface="微軟正黑體" panose="020B0604030504040204" pitchFamily="34" charset="-120"/>
                          <a:ea typeface="微軟正黑體" panose="020B0604030504040204" pitchFamily="34" charset="-120"/>
                        </a:rPr>
                        <a:t>分行</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52100806"/>
                  </a:ext>
                </a:extLst>
              </a:tr>
              <a:tr h="0">
                <a:tc>
                  <a:txBody>
                    <a:bodyPr/>
                    <a:lstStyle/>
                    <a:p>
                      <a:pPr algn="ctr"/>
                      <a:r>
                        <a:rPr lang="zh-TW" altLang="en-US" sz="1050" b="0" dirty="0">
                          <a:latin typeface="微軟正黑體" panose="020B0604030504040204" pitchFamily="34" charset="-120"/>
                          <a:ea typeface="微軟正黑體" panose="020B0604030504040204" pitchFamily="34" charset="-120"/>
                        </a:rPr>
                        <a:t>玉山</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1050" dirty="0">
                          <a:latin typeface="微軟正黑體" panose="020B0604030504040204" pitchFamily="34" charset="-120"/>
                          <a:ea typeface="微軟正黑體" panose="020B0604030504040204" pitchFamily="34" charset="-120"/>
                        </a:rPr>
                        <a:t>印度主管機關核准中：孟買分行</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91751816"/>
                  </a:ext>
                </a:extLst>
              </a:tr>
              <a:tr h="0">
                <a:tc>
                  <a:txBody>
                    <a:bodyPr/>
                    <a:lstStyle/>
                    <a:p>
                      <a:pPr algn="ctr"/>
                      <a:r>
                        <a:rPr lang="zh-TW" altLang="en-US" sz="1050" b="0" dirty="0">
                          <a:latin typeface="微軟正黑體" panose="020B0604030504040204" pitchFamily="34" charset="-120"/>
                          <a:ea typeface="微軟正黑體" panose="020B0604030504040204" pitchFamily="34" charset="-120"/>
                        </a:rPr>
                        <a:t>國泰</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lgn="l">
                        <a:buFont typeface="Arial" panose="020B0604020202020204" pitchFamily="34" charset="0"/>
                        <a:buChar char="•"/>
                      </a:pPr>
                      <a:r>
                        <a:rPr lang="zh-TW" altLang="en-US" sz="1050" dirty="0">
                          <a:latin typeface="微軟正黑體" panose="020B0604030504040204" pitchFamily="34" charset="-120"/>
                          <a:ea typeface="微軟正黑體" panose="020B0604030504040204" pitchFamily="34" charset="-120"/>
                        </a:rPr>
                        <a:t>印度主管機關核准中：孟買分行</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5210192"/>
                  </a:ext>
                </a:extLst>
              </a:tr>
            </a:tbl>
          </a:graphicData>
        </a:graphic>
      </p:graphicFrame>
      <p:sp>
        <p:nvSpPr>
          <p:cNvPr id="9" name="文字方塊 8">
            <a:extLst>
              <a:ext uri="{FF2B5EF4-FFF2-40B4-BE49-F238E27FC236}">
                <a16:creationId xmlns:a16="http://schemas.microsoft.com/office/drawing/2014/main" id="{1415ED48-A6A0-4DA8-94E7-9DEC470329FD}"/>
              </a:ext>
            </a:extLst>
          </p:cNvPr>
          <p:cNvSpPr txBox="1"/>
          <p:nvPr/>
        </p:nvSpPr>
        <p:spPr>
          <a:xfrm>
            <a:off x="10716171" y="3657110"/>
            <a:ext cx="1304650" cy="230832"/>
          </a:xfrm>
          <a:prstGeom prst="rect">
            <a:avLst/>
          </a:prstGeom>
          <a:noFill/>
        </p:spPr>
        <p:txBody>
          <a:bodyPr wrap="square">
            <a:spAutoFit/>
          </a:bodyPr>
          <a:lstStyle/>
          <a:p>
            <a:r>
              <a:rPr lang="zh-TW" altLang="en-US" sz="900" dirty="0">
                <a:solidFill>
                  <a:schemeClr val="bg1"/>
                </a:solidFill>
                <a:latin typeface="微軟正黑體" panose="020B0604030504040204" pitchFamily="34" charset="-120"/>
                <a:ea typeface="微軟正黑體" panose="020B0604030504040204" pitchFamily="34" charset="-120"/>
              </a:rPr>
              <a:t>資料來源：金管會</a:t>
            </a:r>
            <a:endParaRPr lang="zh-TW" altLang="en-US" sz="2000" dirty="0">
              <a:solidFill>
                <a:schemeClr val="bg1"/>
              </a:solidFill>
              <a:latin typeface="微軟正黑體" panose="020B0604030504040204" pitchFamily="34" charset="-120"/>
              <a:ea typeface="微軟正黑體" panose="020B0604030504040204" pitchFamily="34" charset="-120"/>
            </a:endParaRPr>
          </a:p>
        </p:txBody>
      </p:sp>
      <p:graphicFrame>
        <p:nvGraphicFramePr>
          <p:cNvPr id="6" name="表格 5">
            <a:extLst>
              <a:ext uri="{FF2B5EF4-FFF2-40B4-BE49-F238E27FC236}">
                <a16:creationId xmlns:a16="http://schemas.microsoft.com/office/drawing/2014/main" id="{D3DEF1F2-12DB-1605-FC49-316E3FB98F39}"/>
              </a:ext>
            </a:extLst>
          </p:cNvPr>
          <p:cNvGraphicFramePr>
            <a:graphicFrameLocks noGrp="1"/>
          </p:cNvGraphicFramePr>
          <p:nvPr>
            <p:extLst>
              <p:ext uri="{D42A27DB-BD31-4B8C-83A1-F6EECF244321}">
                <p14:modId xmlns:p14="http://schemas.microsoft.com/office/powerpoint/2010/main" val="41565390"/>
              </p:ext>
            </p:extLst>
          </p:nvPr>
        </p:nvGraphicFramePr>
        <p:xfrm>
          <a:off x="6047998" y="5963070"/>
          <a:ext cx="5760000" cy="1668780"/>
        </p:xfrm>
        <a:graphic>
          <a:graphicData uri="http://schemas.openxmlformats.org/drawingml/2006/table">
            <a:tbl>
              <a:tblPr firstRow="1" bandRow="1">
                <a:tableStyleId>{5940675A-B579-460E-94D1-54222C63F5DA}</a:tableStyleId>
              </a:tblPr>
              <a:tblGrid>
                <a:gridCol w="1515030">
                  <a:extLst>
                    <a:ext uri="{9D8B030D-6E8A-4147-A177-3AD203B41FA5}">
                      <a16:colId xmlns:a16="http://schemas.microsoft.com/office/drawing/2014/main" val="4175419738"/>
                    </a:ext>
                  </a:extLst>
                </a:gridCol>
                <a:gridCol w="837488">
                  <a:extLst>
                    <a:ext uri="{9D8B030D-6E8A-4147-A177-3AD203B41FA5}">
                      <a16:colId xmlns:a16="http://schemas.microsoft.com/office/drawing/2014/main" val="288048670"/>
                    </a:ext>
                  </a:extLst>
                </a:gridCol>
                <a:gridCol w="3407482">
                  <a:extLst>
                    <a:ext uri="{9D8B030D-6E8A-4147-A177-3AD203B41FA5}">
                      <a16:colId xmlns:a16="http://schemas.microsoft.com/office/drawing/2014/main" val="1228318898"/>
                    </a:ext>
                  </a:extLst>
                </a:gridCol>
              </a:tblGrid>
              <a:tr h="173668">
                <a:tc>
                  <a:txBody>
                    <a:bodyPr/>
                    <a:lstStyle/>
                    <a:p>
                      <a:pPr algn="ctr"/>
                      <a:r>
                        <a:rPr lang="zh-TW" altLang="en-US" sz="1050" b="1" dirty="0">
                          <a:latin typeface="微軟正黑體" panose="020B0604030504040204" pitchFamily="34" charset="-120"/>
                          <a:ea typeface="微軟正黑體" panose="020B0604030504040204" pitchFamily="34" charset="-120"/>
                        </a:rPr>
                        <a:t>類型</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zh-TW" altLang="en-US" sz="1050" b="1" dirty="0">
                          <a:latin typeface="微軟正黑體" panose="020B0604030504040204" pitchFamily="34" charset="-120"/>
                          <a:ea typeface="微軟正黑體" panose="020B0604030504040204" pitchFamily="34" charset="-120"/>
                        </a:rPr>
                        <a:t>數量</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zh-TW" altLang="en-US" sz="1050" b="1" dirty="0">
                          <a:latin typeface="微軟正黑體" panose="020B0604030504040204" pitchFamily="34" charset="-120"/>
                          <a:ea typeface="微軟正黑體" panose="020B0604030504040204" pitchFamily="34" charset="-120"/>
                        </a:rPr>
                        <a:t>國銀</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64938369"/>
                  </a:ext>
                </a:extLst>
              </a:tr>
              <a:tr h="173668">
                <a:tc>
                  <a:txBody>
                    <a:bodyPr/>
                    <a:lstStyle/>
                    <a:p>
                      <a:pPr algn="ctr"/>
                      <a:r>
                        <a:rPr lang="zh-TW" altLang="en-US" sz="1050" b="0" dirty="0">
                          <a:latin typeface="微軟正黑體" panose="020B0604030504040204" pitchFamily="34" charset="-120"/>
                          <a:ea typeface="微軟正黑體" panose="020B0604030504040204" pitchFamily="34" charset="-120"/>
                        </a:rPr>
                        <a:t>馬尼拉辦事處</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en-US" altLang="zh-TW" sz="1050" dirty="0">
                          <a:latin typeface="微軟正黑體" panose="020B0604030504040204" pitchFamily="34" charset="-120"/>
                          <a:ea typeface="微軟正黑體" panose="020B0604030504040204" pitchFamily="34" charset="-120"/>
                        </a:rPr>
                        <a:t>1</a:t>
                      </a:r>
                      <a:endParaRPr lang="zh-TW" altLang="en-US" sz="1050" dirty="0">
                        <a:latin typeface="微軟正黑體" panose="020B0604030504040204" pitchFamily="34" charset="-120"/>
                        <a:ea typeface="微軟正黑體" panose="020B0604030504040204" pitchFamily="34" charset="-12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lang="zh-TW" altLang="en-US" sz="1050" dirty="0">
                          <a:latin typeface="微軟正黑體" panose="020B0604030504040204" pitchFamily="34" charset="-120"/>
                          <a:ea typeface="微軟正黑體" panose="020B0604030504040204" pitchFamily="34" charset="-120"/>
                        </a:rPr>
                        <a:t>臺銀</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54835800"/>
                  </a:ext>
                </a:extLst>
              </a:tr>
              <a:tr h="173668">
                <a:tc>
                  <a:txBody>
                    <a:bodyPr/>
                    <a:lstStyle/>
                    <a:p>
                      <a:pPr algn="ctr"/>
                      <a:r>
                        <a:rPr lang="zh-TW" altLang="en-US" sz="1050" b="0" dirty="0">
                          <a:latin typeface="微軟正黑體" panose="020B0604030504040204" pitchFamily="34" charset="-120"/>
                          <a:ea typeface="微軟正黑體" panose="020B0604030504040204" pitchFamily="34" charset="-120"/>
                        </a:rPr>
                        <a:t>馬尼拉分行</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en-US" altLang="zh-TW" sz="1050" dirty="0">
                          <a:latin typeface="微軟正黑體" panose="020B0604030504040204" pitchFamily="34" charset="-120"/>
                          <a:ea typeface="微軟正黑體" panose="020B0604030504040204" pitchFamily="34" charset="-120"/>
                        </a:rPr>
                        <a:t>6</a:t>
                      </a:r>
                      <a:endParaRPr lang="zh-TW" altLang="en-US" sz="1050" dirty="0">
                        <a:latin typeface="微軟正黑體" panose="020B0604030504040204" pitchFamily="34" charset="-120"/>
                        <a:ea typeface="微軟正黑體" panose="020B0604030504040204" pitchFamily="34" charset="-12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lang="zh-TW" altLang="en-US" sz="1050" dirty="0">
                          <a:latin typeface="微軟正黑體" panose="020B0604030504040204" pitchFamily="34" charset="-120"/>
                          <a:ea typeface="微軟正黑體" panose="020B0604030504040204" pitchFamily="34" charset="-120"/>
                        </a:rPr>
                        <a:t>合庫、一銀、華銀、彰銀、國泰、兆豐</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85193378"/>
                  </a:ext>
                </a:extLst>
              </a:tr>
              <a:tr h="284184">
                <a:tc>
                  <a:txBody>
                    <a:bodyPr/>
                    <a:lstStyle/>
                    <a:p>
                      <a:pPr algn="ctr"/>
                      <a:r>
                        <a:rPr lang="zh-TW" altLang="en-US" sz="1050" b="0" dirty="0">
                          <a:latin typeface="微軟正黑體" panose="020B0604030504040204" pitchFamily="34" charset="-120"/>
                          <a:ea typeface="微軟正黑體" panose="020B0604030504040204" pitchFamily="34" charset="-120"/>
                        </a:rPr>
                        <a:t>子行</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en-US" altLang="zh-TW" sz="1050" dirty="0">
                          <a:latin typeface="微軟正黑體" panose="020B0604030504040204" pitchFamily="34" charset="-120"/>
                          <a:ea typeface="微軟正黑體" panose="020B0604030504040204" pitchFamily="34" charset="-120"/>
                        </a:rPr>
                        <a:t>2</a:t>
                      </a:r>
                      <a:endParaRPr lang="zh-TW" altLang="en-US" sz="1050" dirty="0">
                        <a:latin typeface="微軟正黑體" panose="020B0604030504040204" pitchFamily="34" charset="-120"/>
                        <a:ea typeface="微軟正黑體" panose="020B0604030504040204" pitchFamily="34" charset="-12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171450" indent="-171450" algn="l">
                        <a:buFont typeface="Arial" panose="020B0604020202020204" pitchFamily="34" charset="0"/>
                        <a:buChar char="•"/>
                      </a:pPr>
                      <a:r>
                        <a:rPr lang="zh-TW" altLang="en-US" sz="1050" dirty="0">
                          <a:latin typeface="微軟正黑體" panose="020B0604030504040204" pitchFamily="34" charset="-120"/>
                          <a:ea typeface="微軟正黑體" panose="020B0604030504040204" pitchFamily="34" charset="-120"/>
                        </a:rPr>
                        <a:t>元大：元大儲蓄銀行</a:t>
                      </a:r>
                      <a:r>
                        <a:rPr lang="en-US" altLang="zh-TW" sz="1050" dirty="0">
                          <a:latin typeface="微軟正黑體" panose="020B0604030504040204" pitchFamily="34" charset="-120"/>
                          <a:ea typeface="微軟正黑體" panose="020B0604030504040204" pitchFamily="34" charset="-120"/>
                        </a:rPr>
                        <a:t>(</a:t>
                      </a:r>
                      <a:r>
                        <a:rPr lang="zh-TW" altLang="en-US" sz="1050" dirty="0">
                          <a:latin typeface="微軟正黑體" panose="020B0604030504040204" pitchFamily="34" charset="-120"/>
                          <a:ea typeface="微軟正黑體" panose="020B0604030504040204" pitchFamily="34" charset="-120"/>
                        </a:rPr>
                        <a:t>菲律賓</a:t>
                      </a:r>
                      <a:r>
                        <a:rPr lang="en-US" altLang="zh-TW" sz="1050" dirty="0">
                          <a:latin typeface="微軟正黑體" panose="020B0604030504040204" pitchFamily="34" charset="-120"/>
                          <a:ea typeface="微軟正黑體" panose="020B0604030504040204" pitchFamily="34" charset="-120"/>
                        </a:rPr>
                        <a:t>)</a:t>
                      </a:r>
                    </a:p>
                    <a:p>
                      <a:pPr marL="171450" indent="-171450" algn="l">
                        <a:buFont typeface="Arial" panose="020B0604020202020204" pitchFamily="34" charset="0"/>
                        <a:buChar char="•"/>
                      </a:pPr>
                      <a:r>
                        <a:rPr lang="zh-TW" altLang="en-US" sz="1050" dirty="0">
                          <a:latin typeface="微軟正黑體" panose="020B0604030504040204" pitchFamily="34" charset="-120"/>
                          <a:ea typeface="微軟正黑體" panose="020B0604030504040204" pitchFamily="34" charset="-120"/>
                        </a:rPr>
                        <a:t>中信：中信菲律賓子行</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74799135"/>
                  </a:ext>
                </a:extLst>
              </a:tr>
              <a:tr h="173668">
                <a:tc>
                  <a:txBody>
                    <a:bodyPr/>
                    <a:lstStyle/>
                    <a:p>
                      <a:pPr algn="ctr"/>
                      <a:r>
                        <a:rPr lang="zh-TW" altLang="en-US" sz="1050" b="0" dirty="0">
                          <a:latin typeface="微軟正黑體" panose="020B0604030504040204" pitchFamily="34" charset="-120"/>
                          <a:ea typeface="微軟正黑體" panose="020B0604030504040204" pitchFamily="34" charset="-120"/>
                        </a:rPr>
                        <a:t>子行設立之分、支行</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050" dirty="0">
                          <a:latin typeface="微軟正黑體" panose="020B0604030504040204" pitchFamily="34" charset="-120"/>
                          <a:ea typeface="微軟正黑體" panose="020B0604030504040204" pitchFamily="34" charset="-120"/>
                        </a:rPr>
                        <a:t>25</a:t>
                      </a:r>
                      <a:endParaRPr lang="zh-TW" altLang="en-US" sz="1050" dirty="0">
                        <a:latin typeface="微軟正黑體" panose="020B0604030504040204" pitchFamily="34" charset="-120"/>
                        <a:ea typeface="微軟正黑體" panose="020B0604030504040204" pitchFamily="34" charset="-12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050" dirty="0">
                          <a:latin typeface="微軟正黑體" panose="020B0604030504040204" pitchFamily="34" charset="-120"/>
                          <a:ea typeface="微軟正黑體" panose="020B0604030504040204" pitchFamily="34" charset="-120"/>
                        </a:rPr>
                        <a:t>中信</a:t>
                      </a:r>
                      <a:r>
                        <a:rPr lang="en-US" altLang="zh-TW" sz="1050" dirty="0">
                          <a:latin typeface="微軟正黑體" panose="020B0604030504040204" pitchFamily="34" charset="-120"/>
                          <a:ea typeface="微軟正黑體" panose="020B0604030504040204" pitchFamily="34" charset="-120"/>
                        </a:rPr>
                        <a:t>-</a:t>
                      </a:r>
                      <a:r>
                        <a:rPr lang="zh-TW" altLang="en-US" sz="1050" dirty="0">
                          <a:latin typeface="微軟正黑體" panose="020B0604030504040204" pitchFamily="34" charset="-120"/>
                          <a:ea typeface="微軟正黑體" panose="020B0604030504040204" pitchFamily="34" charset="-120"/>
                        </a:rPr>
                        <a:t>中信菲律賓子行：設有</a:t>
                      </a:r>
                      <a:r>
                        <a:rPr lang="en-US" altLang="zh-TW" sz="1050" dirty="0">
                          <a:latin typeface="微軟正黑體" panose="020B0604030504040204" pitchFamily="34" charset="-120"/>
                          <a:ea typeface="微軟正黑體" panose="020B0604030504040204" pitchFamily="34" charset="-120"/>
                        </a:rPr>
                        <a:t>25</a:t>
                      </a:r>
                      <a:r>
                        <a:rPr lang="zh-TW" altLang="en-US" sz="1050" dirty="0">
                          <a:latin typeface="微軟正黑體" panose="020B0604030504040204" pitchFamily="34" charset="-120"/>
                          <a:ea typeface="微軟正黑體" panose="020B0604030504040204" pitchFamily="34" charset="-120"/>
                        </a:rPr>
                        <a:t>處分行。</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5210192"/>
                  </a:ext>
                </a:extLst>
              </a:tr>
              <a:tr h="173668">
                <a:tc>
                  <a:txBody>
                    <a:bodyPr/>
                    <a:lstStyle/>
                    <a:p>
                      <a:pPr algn="ctr"/>
                      <a:r>
                        <a:rPr lang="zh-TW" altLang="en-US" sz="1050" b="1" dirty="0">
                          <a:latin typeface="微軟正黑體" panose="020B0604030504040204" pitchFamily="34" charset="-120"/>
                          <a:ea typeface="微軟正黑體" panose="020B0604030504040204" pitchFamily="34" charset="-120"/>
                        </a:rPr>
                        <a:t>總計</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en-US" altLang="zh-TW" sz="1050" dirty="0">
                          <a:latin typeface="微軟正黑體" panose="020B0604030504040204" pitchFamily="34" charset="-120"/>
                          <a:ea typeface="微軟正黑體" panose="020B0604030504040204" pitchFamily="34" charset="-120"/>
                        </a:rPr>
                        <a:t>34</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l"/>
                      <a:r>
                        <a:rPr lang="en-US" altLang="zh-TW" sz="1050" dirty="0">
                          <a:latin typeface="微軟正黑體" panose="020B0604030504040204" pitchFamily="34" charset="-120"/>
                          <a:ea typeface="微軟正黑體" panose="020B0604030504040204" pitchFamily="34" charset="-120"/>
                        </a:rPr>
                        <a:t>-</a:t>
                      </a:r>
                      <a:endParaRPr lang="zh-TW" altLang="en-US" sz="1050" dirty="0">
                        <a:latin typeface="微軟正黑體" panose="020B0604030504040204" pitchFamily="34" charset="-120"/>
                        <a:ea typeface="微軟正黑體" panose="020B0604030504040204" pitchFamily="34" charset="-12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95031426"/>
                  </a:ext>
                </a:extLst>
              </a:tr>
            </a:tbl>
          </a:graphicData>
        </a:graphic>
      </p:graphicFrame>
    </p:spTree>
    <p:extLst>
      <p:ext uri="{BB962C8B-B14F-4D97-AF65-F5344CB8AC3E}">
        <p14:creationId xmlns:p14="http://schemas.microsoft.com/office/powerpoint/2010/main" val="82435465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80E15-073A-FB0D-119A-1F2CC31CB392}"/>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8070A4A3-F8E4-D475-519B-DA8D4F2B46CF}"/>
              </a:ext>
            </a:extLst>
          </p:cNvPr>
          <p:cNvSpPr txBox="1"/>
          <p:nvPr/>
        </p:nvSpPr>
        <p:spPr>
          <a:xfrm>
            <a:off x="311920" y="314805"/>
            <a:ext cx="5830463" cy="396919"/>
          </a:xfrm>
          <a:prstGeom prst="rect">
            <a:avLst/>
          </a:prstGeom>
          <a:solidFill>
            <a:srgbClr val="CC99FF"/>
          </a:solidFill>
          <a:ln w="6350" cap="flat" cmpd="sng" algn="ctr">
            <a:solidFill>
              <a:srgbClr val="CC99FF"/>
            </a:solidFill>
            <a:prstDash val="solid"/>
            <a:miter lim="800000"/>
          </a:ln>
          <a:effectLst/>
        </p:spPr>
        <p:txBody>
          <a:bodyPr wrap="square">
            <a:noAutofit/>
          </a:bodyPr>
          <a:lstStyle>
            <a:defPPr>
              <a:defRPr lang="en-US"/>
            </a:defPPr>
            <a:lvl1pPr marR="0" lvl="0" indent="0">
              <a:lnSpc>
                <a:spcPct val="100000"/>
              </a:lnSpc>
              <a:spcBef>
                <a:spcPts val="0"/>
              </a:spcBef>
              <a:spcAft>
                <a:spcPts val="0"/>
              </a:spcAft>
              <a:buClrTx/>
              <a:buSzTx/>
              <a:buFontTx/>
              <a:buNone/>
              <a:tabLst/>
              <a:defRPr sz="2000" i="0">
                <a:solidFill>
                  <a:srgbClr val="000000"/>
                </a:solidFill>
                <a:effectLst/>
                <a:latin typeface="Noto Sans TC"/>
                <a:ea typeface="微軟正黑體" panose="020B0604030504040204" pitchFamily="34" charset="-120"/>
              </a:defRPr>
            </a:lvl1pPr>
          </a:lstStyle>
          <a:p>
            <a:r>
              <a:rPr lang="zh-TW" altLang="en-US" dirty="0"/>
              <a:t>機器人理財家數減少 金管會：資產規模仍持續成長</a:t>
            </a:r>
          </a:p>
        </p:txBody>
      </p:sp>
      <p:sp>
        <p:nvSpPr>
          <p:cNvPr id="2" name="文字方塊 1">
            <a:extLst>
              <a:ext uri="{FF2B5EF4-FFF2-40B4-BE49-F238E27FC236}">
                <a16:creationId xmlns:a16="http://schemas.microsoft.com/office/drawing/2014/main" id="{F577163E-EBDF-AF49-AF4A-FF26475146A2}"/>
              </a:ext>
            </a:extLst>
          </p:cNvPr>
          <p:cNvSpPr txBox="1"/>
          <p:nvPr/>
        </p:nvSpPr>
        <p:spPr>
          <a:xfrm>
            <a:off x="144000" y="864000"/>
            <a:ext cx="5760000" cy="5462909"/>
          </a:xfrm>
          <a:prstGeom prst="rect">
            <a:avLst/>
          </a:prstGeom>
          <a:solidFill>
            <a:sysClr val="window" lastClr="FFFFFF"/>
          </a:solidFill>
          <a:ln w="12700" cap="flat" cmpd="sng" algn="ctr">
            <a:solidFill>
              <a:srgbClr val="CC99FF"/>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TW" altLang="en-US" b="0" dirty="0"/>
              <a:t>金管會統計顯示，</a:t>
            </a:r>
            <a:r>
              <a:rPr lang="zh-TW" altLang="en-US" dirty="0">
                <a:solidFill>
                  <a:srgbClr val="C00000"/>
                </a:solidFill>
              </a:rPr>
              <a:t>截至今年</a:t>
            </a:r>
            <a:r>
              <a:rPr lang="en-US" altLang="zh-TW" dirty="0">
                <a:solidFill>
                  <a:srgbClr val="C00000"/>
                </a:solidFill>
              </a:rPr>
              <a:t>2</a:t>
            </a:r>
            <a:r>
              <a:rPr lang="zh-TW" altLang="en-US" dirty="0">
                <a:solidFill>
                  <a:srgbClr val="C00000"/>
                </a:solidFill>
              </a:rPr>
              <a:t>月底，機器人理財家數合計</a:t>
            </a:r>
            <a:r>
              <a:rPr lang="en-US" altLang="zh-TW" dirty="0">
                <a:solidFill>
                  <a:srgbClr val="C00000"/>
                </a:solidFill>
              </a:rPr>
              <a:t>16</a:t>
            </a:r>
            <a:r>
              <a:rPr lang="zh-TW" altLang="en-US" dirty="0">
                <a:solidFill>
                  <a:srgbClr val="C00000"/>
                </a:solidFill>
              </a:rPr>
              <a:t>家，客戶數為</a:t>
            </a:r>
            <a:r>
              <a:rPr lang="en-US" altLang="zh-TW" dirty="0">
                <a:solidFill>
                  <a:srgbClr val="C00000"/>
                </a:solidFill>
              </a:rPr>
              <a:t>24</a:t>
            </a:r>
            <a:r>
              <a:rPr lang="zh-TW" altLang="en-US" dirty="0">
                <a:solidFill>
                  <a:srgbClr val="C00000"/>
                </a:solidFill>
              </a:rPr>
              <a:t>萬</a:t>
            </a:r>
            <a:r>
              <a:rPr lang="en-US" altLang="zh-TW" dirty="0">
                <a:solidFill>
                  <a:srgbClr val="C00000"/>
                </a:solidFill>
              </a:rPr>
              <a:t>1967</a:t>
            </a:r>
            <a:r>
              <a:rPr lang="zh-TW" altLang="en-US" dirty="0">
                <a:solidFill>
                  <a:srgbClr val="C00000"/>
                </a:solidFill>
              </a:rPr>
              <a:t>人，資產規模新台幣</a:t>
            </a:r>
            <a:r>
              <a:rPr lang="en-US" altLang="zh-TW" dirty="0">
                <a:solidFill>
                  <a:srgbClr val="C00000"/>
                </a:solidFill>
              </a:rPr>
              <a:t>161.39</a:t>
            </a:r>
            <a:r>
              <a:rPr lang="zh-TW" altLang="en-US" dirty="0">
                <a:solidFill>
                  <a:srgbClr val="C00000"/>
                </a:solidFill>
              </a:rPr>
              <a:t>億元。金管會說明，雖家數較去年同期減少</a:t>
            </a:r>
            <a:r>
              <a:rPr lang="en-US" altLang="zh-TW" dirty="0">
                <a:solidFill>
                  <a:srgbClr val="C00000"/>
                </a:solidFill>
              </a:rPr>
              <a:t>1</a:t>
            </a:r>
            <a:r>
              <a:rPr lang="zh-TW" altLang="en-US" dirty="0">
                <a:solidFill>
                  <a:srgbClr val="C00000"/>
                </a:solidFill>
              </a:rPr>
              <a:t>家，不過客戶數、資產規模持續成長，目前也有</a:t>
            </a:r>
            <a:r>
              <a:rPr lang="en-US" altLang="zh-TW" dirty="0">
                <a:solidFill>
                  <a:srgbClr val="C00000"/>
                </a:solidFill>
              </a:rPr>
              <a:t>1</a:t>
            </a:r>
            <a:r>
              <a:rPr lang="zh-TW" altLang="en-US" dirty="0">
                <a:solidFill>
                  <a:srgbClr val="C00000"/>
                </a:solidFill>
              </a:rPr>
              <a:t>家業者提出申請，公會審查中</a:t>
            </a:r>
            <a:r>
              <a:rPr lang="zh-TW" altLang="en-US" b="0" dirty="0"/>
              <a:t>。</a:t>
            </a:r>
          </a:p>
          <a:p>
            <a:r>
              <a:rPr lang="zh-TW" altLang="en-US" b="0" dirty="0"/>
              <a:t>自動化投資顧問服務（</a:t>
            </a:r>
            <a:r>
              <a:rPr lang="en-US" altLang="zh-TW" b="0" dirty="0"/>
              <a:t>Robo-Advisor</a:t>
            </a:r>
            <a:r>
              <a:rPr lang="zh-TW" altLang="en-US" b="0" dirty="0"/>
              <a:t>）又稱為「機器人理財」或「智能投顧」，是指應用</a:t>
            </a:r>
            <a:r>
              <a:rPr lang="en-US" altLang="zh-TW" b="0" dirty="0"/>
              <a:t>AI</a:t>
            </a:r>
            <a:r>
              <a:rPr lang="zh-TW" altLang="en-US" b="0" dirty="0"/>
              <a:t>及大數據分析提供客戶投資理財建議的顧問服務，和客戶經由網路互動，全無或極少以人工進行。國內業者自</a:t>
            </a:r>
            <a:r>
              <a:rPr lang="en-US" altLang="zh-TW" b="0" dirty="0"/>
              <a:t>2018</a:t>
            </a:r>
            <a:r>
              <a:rPr lang="zh-TW" altLang="en-US" b="0" dirty="0"/>
              <a:t>年</a:t>
            </a:r>
            <a:r>
              <a:rPr lang="en-US" altLang="zh-TW" b="0" dirty="0"/>
              <a:t>1</a:t>
            </a:r>
            <a:r>
              <a:rPr lang="zh-TW" altLang="en-US" b="0" dirty="0"/>
              <a:t>月開始提供自動化投資顧問服務。</a:t>
            </a:r>
          </a:p>
          <a:p>
            <a:r>
              <a:rPr lang="zh-TW" altLang="en-US" b="0" dirty="0"/>
              <a:t>觀察機器人理財規模變化，</a:t>
            </a:r>
            <a:r>
              <a:rPr lang="zh-TW" altLang="en-US" dirty="0">
                <a:solidFill>
                  <a:srgbClr val="0070C0"/>
                </a:solidFill>
              </a:rPr>
              <a:t>從</a:t>
            </a:r>
            <a:r>
              <a:rPr lang="en-US" altLang="zh-TW" dirty="0">
                <a:solidFill>
                  <a:srgbClr val="0070C0"/>
                </a:solidFill>
              </a:rPr>
              <a:t>2018</a:t>
            </a:r>
            <a:r>
              <a:rPr lang="zh-TW" altLang="en-US" dirty="0">
                <a:solidFill>
                  <a:srgbClr val="0070C0"/>
                </a:solidFill>
              </a:rPr>
              <a:t>年底</a:t>
            </a:r>
            <a:r>
              <a:rPr lang="en-US" altLang="zh-TW" dirty="0">
                <a:solidFill>
                  <a:srgbClr val="0070C0"/>
                </a:solidFill>
              </a:rPr>
              <a:t>2.1</a:t>
            </a:r>
            <a:r>
              <a:rPr lang="zh-TW" altLang="en-US" dirty="0">
                <a:solidFill>
                  <a:srgbClr val="0070C0"/>
                </a:solidFill>
              </a:rPr>
              <a:t>萬人、資產規模</a:t>
            </a:r>
            <a:r>
              <a:rPr lang="en-US" altLang="zh-TW" dirty="0">
                <a:solidFill>
                  <a:srgbClr val="0070C0"/>
                </a:solidFill>
              </a:rPr>
              <a:t>5.7</a:t>
            </a:r>
            <a:r>
              <a:rPr lang="zh-TW" altLang="en-US" dirty="0">
                <a:solidFill>
                  <a:srgbClr val="0070C0"/>
                </a:solidFill>
              </a:rPr>
              <a:t>億元，逐年成長至</a:t>
            </a:r>
            <a:r>
              <a:rPr lang="en-US" altLang="zh-TW" dirty="0">
                <a:solidFill>
                  <a:srgbClr val="0070C0"/>
                </a:solidFill>
              </a:rPr>
              <a:t>2025</a:t>
            </a:r>
            <a:r>
              <a:rPr lang="zh-TW" altLang="en-US" dirty="0">
                <a:solidFill>
                  <a:srgbClr val="0070C0"/>
                </a:solidFill>
              </a:rPr>
              <a:t>年底為</a:t>
            </a:r>
            <a:r>
              <a:rPr lang="en-US" altLang="zh-TW" dirty="0">
                <a:solidFill>
                  <a:srgbClr val="0070C0"/>
                </a:solidFill>
              </a:rPr>
              <a:t>23.5</a:t>
            </a:r>
            <a:r>
              <a:rPr lang="zh-TW" altLang="en-US" dirty="0">
                <a:solidFill>
                  <a:srgbClr val="0070C0"/>
                </a:solidFill>
              </a:rPr>
              <a:t>萬人，資產規模達</a:t>
            </a:r>
            <a:r>
              <a:rPr lang="en-US" altLang="zh-TW" dirty="0">
                <a:solidFill>
                  <a:srgbClr val="0070C0"/>
                </a:solidFill>
              </a:rPr>
              <a:t>156.58</a:t>
            </a:r>
            <a:r>
              <a:rPr lang="zh-TW" altLang="en-US" dirty="0">
                <a:solidFill>
                  <a:srgbClr val="0070C0"/>
                </a:solidFill>
              </a:rPr>
              <a:t>億元。不過若進一步看近</a:t>
            </a:r>
            <a:r>
              <a:rPr lang="en-US" altLang="zh-TW" dirty="0">
                <a:solidFill>
                  <a:srgbClr val="0070C0"/>
                </a:solidFill>
              </a:rPr>
              <a:t>3</a:t>
            </a:r>
            <a:r>
              <a:rPr lang="zh-TW" altLang="en-US" dirty="0">
                <a:solidFill>
                  <a:srgbClr val="0070C0"/>
                </a:solidFill>
              </a:rPr>
              <a:t>年統計，機器人理財家數從</a:t>
            </a:r>
            <a:r>
              <a:rPr lang="en-US" altLang="zh-TW" dirty="0">
                <a:solidFill>
                  <a:srgbClr val="0070C0"/>
                </a:solidFill>
              </a:rPr>
              <a:t>2024</a:t>
            </a:r>
            <a:r>
              <a:rPr lang="zh-TW" altLang="en-US" dirty="0">
                <a:solidFill>
                  <a:srgbClr val="0070C0"/>
                </a:solidFill>
              </a:rPr>
              <a:t>年</a:t>
            </a:r>
            <a:r>
              <a:rPr lang="en-US" altLang="zh-TW" dirty="0">
                <a:solidFill>
                  <a:srgbClr val="0070C0"/>
                </a:solidFill>
              </a:rPr>
              <a:t>2</a:t>
            </a:r>
            <a:r>
              <a:rPr lang="zh-TW" altLang="en-US" dirty="0">
                <a:solidFill>
                  <a:srgbClr val="0070C0"/>
                </a:solidFill>
              </a:rPr>
              <a:t>月的</a:t>
            </a:r>
            <a:r>
              <a:rPr lang="en-US" altLang="zh-TW" dirty="0">
                <a:solidFill>
                  <a:srgbClr val="0070C0"/>
                </a:solidFill>
              </a:rPr>
              <a:t>18</a:t>
            </a:r>
            <a:r>
              <a:rPr lang="zh-TW" altLang="en-US" dirty="0">
                <a:solidFill>
                  <a:srgbClr val="0070C0"/>
                </a:solidFill>
              </a:rPr>
              <a:t>家，</a:t>
            </a:r>
            <a:r>
              <a:rPr lang="en-US" altLang="zh-TW" dirty="0">
                <a:solidFill>
                  <a:srgbClr val="0070C0"/>
                </a:solidFill>
              </a:rPr>
              <a:t>2025</a:t>
            </a:r>
            <a:r>
              <a:rPr lang="zh-TW" altLang="en-US" dirty="0">
                <a:solidFill>
                  <a:srgbClr val="0070C0"/>
                </a:solidFill>
              </a:rPr>
              <a:t>年</a:t>
            </a:r>
            <a:r>
              <a:rPr lang="en-US" altLang="zh-TW" dirty="0">
                <a:solidFill>
                  <a:srgbClr val="0070C0"/>
                </a:solidFill>
              </a:rPr>
              <a:t>2</a:t>
            </a:r>
            <a:r>
              <a:rPr lang="zh-TW" altLang="en-US" dirty="0">
                <a:solidFill>
                  <a:srgbClr val="0070C0"/>
                </a:solidFill>
              </a:rPr>
              <a:t>月減為</a:t>
            </a:r>
            <a:r>
              <a:rPr lang="en-US" altLang="zh-TW" dirty="0">
                <a:solidFill>
                  <a:srgbClr val="0070C0"/>
                </a:solidFill>
              </a:rPr>
              <a:t>17</a:t>
            </a:r>
            <a:r>
              <a:rPr lang="zh-TW" altLang="en-US" dirty="0">
                <a:solidFill>
                  <a:srgbClr val="0070C0"/>
                </a:solidFill>
              </a:rPr>
              <a:t>家，</a:t>
            </a:r>
            <a:r>
              <a:rPr lang="en-US" altLang="zh-TW" dirty="0">
                <a:solidFill>
                  <a:srgbClr val="0070C0"/>
                </a:solidFill>
              </a:rPr>
              <a:t>2026</a:t>
            </a:r>
            <a:r>
              <a:rPr lang="zh-TW" altLang="en-US" dirty="0">
                <a:solidFill>
                  <a:srgbClr val="0070C0"/>
                </a:solidFill>
              </a:rPr>
              <a:t>年</a:t>
            </a:r>
            <a:r>
              <a:rPr lang="en-US" altLang="zh-TW" dirty="0">
                <a:solidFill>
                  <a:srgbClr val="0070C0"/>
                </a:solidFill>
              </a:rPr>
              <a:t>2</a:t>
            </a:r>
            <a:r>
              <a:rPr lang="zh-TW" altLang="en-US" dirty="0">
                <a:solidFill>
                  <a:srgbClr val="0070C0"/>
                </a:solidFill>
              </a:rPr>
              <a:t>月再減至</a:t>
            </a:r>
            <a:r>
              <a:rPr lang="en-US" altLang="zh-TW" dirty="0">
                <a:solidFill>
                  <a:srgbClr val="0070C0"/>
                </a:solidFill>
              </a:rPr>
              <a:t>16</a:t>
            </a:r>
            <a:r>
              <a:rPr lang="zh-TW" altLang="en-US" dirty="0">
                <a:solidFill>
                  <a:srgbClr val="0070C0"/>
                </a:solidFill>
              </a:rPr>
              <a:t>家</a:t>
            </a:r>
            <a:r>
              <a:rPr lang="zh-TW" altLang="en-US" b="0" dirty="0"/>
              <a:t>。</a:t>
            </a:r>
          </a:p>
          <a:p>
            <a:r>
              <a:rPr lang="zh-TW" altLang="en-US" b="0" dirty="0"/>
              <a:t>金管會證期局主秘王秀玲指出，</a:t>
            </a:r>
            <a:r>
              <a:rPr lang="zh-TW" altLang="en-US" dirty="0">
                <a:solidFill>
                  <a:srgbClr val="0070C0"/>
                </a:solidFill>
              </a:rPr>
              <a:t>機器人理財家數雖然近</a:t>
            </a:r>
            <a:r>
              <a:rPr lang="en-US" altLang="zh-TW" dirty="0">
                <a:solidFill>
                  <a:srgbClr val="0070C0"/>
                </a:solidFill>
              </a:rPr>
              <a:t>3</a:t>
            </a:r>
            <a:r>
              <a:rPr lang="zh-TW" altLang="en-US" dirty="0">
                <a:solidFill>
                  <a:srgbClr val="0070C0"/>
                </a:solidFill>
              </a:rPr>
              <a:t>年呈現減少，但客戶數與資產規模持續成長，從</a:t>
            </a:r>
            <a:r>
              <a:rPr lang="en-US" altLang="zh-TW" dirty="0">
                <a:solidFill>
                  <a:srgbClr val="0070C0"/>
                </a:solidFill>
              </a:rPr>
              <a:t>2024</a:t>
            </a:r>
            <a:r>
              <a:rPr lang="zh-TW" altLang="en-US" dirty="0">
                <a:solidFill>
                  <a:srgbClr val="0070C0"/>
                </a:solidFill>
              </a:rPr>
              <a:t>年</a:t>
            </a:r>
            <a:r>
              <a:rPr lang="en-US" altLang="zh-TW" dirty="0">
                <a:solidFill>
                  <a:srgbClr val="0070C0"/>
                </a:solidFill>
              </a:rPr>
              <a:t>2</a:t>
            </a:r>
            <a:r>
              <a:rPr lang="zh-TW" altLang="en-US" dirty="0">
                <a:solidFill>
                  <a:srgbClr val="0070C0"/>
                </a:solidFill>
              </a:rPr>
              <a:t>月的</a:t>
            </a:r>
            <a:r>
              <a:rPr lang="en-US" altLang="zh-TW" dirty="0">
                <a:solidFill>
                  <a:srgbClr val="0070C0"/>
                </a:solidFill>
              </a:rPr>
              <a:t>18</a:t>
            </a:r>
            <a:r>
              <a:rPr lang="zh-TW" altLang="en-US" dirty="0">
                <a:solidFill>
                  <a:srgbClr val="0070C0"/>
                </a:solidFill>
              </a:rPr>
              <a:t>萬</a:t>
            </a:r>
            <a:r>
              <a:rPr lang="en-US" altLang="zh-TW" dirty="0">
                <a:solidFill>
                  <a:srgbClr val="0070C0"/>
                </a:solidFill>
              </a:rPr>
              <a:t>2403</a:t>
            </a:r>
            <a:r>
              <a:rPr lang="zh-TW" altLang="en-US" dirty="0">
                <a:solidFill>
                  <a:srgbClr val="0070C0"/>
                </a:solidFill>
              </a:rPr>
              <a:t>人、</a:t>
            </a:r>
            <a:r>
              <a:rPr lang="en-US" altLang="zh-TW" dirty="0">
                <a:solidFill>
                  <a:srgbClr val="0070C0"/>
                </a:solidFill>
              </a:rPr>
              <a:t>78.55</a:t>
            </a:r>
            <a:r>
              <a:rPr lang="zh-TW" altLang="en-US" dirty="0">
                <a:solidFill>
                  <a:srgbClr val="0070C0"/>
                </a:solidFill>
              </a:rPr>
              <a:t>億元，逐步成長到</a:t>
            </a:r>
            <a:r>
              <a:rPr lang="en-US" altLang="zh-TW" dirty="0">
                <a:solidFill>
                  <a:srgbClr val="0070C0"/>
                </a:solidFill>
              </a:rPr>
              <a:t>2026</a:t>
            </a:r>
            <a:r>
              <a:rPr lang="zh-TW" altLang="en-US" dirty="0">
                <a:solidFill>
                  <a:srgbClr val="0070C0"/>
                </a:solidFill>
              </a:rPr>
              <a:t>年</a:t>
            </a:r>
            <a:r>
              <a:rPr lang="en-US" altLang="zh-TW" dirty="0">
                <a:solidFill>
                  <a:srgbClr val="0070C0"/>
                </a:solidFill>
              </a:rPr>
              <a:t>2</a:t>
            </a:r>
            <a:r>
              <a:rPr lang="zh-TW" altLang="en-US" dirty="0">
                <a:solidFill>
                  <a:srgbClr val="0070C0"/>
                </a:solidFill>
              </a:rPr>
              <a:t>月的</a:t>
            </a:r>
            <a:r>
              <a:rPr lang="en-US" altLang="zh-TW" dirty="0">
                <a:solidFill>
                  <a:srgbClr val="0070C0"/>
                </a:solidFill>
              </a:rPr>
              <a:t>24</a:t>
            </a:r>
            <a:r>
              <a:rPr lang="zh-TW" altLang="en-US" dirty="0">
                <a:solidFill>
                  <a:srgbClr val="0070C0"/>
                </a:solidFill>
              </a:rPr>
              <a:t>萬</a:t>
            </a:r>
            <a:r>
              <a:rPr lang="en-US" altLang="zh-TW" dirty="0">
                <a:solidFill>
                  <a:srgbClr val="0070C0"/>
                </a:solidFill>
              </a:rPr>
              <a:t>1967</a:t>
            </a:r>
            <a:r>
              <a:rPr lang="zh-TW" altLang="en-US" dirty="0">
                <a:solidFill>
                  <a:srgbClr val="0070C0"/>
                </a:solidFill>
              </a:rPr>
              <a:t>人、</a:t>
            </a:r>
            <a:r>
              <a:rPr lang="en-US" altLang="zh-TW" dirty="0">
                <a:solidFill>
                  <a:srgbClr val="0070C0"/>
                </a:solidFill>
              </a:rPr>
              <a:t>161.39</a:t>
            </a:r>
            <a:r>
              <a:rPr lang="zh-TW" altLang="en-US" dirty="0">
                <a:solidFill>
                  <a:srgbClr val="0070C0"/>
                </a:solidFill>
              </a:rPr>
              <a:t>億元，業務規範也持續檢討，且目前還有一家業者遞件申請，公會正在審查中</a:t>
            </a:r>
            <a:r>
              <a:rPr lang="zh-TW" altLang="en-US" b="0" dirty="0"/>
              <a:t>。</a:t>
            </a:r>
          </a:p>
          <a:p>
            <a:pPr algn="l" fontAlgn="base">
              <a:spcBef>
                <a:spcPts val="300"/>
              </a:spcBef>
            </a:pPr>
            <a:endParaRPr lang="zh-TW" altLang="en-US" b="0" i="0" dirty="0">
              <a:solidFill>
                <a:srgbClr val="272727"/>
              </a:solidFill>
              <a:effectLst/>
              <a:latin typeface="system-ui"/>
            </a:endParaRPr>
          </a:p>
        </p:txBody>
      </p:sp>
      <p:sp>
        <p:nvSpPr>
          <p:cNvPr id="4" name="文字方塊 3">
            <a:extLst>
              <a:ext uri="{FF2B5EF4-FFF2-40B4-BE49-F238E27FC236}">
                <a16:creationId xmlns:a16="http://schemas.microsoft.com/office/drawing/2014/main" id="{28CD4360-158F-969C-EB03-F5F0D7AF0F4B}"/>
              </a:ext>
            </a:extLst>
          </p:cNvPr>
          <p:cNvSpPr txBox="1"/>
          <p:nvPr/>
        </p:nvSpPr>
        <p:spPr>
          <a:xfrm>
            <a:off x="6048000" y="864002"/>
            <a:ext cx="5760000" cy="3240860"/>
          </a:xfrm>
          <a:prstGeom prst="rect">
            <a:avLst/>
          </a:prstGeom>
          <a:solidFill>
            <a:sysClr val="window" lastClr="FFFFFF"/>
          </a:solidFill>
          <a:ln w="12700" cap="flat" cmpd="sng" algn="ctr">
            <a:solidFill>
              <a:srgbClr val="CC99FF"/>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TW" altLang="en-US" b="0" dirty="0"/>
              <a:t>根據金管會資料，</a:t>
            </a:r>
            <a:r>
              <a:rPr lang="zh-TW" altLang="en-US" dirty="0">
                <a:solidFill>
                  <a:srgbClr val="0070C0"/>
                </a:solidFill>
              </a:rPr>
              <a:t>開辦機器人理財業務的包含銀行、投信與投顧業者，不過若觀察各類別第一大業者規模，則明顯以銀行市占率較高</a:t>
            </a:r>
            <a:r>
              <a:rPr lang="zh-TW" altLang="en-US" b="0" dirty="0"/>
              <a:t>。</a:t>
            </a:r>
          </a:p>
          <a:p>
            <a:r>
              <a:rPr lang="zh-TW" altLang="en-US" dirty="0">
                <a:solidFill>
                  <a:srgbClr val="0070C0"/>
                </a:solidFill>
              </a:rPr>
              <a:t>國泰世華銀行機器人理財資產規模以</a:t>
            </a:r>
            <a:r>
              <a:rPr lang="en-US" altLang="zh-TW" dirty="0">
                <a:solidFill>
                  <a:srgbClr val="0070C0"/>
                </a:solidFill>
              </a:rPr>
              <a:t>32.03</a:t>
            </a:r>
            <a:r>
              <a:rPr lang="zh-TW" altLang="en-US" dirty="0">
                <a:solidFill>
                  <a:srgbClr val="0070C0"/>
                </a:solidFill>
              </a:rPr>
              <a:t>億元穩居寶座，市占率達</a:t>
            </a:r>
            <a:r>
              <a:rPr lang="en-US" altLang="zh-TW" dirty="0">
                <a:solidFill>
                  <a:srgbClr val="0070C0"/>
                </a:solidFill>
              </a:rPr>
              <a:t>19.84%</a:t>
            </a:r>
            <a:r>
              <a:rPr lang="zh-TW" altLang="en-US" dirty="0">
                <a:solidFill>
                  <a:srgbClr val="0070C0"/>
                </a:solidFill>
              </a:rPr>
              <a:t>；投顧業者第一名的阿爾發投顧，資產規模約</a:t>
            </a:r>
            <a:r>
              <a:rPr lang="en-US" altLang="zh-TW" dirty="0">
                <a:solidFill>
                  <a:srgbClr val="0070C0"/>
                </a:solidFill>
              </a:rPr>
              <a:t>17.38</a:t>
            </a:r>
            <a:r>
              <a:rPr lang="zh-TW" altLang="en-US" dirty="0">
                <a:solidFill>
                  <a:srgbClr val="0070C0"/>
                </a:solidFill>
              </a:rPr>
              <a:t>億元、市占率</a:t>
            </a:r>
            <a:r>
              <a:rPr lang="en-US" altLang="zh-TW" dirty="0">
                <a:solidFill>
                  <a:srgbClr val="0070C0"/>
                </a:solidFill>
              </a:rPr>
              <a:t>10.77%</a:t>
            </a:r>
            <a:r>
              <a:rPr lang="zh-TW" altLang="en-US" dirty="0">
                <a:solidFill>
                  <a:srgbClr val="0070C0"/>
                </a:solidFill>
              </a:rPr>
              <a:t>；投信業者第一名的復華投信為</a:t>
            </a:r>
            <a:r>
              <a:rPr lang="en-US" altLang="zh-TW" dirty="0">
                <a:solidFill>
                  <a:srgbClr val="0070C0"/>
                </a:solidFill>
              </a:rPr>
              <a:t>9.93</a:t>
            </a:r>
            <a:r>
              <a:rPr lang="zh-TW" altLang="en-US" dirty="0">
                <a:solidFill>
                  <a:srgbClr val="0070C0"/>
                </a:solidFill>
              </a:rPr>
              <a:t>億元、市占率</a:t>
            </a:r>
            <a:r>
              <a:rPr lang="en-US" altLang="zh-TW" dirty="0">
                <a:solidFill>
                  <a:srgbClr val="0070C0"/>
                </a:solidFill>
              </a:rPr>
              <a:t>6.15%</a:t>
            </a:r>
            <a:r>
              <a:rPr lang="zh-TW" altLang="en-US" b="0" dirty="0"/>
              <a:t>。</a:t>
            </a:r>
          </a:p>
          <a:p>
            <a:r>
              <a:rPr lang="zh-TW" altLang="en-US" b="0" dirty="0"/>
              <a:t>證期局官員解釋，</a:t>
            </a:r>
            <a:r>
              <a:rPr lang="zh-TW" altLang="en-US" dirty="0">
                <a:solidFill>
                  <a:srgbClr val="0070C0"/>
                </a:solidFill>
              </a:rPr>
              <a:t>以通路規模來看，主要因銀行相較投信投顧業者客戶數較多所致</a:t>
            </a:r>
            <a:r>
              <a:rPr lang="zh-TW" altLang="en-US" b="0" dirty="0"/>
              <a:t>。媒體關注機器人理財業務發展近</a:t>
            </a:r>
            <a:r>
              <a:rPr lang="en-US" altLang="zh-TW" b="0" dirty="0"/>
              <a:t>10</a:t>
            </a:r>
            <a:r>
              <a:rPr lang="zh-TW" altLang="en-US" b="0" dirty="0"/>
              <a:t>年、資產規模僅</a:t>
            </a:r>
            <a:r>
              <a:rPr lang="en-US" altLang="zh-TW" b="0" dirty="0"/>
              <a:t>161</a:t>
            </a:r>
            <a:r>
              <a:rPr lang="zh-TW" altLang="en-US" b="0" dirty="0"/>
              <a:t>億元，是否滿意此成績單。官員說明，機器人理財多數透過定期定額投資，因此資產規模雖持續成長，走的是慢慢累積路線，並非爆發式成長，不會僅用規模作為唯一評估的指標，而是希望提供業界多元的發展模式。</a:t>
            </a:r>
          </a:p>
          <a:p>
            <a:pPr algn="l" fontAlgn="base">
              <a:spcBef>
                <a:spcPts val="300"/>
              </a:spcBef>
            </a:pPr>
            <a:endParaRPr lang="zh-TW" altLang="en-US" b="0" i="0" dirty="0">
              <a:solidFill>
                <a:srgbClr val="272727"/>
              </a:solidFill>
              <a:effectLst/>
              <a:latin typeface="system-ui"/>
            </a:endParaRPr>
          </a:p>
        </p:txBody>
      </p:sp>
      <p:sp>
        <p:nvSpPr>
          <p:cNvPr id="11" name="矩形 10">
            <a:extLst>
              <a:ext uri="{FF2B5EF4-FFF2-40B4-BE49-F238E27FC236}">
                <a16:creationId xmlns:a16="http://schemas.microsoft.com/office/drawing/2014/main" id="{DD87BDD7-CC38-DF94-FD81-C735601F3D7D}"/>
              </a:ext>
            </a:extLst>
          </p:cNvPr>
          <p:cNvSpPr/>
          <p:nvPr/>
        </p:nvSpPr>
        <p:spPr>
          <a:xfrm>
            <a:off x="6142383" y="449616"/>
            <a:ext cx="1609736" cy="276999"/>
          </a:xfrm>
          <a:prstGeom prst="rect">
            <a:avLst/>
          </a:prstGeom>
        </p:spPr>
        <p:txBody>
          <a:bodyPr wrap="none">
            <a:spAutoFit/>
          </a:bodyPr>
          <a:lstStyle/>
          <a:p>
            <a:pPr fontAlgn="auto">
              <a:spcBef>
                <a:spcPts val="0"/>
              </a:spcBef>
              <a:spcAft>
                <a:spcPts val="0"/>
              </a:spcAft>
            </a:pPr>
            <a:r>
              <a:rPr lang="en-US" altLang="zh-TW" sz="1200" b="0" dirty="0">
                <a:solidFill>
                  <a:prstClr val="black"/>
                </a:solidFill>
                <a:latin typeface="Arial" panose="020B0604020202020204" pitchFamily="34" charset="0"/>
                <a:ea typeface="微軟正黑體" panose="020B0604030504040204" pitchFamily="34" charset="-120"/>
              </a:rPr>
              <a:t>2026/04/10 </a:t>
            </a:r>
            <a:r>
              <a:rPr lang="zh-TW" altLang="en-US" sz="1200" b="0" dirty="0">
                <a:solidFill>
                  <a:prstClr val="black"/>
                </a:solidFill>
                <a:latin typeface="Arial" panose="020B0604020202020204" pitchFamily="34" charset="0"/>
                <a:ea typeface="微軟正黑體" panose="020B0604030504040204" pitchFamily="34" charset="-120"/>
              </a:rPr>
              <a:t>經濟日報</a:t>
            </a:r>
          </a:p>
        </p:txBody>
      </p:sp>
      <p:sp>
        <p:nvSpPr>
          <p:cNvPr id="10" name="文字方塊 9">
            <a:extLst>
              <a:ext uri="{FF2B5EF4-FFF2-40B4-BE49-F238E27FC236}">
                <a16:creationId xmlns:a16="http://schemas.microsoft.com/office/drawing/2014/main" id="{368B351F-878C-A3BB-8146-C2B45F397148}"/>
              </a:ext>
            </a:extLst>
          </p:cNvPr>
          <p:cNvSpPr txBox="1"/>
          <p:nvPr/>
        </p:nvSpPr>
        <p:spPr>
          <a:xfrm>
            <a:off x="6045114" y="4167734"/>
            <a:ext cx="5765772" cy="360000"/>
          </a:xfrm>
          <a:prstGeom prst="rect">
            <a:avLst/>
          </a:prstGeom>
          <a:solidFill>
            <a:srgbClr val="595959"/>
          </a:solidFill>
          <a:ln w="12700" cap="flat" cmpd="sng" algn="ctr">
            <a:noFill/>
            <a:prstDash val="solid"/>
            <a:miter lim="800000"/>
          </a:ln>
          <a:effectLst/>
        </p:spPr>
        <p:txBody>
          <a:bodyPr rtlCol="0" anchor="ct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i="0" u="none" strike="noStrike" kern="0" cap="none" spc="0" normalizeH="0" baseline="0">
                <a:ln>
                  <a:noFill/>
                </a:ln>
                <a:solidFill>
                  <a:prstClr val="white"/>
                </a:solidFill>
                <a:effectLst/>
                <a:uLnTx/>
                <a:uFillTx/>
                <a:latin typeface="微軟正黑體" panose="020B0604030504040204" pitchFamily="34" charset="-120"/>
                <a:ea typeface="微軟正黑體" panose="020B0604030504040204" pitchFamily="34" charset="-120"/>
              </a:defRPr>
            </a:lvl1pPr>
            <a:lvl2pPr>
              <a:defRPr>
                <a:solidFill>
                  <a:schemeClr val="tx1"/>
                </a:solidFill>
                <a:latin typeface="Arial" charset="0"/>
                <a:ea typeface="华文楷体" pitchFamily="2" charset="-122"/>
              </a:defRPr>
            </a:lvl2pPr>
            <a:lvl3pPr>
              <a:defRPr>
                <a:solidFill>
                  <a:schemeClr val="tx1"/>
                </a:solidFill>
                <a:latin typeface="Arial" charset="0"/>
                <a:ea typeface="华文楷体" pitchFamily="2" charset="-122"/>
              </a:defRPr>
            </a:lvl3pPr>
            <a:lvl4pPr>
              <a:defRPr>
                <a:solidFill>
                  <a:schemeClr val="tx1"/>
                </a:solidFill>
                <a:latin typeface="Arial" charset="0"/>
                <a:ea typeface="华文楷体" pitchFamily="2" charset="-122"/>
              </a:defRPr>
            </a:lvl4pPr>
            <a:lvl5pPr>
              <a:defRPr>
                <a:solidFill>
                  <a:schemeClr val="tx1"/>
                </a:solidFill>
                <a:latin typeface="Arial" charset="0"/>
                <a:ea typeface="华文楷体" pitchFamily="2" charset="-122"/>
              </a:defRPr>
            </a:lvl5pPr>
            <a:lvl6pPr>
              <a:defRPr>
                <a:solidFill>
                  <a:schemeClr val="tx1"/>
                </a:solidFill>
                <a:latin typeface="Arial" charset="0"/>
                <a:ea typeface="华文楷体" pitchFamily="2" charset="-122"/>
              </a:defRPr>
            </a:lvl6pPr>
            <a:lvl7pPr>
              <a:defRPr>
                <a:solidFill>
                  <a:schemeClr val="tx1"/>
                </a:solidFill>
                <a:latin typeface="Arial" charset="0"/>
                <a:ea typeface="华文楷体" pitchFamily="2" charset="-122"/>
              </a:defRPr>
            </a:lvl7pPr>
            <a:lvl8pPr>
              <a:defRPr>
                <a:solidFill>
                  <a:schemeClr val="tx1"/>
                </a:solidFill>
                <a:latin typeface="Arial" charset="0"/>
                <a:ea typeface="华文楷体" pitchFamily="2" charset="-122"/>
              </a:defRPr>
            </a:lvl8pPr>
            <a:lvl9pPr>
              <a:defRPr>
                <a:solidFill>
                  <a:schemeClr val="tx1"/>
                </a:solidFill>
                <a:latin typeface="Arial" charset="0"/>
                <a:ea typeface="华文楷体" pitchFamily="2" charset="-122"/>
              </a:defRPr>
            </a:lvl9pPr>
          </a:lstStyle>
          <a:p>
            <a:r>
              <a:rPr lang="zh-TW" altLang="en-US" sz="1400" dirty="0"/>
              <a:t>近三年機器人理財業務辦理情形</a:t>
            </a:r>
            <a:endParaRPr lang="en-US" altLang="zh-TW" sz="1400" dirty="0"/>
          </a:p>
        </p:txBody>
      </p:sp>
      <p:sp>
        <p:nvSpPr>
          <p:cNvPr id="23" name="文字方塊 22">
            <a:extLst>
              <a:ext uri="{FF2B5EF4-FFF2-40B4-BE49-F238E27FC236}">
                <a16:creationId xmlns:a16="http://schemas.microsoft.com/office/drawing/2014/main" id="{4988FBB7-E0AF-DFE4-C0E3-20B1DF25A6FC}"/>
              </a:ext>
            </a:extLst>
          </p:cNvPr>
          <p:cNvSpPr txBox="1"/>
          <p:nvPr/>
        </p:nvSpPr>
        <p:spPr>
          <a:xfrm>
            <a:off x="10153883" y="4296896"/>
            <a:ext cx="2002457" cy="230832"/>
          </a:xfrm>
          <a:prstGeom prst="rect">
            <a:avLst/>
          </a:prstGeom>
          <a:noFill/>
        </p:spPr>
        <p:txBody>
          <a:bodyPr wrap="square">
            <a:spAutoFit/>
          </a:bodyPr>
          <a:lstStyle/>
          <a:p>
            <a:r>
              <a:rPr lang="zh-TW" altLang="en-US" sz="900" dirty="0">
                <a:solidFill>
                  <a:schemeClr val="bg1"/>
                </a:solidFill>
                <a:latin typeface="微軟正黑體" panose="020B0604030504040204" pitchFamily="34" charset="-120"/>
                <a:ea typeface="微軟正黑體" panose="020B0604030504040204" pitchFamily="34" charset="-120"/>
              </a:rPr>
              <a:t>資料來源：金管會、新聞整理</a:t>
            </a:r>
          </a:p>
        </p:txBody>
      </p:sp>
      <p:graphicFrame>
        <p:nvGraphicFramePr>
          <p:cNvPr id="5" name="表格 4">
            <a:extLst>
              <a:ext uri="{FF2B5EF4-FFF2-40B4-BE49-F238E27FC236}">
                <a16:creationId xmlns:a16="http://schemas.microsoft.com/office/drawing/2014/main" id="{E0DF41E2-8028-FAC3-F53E-700F97593871}"/>
              </a:ext>
            </a:extLst>
          </p:cNvPr>
          <p:cNvGraphicFramePr>
            <a:graphicFrameLocks noGrp="1"/>
          </p:cNvGraphicFramePr>
          <p:nvPr>
            <p:extLst>
              <p:ext uri="{D42A27DB-BD31-4B8C-83A1-F6EECF244321}">
                <p14:modId xmlns:p14="http://schemas.microsoft.com/office/powerpoint/2010/main" val="1036303937"/>
              </p:ext>
            </p:extLst>
          </p:nvPr>
        </p:nvGraphicFramePr>
        <p:xfrm>
          <a:off x="6045113" y="4590606"/>
          <a:ext cx="5759999" cy="1452388"/>
        </p:xfrm>
        <a:graphic>
          <a:graphicData uri="http://schemas.openxmlformats.org/drawingml/2006/table">
            <a:tbl>
              <a:tblPr/>
              <a:tblGrid>
                <a:gridCol w="1379417">
                  <a:extLst>
                    <a:ext uri="{9D8B030D-6E8A-4147-A177-3AD203B41FA5}">
                      <a16:colId xmlns:a16="http://schemas.microsoft.com/office/drawing/2014/main" val="4140024962"/>
                    </a:ext>
                  </a:extLst>
                </a:gridCol>
                <a:gridCol w="1460194">
                  <a:extLst>
                    <a:ext uri="{9D8B030D-6E8A-4147-A177-3AD203B41FA5}">
                      <a16:colId xmlns:a16="http://schemas.microsoft.com/office/drawing/2014/main" val="1178822676"/>
                    </a:ext>
                  </a:extLst>
                </a:gridCol>
                <a:gridCol w="1460194">
                  <a:extLst>
                    <a:ext uri="{9D8B030D-6E8A-4147-A177-3AD203B41FA5}">
                      <a16:colId xmlns:a16="http://schemas.microsoft.com/office/drawing/2014/main" val="3355691668"/>
                    </a:ext>
                  </a:extLst>
                </a:gridCol>
                <a:gridCol w="1460194">
                  <a:extLst>
                    <a:ext uri="{9D8B030D-6E8A-4147-A177-3AD203B41FA5}">
                      <a16:colId xmlns:a16="http://schemas.microsoft.com/office/drawing/2014/main" val="1226053389"/>
                    </a:ext>
                  </a:extLst>
                </a:gridCol>
              </a:tblGrid>
              <a:tr h="278463">
                <a:tc>
                  <a:txBody>
                    <a:bodyPr/>
                    <a:lstStyle/>
                    <a:p>
                      <a:pPr algn="ctr">
                        <a:buNone/>
                      </a:pPr>
                      <a:r>
                        <a:rPr lang="zh-TW" altLang="en-US" sz="1100" b="1" dirty="0">
                          <a:latin typeface="微軟正黑體" panose="020B0604030504040204" pitchFamily="34" charset="-120"/>
                          <a:ea typeface="微軟正黑體" panose="020B0604030504040204" pitchFamily="34" charset="-120"/>
                        </a:rPr>
                        <a:t>項目</a:t>
                      </a:r>
                      <a:endParaRPr lang="en-US" altLang="zh-TW" sz="1100" b="1"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buNone/>
                      </a:pPr>
                      <a:r>
                        <a:rPr lang="en-US" altLang="zh-TW" sz="1100" b="1" dirty="0">
                          <a:latin typeface="微軟正黑體" panose="020B0604030504040204" pitchFamily="34" charset="-120"/>
                          <a:ea typeface="微軟正黑體" panose="020B0604030504040204" pitchFamily="34" charset="-120"/>
                        </a:rPr>
                        <a:t>24/2</a:t>
                      </a:r>
                      <a:r>
                        <a:rPr lang="zh-TW" altLang="en-US" sz="1100" b="1" dirty="0">
                          <a:latin typeface="微軟正黑體" panose="020B0604030504040204" pitchFamily="34" charset="-120"/>
                          <a:ea typeface="微軟正黑體" panose="020B0604030504040204" pitchFamily="34" charset="-120"/>
                        </a:rPr>
                        <a:t>月</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buNone/>
                      </a:pPr>
                      <a:r>
                        <a:rPr lang="en-US" altLang="zh-TW" sz="1100" b="1" dirty="0">
                          <a:latin typeface="微軟正黑體" panose="020B0604030504040204" pitchFamily="34" charset="-120"/>
                          <a:ea typeface="微軟正黑體" panose="020B0604030504040204" pitchFamily="34" charset="-120"/>
                        </a:rPr>
                        <a:t>25/2</a:t>
                      </a:r>
                      <a:r>
                        <a:rPr lang="zh-TW" altLang="en-US" sz="1100" b="1" dirty="0">
                          <a:latin typeface="微軟正黑體" panose="020B0604030504040204" pitchFamily="34" charset="-120"/>
                          <a:ea typeface="微軟正黑體" panose="020B0604030504040204" pitchFamily="34" charset="-120"/>
                        </a:rPr>
                        <a:t>月</a:t>
                      </a:r>
                      <a:endParaRPr lang="en-US" altLang="zh-TW" sz="1100" b="1"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buNone/>
                      </a:pPr>
                      <a:r>
                        <a:rPr lang="en-US" altLang="zh-TW" sz="1100" b="1" dirty="0">
                          <a:latin typeface="微軟正黑體" panose="020B0604030504040204" pitchFamily="34" charset="-120"/>
                          <a:ea typeface="微軟正黑體" panose="020B0604030504040204" pitchFamily="34" charset="-120"/>
                        </a:rPr>
                        <a:t>26</a:t>
                      </a:r>
                      <a:r>
                        <a:rPr lang="zh-TW" altLang="en-US" sz="1100" b="1" dirty="0">
                          <a:latin typeface="微軟正黑體" panose="020B0604030504040204" pitchFamily="34" charset="-120"/>
                          <a:ea typeface="微軟正黑體" panose="020B0604030504040204" pitchFamily="34" charset="-120"/>
                        </a:rPr>
                        <a:t>年</a:t>
                      </a:r>
                      <a:r>
                        <a:rPr lang="en-US" altLang="zh-TW" sz="1100" b="1" dirty="0">
                          <a:latin typeface="微軟正黑體" panose="020B0604030504040204" pitchFamily="34" charset="-120"/>
                          <a:ea typeface="微軟正黑體" panose="020B0604030504040204" pitchFamily="34" charset="-120"/>
                        </a:rPr>
                        <a:t>/2</a:t>
                      </a:r>
                      <a:r>
                        <a:rPr lang="zh-TW" altLang="en-US" sz="1100" b="1" dirty="0">
                          <a:latin typeface="微軟正黑體" panose="020B0604030504040204" pitchFamily="34" charset="-120"/>
                          <a:ea typeface="微軟正黑體" panose="020B0604030504040204" pitchFamily="34" charset="-120"/>
                        </a:rPr>
                        <a:t>月</a:t>
                      </a:r>
                      <a:endParaRPr lang="en-US" altLang="zh-TW" sz="1100" b="1"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286020830"/>
                  </a:ext>
                </a:extLst>
              </a:tr>
              <a:tr h="234785">
                <a:tc>
                  <a:txBody>
                    <a:bodyPr/>
                    <a:lstStyle/>
                    <a:p>
                      <a:pPr algn="ctr">
                        <a:buNone/>
                      </a:pPr>
                      <a:r>
                        <a:rPr lang="zh-TW" altLang="en-US" sz="1100" b="1" dirty="0">
                          <a:latin typeface="微軟正黑體" panose="020B0604030504040204" pitchFamily="34" charset="-120"/>
                          <a:ea typeface="微軟正黑體" panose="020B0604030504040204" pitchFamily="34" charset="-120"/>
                        </a:rPr>
                        <a:t>業者家數</a:t>
                      </a:r>
                      <a:r>
                        <a:rPr lang="en-US" altLang="zh-TW" sz="1100" b="1" dirty="0">
                          <a:latin typeface="微軟正黑體" panose="020B0604030504040204" pitchFamily="34" charset="-120"/>
                          <a:ea typeface="微軟正黑體" panose="020B0604030504040204" pitchFamily="34" charset="-120"/>
                        </a:rPr>
                        <a:t>(</a:t>
                      </a:r>
                      <a:r>
                        <a:rPr lang="zh-TW" altLang="en-US" sz="1100" b="1" dirty="0">
                          <a:latin typeface="微軟正黑體" panose="020B0604030504040204" pitchFamily="34" charset="-120"/>
                          <a:ea typeface="微軟正黑體" panose="020B0604030504040204" pitchFamily="34" charset="-120"/>
                        </a:rPr>
                        <a:t>家</a:t>
                      </a:r>
                      <a:r>
                        <a:rPr lang="en-US" altLang="zh-TW" sz="1100" b="1" dirty="0">
                          <a:latin typeface="微軟正黑體" panose="020B0604030504040204" pitchFamily="34" charset="-120"/>
                          <a:ea typeface="微軟正黑體" panose="020B0604030504040204" pitchFamily="34" charset="-120"/>
                        </a:rPr>
                        <a:t>)</a:t>
                      </a:r>
                      <a:endParaRPr lang="zh-TW" altLang="en-US" sz="1100" b="1"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100" b="0" dirty="0">
                          <a:latin typeface="微軟正黑體" panose="020B0604030504040204" pitchFamily="34" charset="-120"/>
                          <a:ea typeface="微軟正黑體" panose="020B0604030504040204" pitchFamily="34" charset="-120"/>
                        </a:rPr>
                        <a:t>18</a:t>
                      </a:r>
                      <a:endParaRPr lang="zh-TW" altLang="en-US" sz="110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100" b="0" dirty="0">
                          <a:latin typeface="微軟正黑體" panose="020B0604030504040204" pitchFamily="34" charset="-120"/>
                          <a:ea typeface="微軟正黑體" panose="020B0604030504040204" pitchFamily="34" charset="-120"/>
                        </a:rPr>
                        <a:t>17</a:t>
                      </a:r>
                      <a:endParaRPr lang="zh-TW" altLang="en-US" sz="110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100" b="0" dirty="0">
                          <a:latin typeface="微軟正黑體" panose="020B0604030504040204" pitchFamily="34" charset="-120"/>
                          <a:ea typeface="微軟正黑體" panose="020B0604030504040204" pitchFamily="34" charset="-120"/>
                        </a:rPr>
                        <a:t>16</a:t>
                      </a:r>
                      <a:endParaRPr lang="zh-TW" altLang="en-US" sz="110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76262107"/>
                  </a:ext>
                </a:extLst>
              </a:tr>
              <a:tr h="234785">
                <a:tc>
                  <a:txBody>
                    <a:bodyPr/>
                    <a:lstStyle/>
                    <a:p>
                      <a:pPr algn="ctr">
                        <a:buNone/>
                      </a:pPr>
                      <a:r>
                        <a:rPr lang="zh-TW" altLang="en-US" sz="1100" b="1" dirty="0">
                          <a:latin typeface="微軟正黑體" panose="020B0604030504040204" pitchFamily="34" charset="-120"/>
                          <a:ea typeface="微軟正黑體" panose="020B0604030504040204" pitchFamily="34" charset="-120"/>
                        </a:rPr>
                        <a:t>客戶數</a:t>
                      </a:r>
                      <a:r>
                        <a:rPr lang="en-US" altLang="zh-TW" sz="1100" b="1" dirty="0">
                          <a:latin typeface="微軟正黑體" panose="020B0604030504040204" pitchFamily="34" charset="-120"/>
                          <a:ea typeface="微軟正黑體" panose="020B0604030504040204" pitchFamily="34" charset="-120"/>
                        </a:rPr>
                        <a:t>(</a:t>
                      </a:r>
                      <a:r>
                        <a:rPr lang="zh-TW" altLang="en-US" sz="1100" b="1" dirty="0">
                          <a:latin typeface="微軟正黑體" panose="020B0604030504040204" pitchFamily="34" charset="-120"/>
                          <a:ea typeface="微軟正黑體" panose="020B0604030504040204" pitchFamily="34" charset="-120"/>
                        </a:rPr>
                        <a:t>人</a:t>
                      </a:r>
                      <a:r>
                        <a:rPr lang="en-US" altLang="zh-TW" sz="1100" b="1" dirty="0">
                          <a:latin typeface="微軟正黑體" panose="020B0604030504040204" pitchFamily="34" charset="-120"/>
                          <a:ea typeface="微軟正黑體" panose="020B0604030504040204" pitchFamily="34" charset="-120"/>
                        </a:rPr>
                        <a:t>)</a:t>
                      </a:r>
                      <a:endParaRPr lang="zh-TW" altLang="en-US" sz="1100" b="1"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100" b="0" dirty="0">
                          <a:latin typeface="微軟正黑體" panose="020B0604030504040204" pitchFamily="34" charset="-120"/>
                          <a:ea typeface="微軟正黑體" panose="020B0604030504040204" pitchFamily="34" charset="-120"/>
                        </a:rPr>
                        <a:t>182,403</a:t>
                      </a:r>
                      <a:endParaRPr lang="zh-TW" altLang="en-US" sz="110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100" b="0" dirty="0">
                          <a:latin typeface="微軟正黑體" panose="020B0604030504040204" pitchFamily="34" charset="-120"/>
                          <a:ea typeface="微軟正黑體" panose="020B0604030504040204" pitchFamily="34" charset="-120"/>
                        </a:rPr>
                        <a:t>213,529</a:t>
                      </a:r>
                      <a:endParaRPr lang="zh-TW" altLang="en-US" sz="110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100" b="0" dirty="0">
                          <a:latin typeface="微軟正黑體" panose="020B0604030504040204" pitchFamily="34" charset="-120"/>
                          <a:ea typeface="微軟正黑體" panose="020B0604030504040204" pitchFamily="34" charset="-120"/>
                        </a:rPr>
                        <a:t>241,967</a:t>
                      </a:r>
                      <a:endParaRPr lang="zh-TW" altLang="en-US" sz="110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593700836"/>
                  </a:ext>
                </a:extLst>
              </a:tr>
              <a:tr h="234785">
                <a:tc>
                  <a:txBody>
                    <a:bodyPr/>
                    <a:lstStyle/>
                    <a:p>
                      <a:pPr algn="ctr">
                        <a:buNone/>
                      </a:pPr>
                      <a:r>
                        <a:rPr lang="zh-TW" altLang="en-US" sz="1100" b="1" dirty="0">
                          <a:latin typeface="微軟正黑體" panose="020B0604030504040204" pitchFamily="34" charset="-120"/>
                          <a:ea typeface="微軟正黑體" panose="020B0604030504040204" pitchFamily="34" charset="-120"/>
                        </a:rPr>
                        <a:t>規模金額</a:t>
                      </a:r>
                      <a:r>
                        <a:rPr lang="en-US" altLang="zh-TW" sz="1100" b="1" dirty="0">
                          <a:latin typeface="微軟正黑體" panose="020B0604030504040204" pitchFamily="34" charset="-120"/>
                          <a:ea typeface="微軟正黑體" panose="020B0604030504040204" pitchFamily="34" charset="-120"/>
                        </a:rPr>
                        <a:t>(</a:t>
                      </a:r>
                      <a:r>
                        <a:rPr lang="zh-TW" altLang="en-US" sz="1100" b="1" dirty="0">
                          <a:latin typeface="微軟正黑體" panose="020B0604030504040204" pitchFamily="34" charset="-120"/>
                          <a:ea typeface="微軟正黑體" panose="020B0604030504040204" pitchFamily="34" charset="-120"/>
                        </a:rPr>
                        <a:t>億元</a:t>
                      </a:r>
                      <a:r>
                        <a:rPr lang="en-US" altLang="zh-TW" sz="1100" b="1" dirty="0">
                          <a:latin typeface="微軟正黑體" panose="020B0604030504040204" pitchFamily="34" charset="-120"/>
                          <a:ea typeface="微軟正黑體" panose="020B0604030504040204" pitchFamily="34" charset="-120"/>
                        </a:rPr>
                        <a:t>)</a:t>
                      </a:r>
                      <a:endParaRPr lang="zh-TW" altLang="en-US" sz="1100" b="1"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sz="1100" b="0" i="0" dirty="0">
                          <a:latin typeface="微軟正黑體" panose="020B0604030504040204" pitchFamily="34" charset="-120"/>
                          <a:ea typeface="微軟正黑體" panose="020B0604030504040204" pitchFamily="34" charset="-120"/>
                        </a:rPr>
                        <a:t>78.55</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100" b="0" dirty="0">
                          <a:latin typeface="微軟正黑體" panose="020B0604030504040204" pitchFamily="34" charset="-120"/>
                          <a:ea typeface="微軟正黑體" panose="020B0604030504040204" pitchFamily="34" charset="-120"/>
                        </a:rPr>
                        <a:t>117.68</a:t>
                      </a:r>
                      <a:endParaRPr lang="zh-TW" altLang="en-US" sz="110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100" b="0" dirty="0">
                          <a:latin typeface="微軟正黑體" panose="020B0604030504040204" pitchFamily="34" charset="-120"/>
                          <a:ea typeface="微軟正黑體" panose="020B0604030504040204" pitchFamily="34" charset="-120"/>
                        </a:rPr>
                        <a:t>161.39</a:t>
                      </a:r>
                      <a:endParaRPr lang="zh-TW" altLang="en-US" sz="110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18983443"/>
                  </a:ext>
                </a:extLst>
              </a:tr>
              <a:tr h="234785">
                <a:tc>
                  <a:txBody>
                    <a:bodyPr/>
                    <a:lstStyle/>
                    <a:p>
                      <a:pPr algn="ctr">
                        <a:buNone/>
                      </a:pPr>
                      <a:r>
                        <a:rPr lang="zh-TW" altLang="en-US" sz="1100" b="1" dirty="0">
                          <a:latin typeface="微軟正黑體" panose="020B0604030504040204" pitchFamily="34" charset="-120"/>
                          <a:ea typeface="微軟正黑體" panose="020B0604030504040204" pitchFamily="34" charset="-120"/>
                        </a:rPr>
                        <a:t>規模成長金額</a:t>
                      </a:r>
                      <a:r>
                        <a:rPr lang="en-US" altLang="zh-TW" sz="1100" b="1" dirty="0">
                          <a:latin typeface="微軟正黑體" panose="020B0604030504040204" pitchFamily="34" charset="-120"/>
                          <a:ea typeface="微軟正黑體" panose="020B0604030504040204" pitchFamily="34" charset="-120"/>
                        </a:rPr>
                        <a:t>(</a:t>
                      </a:r>
                      <a:r>
                        <a:rPr lang="zh-TW" altLang="en-US" sz="1100" b="1" dirty="0">
                          <a:latin typeface="微軟正黑體" panose="020B0604030504040204" pitchFamily="34" charset="-120"/>
                          <a:ea typeface="微軟正黑體" panose="020B0604030504040204" pitchFamily="34" charset="-120"/>
                        </a:rPr>
                        <a:t>億元</a:t>
                      </a:r>
                      <a:r>
                        <a:rPr lang="en-US" altLang="zh-TW" sz="1100" b="1" dirty="0">
                          <a:latin typeface="微軟正黑體" panose="020B0604030504040204" pitchFamily="34" charset="-120"/>
                          <a:ea typeface="微軟正黑體" panose="020B0604030504040204" pitchFamily="34" charset="-120"/>
                        </a:rPr>
                        <a:t>)</a:t>
                      </a:r>
                      <a:endParaRPr lang="zh-TW" altLang="en-US" sz="1100" b="1"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100" b="0" dirty="0">
                          <a:latin typeface="微軟正黑體" panose="020B0604030504040204" pitchFamily="34" charset="-120"/>
                          <a:ea typeface="微軟正黑體" panose="020B0604030504040204" pitchFamily="34" charset="-120"/>
                        </a:rPr>
                        <a:t>-</a:t>
                      </a:r>
                      <a:endParaRPr lang="zh-TW" altLang="en-US" sz="110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100" b="0" dirty="0">
                          <a:latin typeface="微軟正黑體" panose="020B0604030504040204" pitchFamily="34" charset="-120"/>
                          <a:ea typeface="微軟正黑體" panose="020B0604030504040204" pitchFamily="34" charset="-120"/>
                        </a:rPr>
                        <a:t>39.13</a:t>
                      </a:r>
                      <a:endParaRPr lang="zh-TW" altLang="en-US" sz="110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100" b="0" dirty="0">
                          <a:latin typeface="微軟正黑體" panose="020B0604030504040204" pitchFamily="34" charset="-120"/>
                          <a:ea typeface="微軟正黑體" panose="020B0604030504040204" pitchFamily="34" charset="-120"/>
                        </a:rPr>
                        <a:t>43.71</a:t>
                      </a:r>
                      <a:endParaRPr lang="zh-TW" altLang="en-US" sz="110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82756970"/>
                  </a:ext>
                </a:extLst>
              </a:tr>
              <a:tr h="234785">
                <a:tc>
                  <a:txBody>
                    <a:bodyPr/>
                    <a:lstStyle/>
                    <a:p>
                      <a:pPr algn="ctr">
                        <a:buNone/>
                      </a:pPr>
                      <a:r>
                        <a:rPr lang="zh-TW" altLang="en-US" sz="1100" b="1" dirty="0">
                          <a:latin typeface="微軟正黑體" panose="020B0604030504040204" pitchFamily="34" charset="-120"/>
                          <a:ea typeface="微軟正黑體" panose="020B0604030504040204" pitchFamily="34" charset="-120"/>
                        </a:rPr>
                        <a:t>規模成長率</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TW" sz="1100" b="0" dirty="0">
                          <a:latin typeface="微軟正黑體" panose="020B0604030504040204" pitchFamily="34" charset="-120"/>
                          <a:ea typeface="微軟正黑體" panose="020B0604030504040204" pitchFamily="34" charset="-120"/>
                        </a:rPr>
                        <a:t>-</a:t>
                      </a:r>
                      <a:endParaRPr lang="zh-TW" altLang="en-US" sz="110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TW" sz="1100" b="0" dirty="0">
                          <a:latin typeface="微軟正黑體" panose="020B0604030504040204" pitchFamily="34" charset="-120"/>
                          <a:ea typeface="微軟正黑體" panose="020B0604030504040204" pitchFamily="34" charset="-120"/>
                        </a:rPr>
                        <a:t>50%</a:t>
                      </a:r>
                      <a:endParaRPr lang="zh-TW" altLang="en-US" sz="110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TW" sz="1100" b="0" dirty="0">
                          <a:latin typeface="微軟正黑體" panose="020B0604030504040204" pitchFamily="34" charset="-120"/>
                          <a:ea typeface="微軟正黑體" panose="020B0604030504040204" pitchFamily="34" charset="-120"/>
                        </a:rPr>
                        <a:t>37%</a:t>
                      </a:r>
                      <a:endParaRPr lang="zh-TW" altLang="en-US" sz="110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7185622"/>
                  </a:ext>
                </a:extLst>
              </a:tr>
            </a:tbl>
          </a:graphicData>
        </a:graphic>
      </p:graphicFrame>
    </p:spTree>
    <p:extLst>
      <p:ext uri="{BB962C8B-B14F-4D97-AF65-F5344CB8AC3E}">
        <p14:creationId xmlns:p14="http://schemas.microsoft.com/office/powerpoint/2010/main" val="115074416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0A8017B5-A008-9F7D-65DC-331041FCDBD2}"/>
              </a:ext>
            </a:extLst>
          </p:cNvPr>
          <p:cNvSpPr txBox="1"/>
          <p:nvPr/>
        </p:nvSpPr>
        <p:spPr>
          <a:xfrm>
            <a:off x="311920" y="314805"/>
            <a:ext cx="8605503" cy="396919"/>
          </a:xfrm>
          <a:prstGeom prst="rect">
            <a:avLst/>
          </a:prstGeom>
          <a:solidFill>
            <a:schemeClr val="accent1">
              <a:lumMod val="20000"/>
              <a:lumOff val="80000"/>
            </a:schemeClr>
          </a:solidFill>
          <a:ln w="6350" cap="flat" cmpd="sng" algn="ctr">
            <a:solidFill>
              <a:schemeClr val="tx2">
                <a:lumMod val="20000"/>
                <a:lumOff val="80000"/>
              </a:schemeClr>
            </a:solidFill>
            <a:prstDash val="solid"/>
            <a:miter lim="800000"/>
          </a:ln>
          <a:effectLst/>
        </p:spPr>
        <p:txBody>
          <a:bodyPr wrap="square">
            <a:noAutofit/>
          </a:bodyPr>
          <a:lstStyle>
            <a:defPPr>
              <a:defRPr lang="en-US"/>
            </a:defPPr>
            <a:lvl1pPr marR="0" lvl="0" indent="0">
              <a:lnSpc>
                <a:spcPct val="100000"/>
              </a:lnSpc>
              <a:spcBef>
                <a:spcPts val="0"/>
              </a:spcBef>
              <a:spcAft>
                <a:spcPts val="0"/>
              </a:spcAft>
              <a:buClrTx/>
              <a:buSzTx/>
              <a:buFontTx/>
              <a:buNone/>
              <a:tabLst/>
              <a:defRPr sz="2000" i="0">
                <a:solidFill>
                  <a:srgbClr val="000000"/>
                </a:solidFill>
                <a:effectLst/>
                <a:latin typeface="Noto Sans TC"/>
                <a:ea typeface="微軟正黑體" panose="020B0604030504040204" pitchFamily="34" charset="-120"/>
              </a:defRPr>
            </a:lvl1pPr>
          </a:lstStyle>
          <a:p>
            <a:r>
              <a:rPr lang="zh-TW" altLang="en-US" dirty="0"/>
              <a:t>超過</a:t>
            </a:r>
            <a:r>
              <a:rPr lang="en-US" altLang="zh-TW" dirty="0"/>
              <a:t>40</a:t>
            </a:r>
            <a:r>
              <a:rPr lang="zh-TW" altLang="en-US" dirty="0"/>
              <a:t>萬家使用！</a:t>
            </a:r>
            <a:r>
              <a:rPr lang="en-US" altLang="zh-TW" dirty="0"/>
              <a:t>TWQR</a:t>
            </a:r>
            <a:r>
              <a:rPr lang="zh-TW" altLang="en-US" dirty="0"/>
              <a:t>跨境支付預計</a:t>
            </a:r>
            <a:r>
              <a:rPr lang="en-US" altLang="zh-TW" dirty="0"/>
              <a:t>4</a:t>
            </a:r>
            <a:r>
              <a:rPr lang="zh-TW" altLang="en-US" dirty="0"/>
              <a:t>月底上線 外國旅客來台掃碼就能付</a:t>
            </a:r>
            <a:endParaRPr lang="en-US" altLang="zh-TW" dirty="0"/>
          </a:p>
        </p:txBody>
      </p:sp>
      <p:sp>
        <p:nvSpPr>
          <p:cNvPr id="2" name="文字方塊 1">
            <a:extLst>
              <a:ext uri="{FF2B5EF4-FFF2-40B4-BE49-F238E27FC236}">
                <a16:creationId xmlns:a16="http://schemas.microsoft.com/office/drawing/2014/main" id="{679A707D-D0C7-E2E4-96E4-C1B7F85936E8}"/>
              </a:ext>
            </a:extLst>
          </p:cNvPr>
          <p:cNvSpPr txBox="1"/>
          <p:nvPr/>
        </p:nvSpPr>
        <p:spPr>
          <a:xfrm>
            <a:off x="144000" y="864000"/>
            <a:ext cx="5760000" cy="5462909"/>
          </a:xfrm>
          <a:prstGeom prst="rect">
            <a:avLst/>
          </a:prstGeom>
          <a:solidFill>
            <a:sysClr val="window" lastClr="FFFFFF"/>
          </a:solidFill>
          <a:ln w="12700" cap="flat" cmpd="sng" algn="ctr">
            <a:solidFill>
              <a:schemeClr val="accent1"/>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fontAlgn="auto">
              <a:spcBef>
                <a:spcPts val="300"/>
              </a:spcBef>
              <a:spcAft>
                <a:spcPts val="0"/>
              </a:spcAft>
            </a:pPr>
            <a:r>
              <a:rPr lang="zh-TW" altLang="en-US" b="0" dirty="0"/>
              <a:t>來台旅遊不用再換現金了！</a:t>
            </a:r>
            <a:r>
              <a:rPr lang="zh-TW" altLang="en-US" dirty="0">
                <a:solidFill>
                  <a:srgbClr val="C00000"/>
                </a:solidFill>
              </a:rPr>
              <a:t>財金公司宣布</a:t>
            </a:r>
            <a:r>
              <a:rPr lang="en-US" altLang="zh-TW" dirty="0">
                <a:solidFill>
                  <a:srgbClr val="C00000"/>
                </a:solidFill>
              </a:rPr>
              <a:t>TWQR</a:t>
            </a:r>
            <a:r>
              <a:rPr lang="zh-TW" altLang="en-US" dirty="0">
                <a:solidFill>
                  <a:srgbClr val="C00000"/>
                </a:solidFill>
              </a:rPr>
              <a:t>跨境支付「</a:t>
            </a:r>
            <a:r>
              <a:rPr lang="en-US" altLang="zh-TW" dirty="0">
                <a:solidFill>
                  <a:srgbClr val="C00000"/>
                </a:solidFill>
              </a:rPr>
              <a:t>TWQR Inbound</a:t>
            </a:r>
            <a:r>
              <a:rPr lang="zh-TW" altLang="en-US" dirty="0">
                <a:solidFill>
                  <a:srgbClr val="C00000"/>
                </a:solidFill>
              </a:rPr>
              <a:t>」正式啟用，預計</a:t>
            </a:r>
            <a:r>
              <a:rPr lang="en-US" altLang="zh-TW" dirty="0">
                <a:solidFill>
                  <a:srgbClr val="C00000"/>
                </a:solidFill>
              </a:rPr>
              <a:t>4</a:t>
            </a:r>
            <a:r>
              <a:rPr lang="zh-TW" altLang="en-US" dirty="0">
                <a:solidFill>
                  <a:srgbClr val="C00000"/>
                </a:solidFill>
              </a:rPr>
              <a:t>月底上線使用，串聯日本</a:t>
            </a:r>
            <a:r>
              <a:rPr lang="en-US" altLang="zh-TW" dirty="0" err="1">
                <a:solidFill>
                  <a:srgbClr val="C00000"/>
                </a:solidFill>
              </a:rPr>
              <a:t>PayPay</a:t>
            </a:r>
            <a:r>
              <a:rPr lang="zh-TW" altLang="en-US" dirty="0">
                <a:solidFill>
                  <a:srgbClr val="C00000"/>
                </a:solidFill>
              </a:rPr>
              <a:t>與新加坡</a:t>
            </a:r>
            <a:r>
              <a:rPr lang="en-US" altLang="zh-TW" dirty="0">
                <a:solidFill>
                  <a:srgbClr val="C00000"/>
                </a:solidFill>
              </a:rPr>
              <a:t>NETS</a:t>
            </a:r>
            <a:r>
              <a:rPr lang="zh-TW" altLang="en-US" dirty="0">
                <a:solidFill>
                  <a:srgbClr val="C00000"/>
                </a:solidFill>
              </a:rPr>
              <a:t>，外國旅客只要用手機掃碼就能付款，目前全台已有逾</a:t>
            </a:r>
            <a:r>
              <a:rPr lang="en-US" altLang="zh-TW" dirty="0">
                <a:solidFill>
                  <a:srgbClr val="C00000"/>
                </a:solidFill>
              </a:rPr>
              <a:t>40</a:t>
            </a:r>
            <a:r>
              <a:rPr lang="zh-TW" altLang="en-US" dirty="0">
                <a:solidFill>
                  <a:srgbClr val="C00000"/>
                </a:solidFill>
              </a:rPr>
              <a:t>萬家商店支援，涵蓋超商、商圈與夜市</a:t>
            </a:r>
            <a:r>
              <a:rPr lang="zh-TW" altLang="en-US" b="0" dirty="0"/>
              <a:t>。</a:t>
            </a:r>
            <a:endParaRPr lang="en-US" altLang="zh-TW" b="0" dirty="0"/>
          </a:p>
          <a:p>
            <a:r>
              <a:rPr lang="zh-TW" altLang="en-US" b="0" dirty="0"/>
              <a:t>財金公司董事長林國良表示，</a:t>
            </a:r>
            <a:r>
              <a:rPr lang="zh-TW" altLang="en-US" dirty="0">
                <a:solidFill>
                  <a:srgbClr val="0070C0"/>
                </a:solidFill>
              </a:rPr>
              <a:t>此次服務上線除了支付功能升級，更是台灣與日本、新加坡等鄰近國家在數位金融合作上的重要里程碑，象徵跨境支付正式邁入新階段</a:t>
            </a:r>
            <a:r>
              <a:rPr lang="zh-TW" altLang="en-US" b="0" dirty="0"/>
              <a:t>。根據觀光署統計，去年來台旅客達</a:t>
            </a:r>
            <a:r>
              <a:rPr lang="en-US" altLang="zh-TW" b="0" dirty="0"/>
              <a:t>857</a:t>
            </a:r>
            <a:r>
              <a:rPr lang="zh-TW" altLang="en-US" b="0" dirty="0"/>
              <a:t>萬人次，年成長明顯，其中以日本旅客為最大來源。如何讓旅客在台灣消費「像在自己國家一樣方便」，一直是推動重點。</a:t>
            </a:r>
            <a:endParaRPr lang="en-US" altLang="zh-TW" b="0" dirty="0"/>
          </a:p>
          <a:p>
            <a:r>
              <a:rPr lang="zh-TW" altLang="en-US" b="0" dirty="0"/>
              <a:t>林國良表示，</a:t>
            </a:r>
            <a:r>
              <a:rPr lang="zh-TW" altLang="en-US" dirty="0">
                <a:solidFill>
                  <a:srgbClr val="0070C0"/>
                </a:solidFill>
              </a:rPr>
              <a:t>過去國際旅客來台常面臨換匯、找零及小額支付不便等問題，隨著</a:t>
            </a:r>
            <a:r>
              <a:rPr lang="en-US" altLang="zh-TW" dirty="0">
                <a:solidFill>
                  <a:srgbClr val="0070C0"/>
                </a:solidFill>
              </a:rPr>
              <a:t>TWQR</a:t>
            </a:r>
            <a:r>
              <a:rPr lang="zh-TW" altLang="en-US" dirty="0">
                <a:solidFill>
                  <a:srgbClr val="0070C0"/>
                </a:solidFill>
              </a:rPr>
              <a:t>跨境服務啟用，未來旅客只需使用熟悉的手機支付工具，即可完成消費，「掃碼即可付款」，大幅提升旅遊便利性</a:t>
            </a:r>
            <a:r>
              <a:rPr lang="zh-TW" altLang="en-US" b="0" dirty="0"/>
              <a:t>。</a:t>
            </a:r>
          </a:p>
          <a:p>
            <a:r>
              <a:rPr lang="zh-TW" altLang="en-US" dirty="0">
                <a:solidFill>
                  <a:srgbClr val="0070C0"/>
                </a:solidFill>
              </a:rPr>
              <a:t>此次合作串聯</a:t>
            </a:r>
            <a:r>
              <a:rPr lang="en-US" altLang="zh-TW" dirty="0" err="1">
                <a:solidFill>
                  <a:srgbClr val="0070C0"/>
                </a:solidFill>
              </a:rPr>
              <a:t>PayPay</a:t>
            </a:r>
            <a:r>
              <a:rPr lang="zh-TW" altLang="en-US" dirty="0">
                <a:solidFill>
                  <a:srgbClr val="0070C0"/>
                </a:solidFill>
              </a:rPr>
              <a:t>與新加坡國家級支付系統</a:t>
            </a:r>
            <a:r>
              <a:rPr lang="en-US" altLang="zh-TW" dirty="0">
                <a:solidFill>
                  <a:srgbClr val="0070C0"/>
                </a:solidFill>
              </a:rPr>
              <a:t>NETS</a:t>
            </a:r>
            <a:r>
              <a:rPr lang="zh-TW" altLang="en-US" dirty="0">
                <a:solidFill>
                  <a:srgbClr val="0070C0"/>
                </a:solidFill>
              </a:rPr>
              <a:t>，未來日本及新加坡旅客來台，可直接以當地常用電子錢包進行支付</a:t>
            </a:r>
            <a:r>
              <a:rPr lang="zh-TW" altLang="en-US" b="0" dirty="0"/>
              <a:t>。林國良指出，預計自今年</a:t>
            </a:r>
            <a:r>
              <a:rPr lang="en-US" altLang="zh-TW" b="0" dirty="0"/>
              <a:t>4</a:t>
            </a:r>
            <a:r>
              <a:rPr lang="zh-TW" altLang="en-US" b="0" dirty="0"/>
              <a:t>月底起，日本及第二季新加坡旅客，即可陸續使用相關服務。他也提到，</a:t>
            </a:r>
            <a:r>
              <a:rPr lang="zh-TW" altLang="en-US" dirty="0">
                <a:solidFill>
                  <a:srgbClr val="0070C0"/>
                </a:solidFill>
              </a:rPr>
              <a:t>目前全台已有超過</a:t>
            </a:r>
            <a:r>
              <a:rPr lang="en-US" altLang="zh-TW" dirty="0">
                <a:solidFill>
                  <a:srgbClr val="0070C0"/>
                </a:solidFill>
              </a:rPr>
              <a:t>40</a:t>
            </a:r>
            <a:r>
              <a:rPr lang="zh-TW" altLang="en-US" dirty="0">
                <a:solidFill>
                  <a:srgbClr val="0070C0"/>
                </a:solidFill>
              </a:rPr>
              <a:t>萬家商店導入</a:t>
            </a:r>
            <a:r>
              <a:rPr lang="en-US" altLang="zh-TW" dirty="0">
                <a:solidFill>
                  <a:srgbClr val="0070C0"/>
                </a:solidFill>
              </a:rPr>
              <a:t>TWQR</a:t>
            </a:r>
            <a:r>
              <a:rPr lang="zh-TW" altLang="en-US" dirty="0">
                <a:solidFill>
                  <a:srgbClr val="0070C0"/>
                </a:solidFill>
              </a:rPr>
              <a:t>，包括四大超商、免稅商店、商圈及夜市等場域，支付場景已相當普及</a:t>
            </a:r>
            <a:r>
              <a:rPr lang="zh-TW" altLang="en-US" b="0" dirty="0"/>
              <a:t>。</a:t>
            </a:r>
          </a:p>
          <a:p>
            <a:endParaRPr lang="zh-TW" altLang="en-US" b="0" i="0" dirty="0">
              <a:solidFill>
                <a:srgbClr val="272727"/>
              </a:solidFill>
              <a:effectLst/>
              <a:latin typeface="system-ui"/>
            </a:endParaRPr>
          </a:p>
        </p:txBody>
      </p:sp>
      <p:sp>
        <p:nvSpPr>
          <p:cNvPr id="4" name="文字方塊 3">
            <a:extLst>
              <a:ext uri="{FF2B5EF4-FFF2-40B4-BE49-F238E27FC236}">
                <a16:creationId xmlns:a16="http://schemas.microsoft.com/office/drawing/2014/main" id="{1E007B00-45A5-3605-1517-6282B8858C0B}"/>
              </a:ext>
            </a:extLst>
          </p:cNvPr>
          <p:cNvSpPr txBox="1"/>
          <p:nvPr/>
        </p:nvSpPr>
        <p:spPr>
          <a:xfrm>
            <a:off x="6048000" y="864001"/>
            <a:ext cx="5760000" cy="2623666"/>
          </a:xfrm>
          <a:prstGeom prst="rect">
            <a:avLst/>
          </a:prstGeom>
          <a:solidFill>
            <a:sysClr val="window" lastClr="FFFFFF"/>
          </a:solidFill>
          <a:ln w="12700" cap="flat" cmpd="sng" algn="ctr">
            <a:solidFill>
              <a:schemeClr val="accent1"/>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TW" altLang="en-US" b="0" dirty="0"/>
              <a:t>林國良指出，</a:t>
            </a:r>
            <a:r>
              <a:rPr lang="zh-TW" altLang="en-US" dirty="0">
                <a:solidFill>
                  <a:srgbClr val="C00000"/>
                </a:solidFill>
              </a:rPr>
              <a:t>日本</a:t>
            </a:r>
            <a:r>
              <a:rPr lang="en-US" altLang="zh-TW" dirty="0" err="1">
                <a:solidFill>
                  <a:srgbClr val="C00000"/>
                </a:solidFill>
              </a:rPr>
              <a:t>PayPay</a:t>
            </a:r>
            <a:r>
              <a:rPr lang="zh-TW" altLang="en-US" dirty="0">
                <a:solidFill>
                  <a:srgbClr val="C00000"/>
                </a:solidFill>
              </a:rPr>
              <a:t>在當地市占率約達</a:t>
            </a:r>
            <a:r>
              <a:rPr lang="en-US" altLang="zh-TW" dirty="0">
                <a:solidFill>
                  <a:srgbClr val="C00000"/>
                </a:solidFill>
              </a:rPr>
              <a:t>7</a:t>
            </a:r>
            <a:r>
              <a:rPr lang="zh-TW" altLang="en-US" dirty="0">
                <a:solidFill>
                  <a:srgbClr val="C00000"/>
                </a:solidFill>
              </a:rPr>
              <a:t>成、用戶數超過</a:t>
            </a:r>
            <a:r>
              <a:rPr lang="en-US" altLang="zh-TW" dirty="0">
                <a:solidFill>
                  <a:srgbClr val="C00000"/>
                </a:solidFill>
              </a:rPr>
              <a:t>7700</a:t>
            </a:r>
            <a:r>
              <a:rPr lang="zh-TW" altLang="en-US" dirty="0">
                <a:solidFill>
                  <a:srgbClr val="C00000"/>
                </a:solidFill>
              </a:rPr>
              <a:t>萬人；新加坡</a:t>
            </a:r>
            <a:r>
              <a:rPr lang="en-US" altLang="zh-TW" dirty="0">
                <a:solidFill>
                  <a:srgbClr val="C00000"/>
                </a:solidFill>
              </a:rPr>
              <a:t>NETS</a:t>
            </a:r>
            <a:r>
              <a:rPr lang="zh-TW" altLang="en-US" dirty="0">
                <a:solidFill>
                  <a:srgbClr val="C00000"/>
                </a:solidFill>
              </a:rPr>
              <a:t>則串聯逾</a:t>
            </a:r>
            <a:r>
              <a:rPr lang="en-US" altLang="zh-TW" dirty="0">
                <a:solidFill>
                  <a:srgbClr val="C00000"/>
                </a:solidFill>
              </a:rPr>
              <a:t>1100</a:t>
            </a:r>
            <a:r>
              <a:rPr lang="zh-TW" altLang="en-US" dirty="0">
                <a:solidFill>
                  <a:srgbClr val="C00000"/>
                </a:solidFill>
              </a:rPr>
              <a:t>萬用戶，兩大支付平台導入後，可望大幅提升外國旅客在台消費便利性</a:t>
            </a:r>
            <a:r>
              <a:rPr lang="zh-TW" altLang="en-US" b="0" dirty="0"/>
              <a:t>。</a:t>
            </a:r>
          </a:p>
          <a:p>
            <a:r>
              <a:rPr lang="zh-TW" altLang="en-US" b="0" dirty="0"/>
              <a:t>他表示，未來將持續優化雙向支付體驗，並進一步拓展至東南亞、港澳等鄰近市場，打造更完整的跨境支付網絡，提升台灣觀光與消費環境競爭力。林國良表示，跨境支付的推動有賴主管機關與金融機構共同合作，包括金管會、中央銀行及財政部等單位支持，未來也將持續推動數位金融創新，讓台灣朝向更便利的國際旅遊環境邁進。</a:t>
            </a:r>
          </a:p>
          <a:p>
            <a:endParaRPr lang="zh-TW" altLang="en-US" b="0" dirty="0"/>
          </a:p>
          <a:p>
            <a:pPr fontAlgn="auto">
              <a:spcBef>
                <a:spcPts val="300"/>
              </a:spcBef>
              <a:spcAft>
                <a:spcPts val="0"/>
              </a:spcAft>
            </a:pPr>
            <a:endParaRPr lang="zh-TW" altLang="en-US" b="0" dirty="0">
              <a:solidFill>
                <a:srgbClr val="272727"/>
              </a:solidFill>
            </a:endParaRPr>
          </a:p>
          <a:p>
            <a:pPr algn="l" fontAlgn="base">
              <a:spcBef>
                <a:spcPts val="300"/>
              </a:spcBef>
            </a:pPr>
            <a:endParaRPr lang="zh-TW" altLang="en-US" b="0" i="0" dirty="0">
              <a:solidFill>
                <a:srgbClr val="272727"/>
              </a:solidFill>
              <a:effectLst/>
              <a:latin typeface="system-ui"/>
            </a:endParaRPr>
          </a:p>
        </p:txBody>
      </p:sp>
      <p:sp>
        <p:nvSpPr>
          <p:cNvPr id="11" name="矩形 10">
            <a:extLst>
              <a:ext uri="{FF2B5EF4-FFF2-40B4-BE49-F238E27FC236}">
                <a16:creationId xmlns:a16="http://schemas.microsoft.com/office/drawing/2014/main" id="{A254FC5C-4B08-F79C-A27A-9FFA7FFAE78F}"/>
              </a:ext>
            </a:extLst>
          </p:cNvPr>
          <p:cNvSpPr/>
          <p:nvPr/>
        </p:nvSpPr>
        <p:spPr>
          <a:xfrm>
            <a:off x="8917423" y="435548"/>
            <a:ext cx="1609736" cy="276999"/>
          </a:xfrm>
          <a:prstGeom prst="rect">
            <a:avLst/>
          </a:prstGeom>
        </p:spPr>
        <p:txBody>
          <a:bodyPr wrap="none">
            <a:spAutoFit/>
          </a:bodyPr>
          <a:lstStyle/>
          <a:p>
            <a:pPr fontAlgn="auto">
              <a:spcBef>
                <a:spcPts val="0"/>
              </a:spcBef>
              <a:spcAft>
                <a:spcPts val="0"/>
              </a:spcAft>
            </a:pPr>
            <a:r>
              <a:rPr lang="en-US" altLang="zh-TW" sz="1200" b="0" dirty="0">
                <a:solidFill>
                  <a:prstClr val="black"/>
                </a:solidFill>
                <a:latin typeface="Arial" panose="020B0604020202020204" pitchFamily="34" charset="0"/>
                <a:ea typeface="微軟正黑體" panose="020B0604030504040204" pitchFamily="34" charset="-120"/>
              </a:rPr>
              <a:t>2026/04/14 </a:t>
            </a:r>
            <a:r>
              <a:rPr lang="zh-TW" altLang="en-US" sz="1200" b="0" dirty="0">
                <a:solidFill>
                  <a:prstClr val="black"/>
                </a:solidFill>
                <a:latin typeface="Arial" panose="020B0604020202020204" pitchFamily="34" charset="0"/>
                <a:ea typeface="微軟正黑體" panose="020B0604030504040204" pitchFamily="34" charset="-120"/>
              </a:rPr>
              <a:t>工商時報</a:t>
            </a:r>
          </a:p>
        </p:txBody>
      </p:sp>
      <p:sp>
        <p:nvSpPr>
          <p:cNvPr id="10" name="文字方塊 9">
            <a:extLst>
              <a:ext uri="{FF2B5EF4-FFF2-40B4-BE49-F238E27FC236}">
                <a16:creationId xmlns:a16="http://schemas.microsoft.com/office/drawing/2014/main" id="{E3223E24-C94D-322E-A2FF-647D1DEB2ACB}"/>
              </a:ext>
            </a:extLst>
          </p:cNvPr>
          <p:cNvSpPr txBox="1"/>
          <p:nvPr/>
        </p:nvSpPr>
        <p:spPr>
          <a:xfrm>
            <a:off x="6051316" y="3548207"/>
            <a:ext cx="5765772" cy="360000"/>
          </a:xfrm>
          <a:prstGeom prst="rect">
            <a:avLst/>
          </a:prstGeom>
          <a:solidFill>
            <a:srgbClr val="595959"/>
          </a:solidFill>
          <a:ln w="12700" cap="flat" cmpd="sng" algn="ctr">
            <a:noFill/>
            <a:prstDash val="solid"/>
            <a:miter lim="800000"/>
          </a:ln>
          <a:effectLst/>
        </p:spPr>
        <p:txBody>
          <a:bodyPr rtlCol="0" anchor="ct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i="0" u="none" strike="noStrike" kern="0" cap="none" spc="0" normalizeH="0" baseline="0">
                <a:ln>
                  <a:noFill/>
                </a:ln>
                <a:solidFill>
                  <a:prstClr val="white"/>
                </a:solidFill>
                <a:effectLst/>
                <a:uLnTx/>
                <a:uFillTx/>
                <a:latin typeface="微軟正黑體" panose="020B0604030504040204" pitchFamily="34" charset="-120"/>
                <a:ea typeface="微軟正黑體" panose="020B0604030504040204" pitchFamily="34" charset="-120"/>
              </a:defRPr>
            </a:lvl1pPr>
            <a:lvl2pPr>
              <a:defRPr>
                <a:solidFill>
                  <a:schemeClr val="tx1"/>
                </a:solidFill>
                <a:latin typeface="Arial" charset="0"/>
                <a:ea typeface="华文楷体" pitchFamily="2" charset="-122"/>
              </a:defRPr>
            </a:lvl2pPr>
            <a:lvl3pPr>
              <a:defRPr>
                <a:solidFill>
                  <a:schemeClr val="tx1"/>
                </a:solidFill>
                <a:latin typeface="Arial" charset="0"/>
                <a:ea typeface="华文楷体" pitchFamily="2" charset="-122"/>
              </a:defRPr>
            </a:lvl3pPr>
            <a:lvl4pPr>
              <a:defRPr>
                <a:solidFill>
                  <a:schemeClr val="tx1"/>
                </a:solidFill>
                <a:latin typeface="Arial" charset="0"/>
                <a:ea typeface="华文楷体" pitchFamily="2" charset="-122"/>
              </a:defRPr>
            </a:lvl4pPr>
            <a:lvl5pPr>
              <a:defRPr>
                <a:solidFill>
                  <a:schemeClr val="tx1"/>
                </a:solidFill>
                <a:latin typeface="Arial" charset="0"/>
                <a:ea typeface="华文楷体" pitchFamily="2" charset="-122"/>
              </a:defRPr>
            </a:lvl5pPr>
            <a:lvl6pPr>
              <a:defRPr>
                <a:solidFill>
                  <a:schemeClr val="tx1"/>
                </a:solidFill>
                <a:latin typeface="Arial" charset="0"/>
                <a:ea typeface="华文楷体" pitchFamily="2" charset="-122"/>
              </a:defRPr>
            </a:lvl6pPr>
            <a:lvl7pPr>
              <a:defRPr>
                <a:solidFill>
                  <a:schemeClr val="tx1"/>
                </a:solidFill>
                <a:latin typeface="Arial" charset="0"/>
                <a:ea typeface="华文楷体" pitchFamily="2" charset="-122"/>
              </a:defRPr>
            </a:lvl7pPr>
            <a:lvl8pPr>
              <a:defRPr>
                <a:solidFill>
                  <a:schemeClr val="tx1"/>
                </a:solidFill>
                <a:latin typeface="Arial" charset="0"/>
                <a:ea typeface="华文楷体" pitchFamily="2" charset="-122"/>
              </a:defRPr>
            </a:lvl8pPr>
            <a:lvl9pPr>
              <a:defRPr>
                <a:solidFill>
                  <a:schemeClr val="tx1"/>
                </a:solidFill>
                <a:latin typeface="Arial" charset="0"/>
                <a:ea typeface="华文楷体" pitchFamily="2" charset="-122"/>
              </a:defRPr>
            </a:lvl9pPr>
          </a:lstStyle>
          <a:p>
            <a:r>
              <a:rPr lang="en-US" altLang="zh-TW" dirty="0"/>
              <a:t>TWQR Inbound</a:t>
            </a:r>
            <a:r>
              <a:rPr lang="zh-TW" altLang="en-US" dirty="0"/>
              <a:t>服務上線概況</a:t>
            </a:r>
            <a:endParaRPr lang="en-US" altLang="zh-TW" sz="1400" dirty="0"/>
          </a:p>
        </p:txBody>
      </p:sp>
      <p:sp>
        <p:nvSpPr>
          <p:cNvPr id="23" name="文字方塊 22">
            <a:extLst>
              <a:ext uri="{FF2B5EF4-FFF2-40B4-BE49-F238E27FC236}">
                <a16:creationId xmlns:a16="http://schemas.microsoft.com/office/drawing/2014/main" id="{5E80AED0-DA68-913B-D72C-F468ECF0FB09}"/>
              </a:ext>
            </a:extLst>
          </p:cNvPr>
          <p:cNvSpPr txBox="1"/>
          <p:nvPr/>
        </p:nvSpPr>
        <p:spPr>
          <a:xfrm>
            <a:off x="10604635" y="3675728"/>
            <a:ext cx="2002457" cy="230832"/>
          </a:xfrm>
          <a:prstGeom prst="rect">
            <a:avLst/>
          </a:prstGeom>
          <a:noFill/>
        </p:spPr>
        <p:txBody>
          <a:bodyPr wrap="square">
            <a:spAutoFit/>
          </a:bodyPr>
          <a:lstStyle/>
          <a:p>
            <a:r>
              <a:rPr lang="zh-TW" altLang="en-US" sz="900" dirty="0">
                <a:solidFill>
                  <a:schemeClr val="bg1"/>
                </a:solidFill>
                <a:latin typeface="微軟正黑體" panose="020B0604030504040204" pitchFamily="34" charset="-120"/>
                <a:ea typeface="微軟正黑體" panose="020B0604030504040204" pitchFamily="34" charset="-120"/>
              </a:rPr>
              <a:t>資料來源：新聞整理</a:t>
            </a:r>
          </a:p>
        </p:txBody>
      </p:sp>
      <p:sp>
        <p:nvSpPr>
          <p:cNvPr id="7" name="文字方塊 6">
            <a:extLst>
              <a:ext uri="{FF2B5EF4-FFF2-40B4-BE49-F238E27FC236}">
                <a16:creationId xmlns:a16="http://schemas.microsoft.com/office/drawing/2014/main" id="{D7D59E6A-A495-077E-1A85-7E12BC0EB623}"/>
              </a:ext>
            </a:extLst>
          </p:cNvPr>
          <p:cNvSpPr txBox="1"/>
          <p:nvPr/>
        </p:nvSpPr>
        <p:spPr>
          <a:xfrm>
            <a:off x="5935789" y="9439420"/>
            <a:ext cx="2521884" cy="253916"/>
          </a:xfrm>
          <a:prstGeom prst="rect">
            <a:avLst/>
          </a:prstGeom>
          <a:noFill/>
        </p:spPr>
        <p:txBody>
          <a:bodyPr wrap="square">
            <a:spAutoFit/>
          </a:bodyPr>
          <a:lstStyle/>
          <a:p>
            <a:r>
              <a:rPr kumimoji="0" lang="zh-TW" altLang="en-US" sz="1050" b="0" i="0" u="none" strike="noStrike" kern="1200" cap="none" spc="0" normalizeH="0" baseline="0" noProof="0" dirty="0">
                <a:ln>
                  <a:noFill/>
                </a:ln>
                <a:effectLst/>
                <a:uLnTx/>
                <a:uFillTx/>
                <a:latin typeface="微軟正黑體" panose="020B0604030504040204" pitchFamily="34" charset="-120"/>
                <a:ea typeface="微軟正黑體" panose="020B0604030504040204" pitchFamily="34" charset="-120"/>
              </a:rPr>
              <a:t>備註：以使用者人數排名。</a:t>
            </a:r>
            <a:endParaRPr lang="zh-TW" altLang="en-US" b="0" dirty="0">
              <a:latin typeface="微軟正黑體" panose="020B0604030504040204" pitchFamily="34" charset="-120"/>
              <a:ea typeface="微軟正黑體" panose="020B0604030504040204" pitchFamily="34" charset="-120"/>
            </a:endParaRPr>
          </a:p>
        </p:txBody>
      </p:sp>
      <p:graphicFrame>
        <p:nvGraphicFramePr>
          <p:cNvPr id="13" name="表格 12">
            <a:extLst>
              <a:ext uri="{FF2B5EF4-FFF2-40B4-BE49-F238E27FC236}">
                <a16:creationId xmlns:a16="http://schemas.microsoft.com/office/drawing/2014/main" id="{7525A14A-3B4D-3384-7856-C257CC36615E}"/>
              </a:ext>
            </a:extLst>
          </p:cNvPr>
          <p:cNvGraphicFramePr>
            <a:graphicFrameLocks noGrp="1"/>
          </p:cNvGraphicFramePr>
          <p:nvPr>
            <p:extLst>
              <p:ext uri="{D42A27DB-BD31-4B8C-83A1-F6EECF244321}">
                <p14:modId xmlns:p14="http://schemas.microsoft.com/office/powerpoint/2010/main" val="1791808842"/>
              </p:ext>
            </p:extLst>
          </p:nvPr>
        </p:nvGraphicFramePr>
        <p:xfrm>
          <a:off x="6045113" y="3968747"/>
          <a:ext cx="5760000" cy="2586684"/>
        </p:xfrm>
        <a:graphic>
          <a:graphicData uri="http://schemas.openxmlformats.org/drawingml/2006/table">
            <a:tbl>
              <a:tblPr/>
              <a:tblGrid>
                <a:gridCol w="752197">
                  <a:extLst>
                    <a:ext uri="{9D8B030D-6E8A-4147-A177-3AD203B41FA5}">
                      <a16:colId xmlns:a16="http://schemas.microsoft.com/office/drawing/2014/main" val="4140024962"/>
                    </a:ext>
                  </a:extLst>
                </a:gridCol>
                <a:gridCol w="5007803">
                  <a:extLst>
                    <a:ext uri="{9D8B030D-6E8A-4147-A177-3AD203B41FA5}">
                      <a16:colId xmlns:a16="http://schemas.microsoft.com/office/drawing/2014/main" val="1178822676"/>
                    </a:ext>
                  </a:extLst>
                </a:gridCol>
              </a:tblGrid>
              <a:tr h="158739">
                <a:tc>
                  <a:txBody>
                    <a:bodyPr/>
                    <a:lstStyle/>
                    <a:p>
                      <a:pPr algn="ctr">
                        <a:buNone/>
                      </a:pPr>
                      <a:r>
                        <a:rPr lang="zh-TW" altLang="en-US" sz="1050" b="1" dirty="0">
                          <a:latin typeface="微軟正黑體" panose="020B0604030504040204" pitchFamily="34" charset="-120"/>
                          <a:ea typeface="微軟正黑體" panose="020B0604030504040204" pitchFamily="34" charset="-120"/>
                        </a:rPr>
                        <a:t>項目</a:t>
                      </a:r>
                      <a:endParaRPr lang="en-US" altLang="zh-TW" sz="1050" b="1"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tx2">
                        <a:lumMod val="20000"/>
                        <a:lumOff val="80000"/>
                      </a:schemeClr>
                    </a:solidFill>
                  </a:tcPr>
                </a:tc>
                <a:tc>
                  <a:txBody>
                    <a:bodyPr/>
                    <a:lstStyle/>
                    <a:p>
                      <a:pPr algn="ctr">
                        <a:buNone/>
                      </a:pPr>
                      <a:r>
                        <a:rPr lang="zh-TW" altLang="en-US" sz="1050" b="1" dirty="0">
                          <a:latin typeface="微軟正黑體" panose="020B0604030504040204" pitchFamily="34" charset="-120"/>
                          <a:ea typeface="微軟正黑體" panose="020B0604030504040204" pitchFamily="34" charset="-120"/>
                        </a:rPr>
                        <a:t>說明</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286020830"/>
                  </a:ext>
                </a:extLst>
              </a:tr>
              <a:tr h="291672">
                <a:tc>
                  <a:txBody>
                    <a:bodyPr/>
                    <a:lstStyle/>
                    <a:p>
                      <a:pPr algn="ctr">
                        <a:buNone/>
                      </a:pPr>
                      <a:r>
                        <a:rPr lang="zh-TW" altLang="en-US" sz="1050" b="0" dirty="0">
                          <a:latin typeface="微軟正黑體" panose="020B0604030504040204" pitchFamily="34" charset="-120"/>
                          <a:ea typeface="微軟正黑體" panose="020B0604030504040204" pitchFamily="34" charset="-120"/>
                        </a:rPr>
                        <a:t>支援</a:t>
                      </a:r>
                      <a:endParaRPr lang="en-US" altLang="zh-TW" sz="1050" b="0" dirty="0">
                        <a:latin typeface="微軟正黑體" panose="020B0604030504040204" pitchFamily="34" charset="-120"/>
                        <a:ea typeface="微軟正黑體" panose="020B0604030504040204" pitchFamily="34" charset="-120"/>
                      </a:endParaRPr>
                    </a:p>
                    <a:p>
                      <a:pPr algn="ctr">
                        <a:buNone/>
                      </a:pPr>
                      <a:r>
                        <a:rPr lang="zh-TW" altLang="en-US" sz="1050" b="0" dirty="0">
                          <a:latin typeface="微軟正黑體" panose="020B0604030504040204" pitchFamily="34" charset="-120"/>
                          <a:ea typeface="微軟正黑體" panose="020B0604030504040204" pitchFamily="34" charset="-120"/>
                        </a:rPr>
                        <a:t>國外電支</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indent="0" algn="l">
                        <a:buFont typeface="Arial" panose="020B0604020202020204" pitchFamily="34" charset="0"/>
                        <a:buNone/>
                      </a:pPr>
                      <a:r>
                        <a:rPr lang="zh-TW" altLang="en-US" sz="1050" b="0" i="0" dirty="0">
                          <a:latin typeface="微軟正黑體" panose="020B0604030504040204" pitchFamily="34" charset="-120"/>
                          <a:ea typeface="微軟正黑體" panose="020B0604030504040204" pitchFamily="34" charset="-120"/>
                        </a:rPr>
                        <a:t>日本</a:t>
                      </a:r>
                      <a:r>
                        <a:rPr lang="en-US" altLang="zh-TW" sz="1050" b="0" i="0" dirty="0" err="1">
                          <a:latin typeface="微軟正黑體" panose="020B0604030504040204" pitchFamily="34" charset="-120"/>
                          <a:ea typeface="微軟正黑體" panose="020B0604030504040204" pitchFamily="34" charset="-120"/>
                        </a:rPr>
                        <a:t>Paypay</a:t>
                      </a:r>
                      <a:r>
                        <a:rPr lang="zh-TW" altLang="en-US" sz="1050" b="0" i="0" dirty="0">
                          <a:latin typeface="微軟正黑體" panose="020B0604030504040204" pitchFamily="34" charset="-120"/>
                          <a:ea typeface="微軟正黑體" panose="020B0604030504040204" pitchFamily="34" charset="-120"/>
                        </a:rPr>
                        <a:t>；新加坡</a:t>
                      </a:r>
                      <a:r>
                        <a:rPr lang="en-US" altLang="zh-TW" sz="1050" b="0" i="0" dirty="0">
                          <a:latin typeface="微軟正黑體" panose="020B0604030504040204" pitchFamily="34" charset="-120"/>
                          <a:ea typeface="微軟正黑體" panose="020B0604030504040204" pitchFamily="34" charset="-120"/>
                        </a:rPr>
                        <a:t>NETS</a:t>
                      </a:r>
                      <a:endParaRPr lang="zh-TW" altLang="en-US" sz="1050" b="0" kern="1200" dirty="0">
                        <a:solidFill>
                          <a:schemeClr val="tx1"/>
                        </a:solidFill>
                        <a:latin typeface="微軟正黑體" panose="020B0604030504040204" pitchFamily="34" charset="-120"/>
                        <a:ea typeface="微軟正黑體" panose="020B0604030504040204" pitchFamily="34" charset="-120"/>
                        <a:cs typeface="+mn-cs"/>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06068198"/>
                  </a:ext>
                </a:extLst>
              </a:tr>
              <a:tr h="158739">
                <a:tc>
                  <a:txBody>
                    <a:bodyPr/>
                    <a:lstStyle/>
                    <a:p>
                      <a:pPr algn="ctr">
                        <a:buNone/>
                      </a:pPr>
                      <a:r>
                        <a:rPr lang="zh-TW" altLang="en-US" sz="1050" b="0" dirty="0">
                          <a:latin typeface="微軟正黑體" panose="020B0604030504040204" pitchFamily="34" charset="-120"/>
                          <a:ea typeface="微軟正黑體" panose="020B0604030504040204" pitchFamily="34" charset="-120"/>
                        </a:rPr>
                        <a:t>清算行</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indent="0" algn="l">
                        <a:buFont typeface="Arial" panose="020B0604020202020204" pitchFamily="34" charset="0"/>
                        <a:buNone/>
                      </a:pPr>
                      <a:r>
                        <a:rPr lang="zh-TW" altLang="en-US" sz="1050" b="0" i="0" dirty="0">
                          <a:latin typeface="微軟正黑體" panose="020B0604030504040204" pitchFamily="34" charset="-120"/>
                          <a:ea typeface="微軟正黑體" panose="020B0604030504040204" pitchFamily="34" charset="-120"/>
                        </a:rPr>
                        <a:t>日本</a:t>
                      </a:r>
                      <a:r>
                        <a:rPr lang="en-US" altLang="zh-TW" sz="1050" b="0" i="0" dirty="0" err="1">
                          <a:latin typeface="微軟正黑體" panose="020B0604030504040204" pitchFamily="34" charset="-120"/>
                          <a:ea typeface="微軟正黑體" panose="020B0604030504040204" pitchFamily="34" charset="-120"/>
                        </a:rPr>
                        <a:t>Paypay</a:t>
                      </a:r>
                      <a:r>
                        <a:rPr lang="en-US" altLang="zh-TW" sz="1050" b="0" i="0" dirty="0">
                          <a:latin typeface="微軟正黑體" panose="020B0604030504040204" pitchFamily="34" charset="-120"/>
                          <a:ea typeface="微軟正黑體" panose="020B0604030504040204" pitchFamily="34" charset="-120"/>
                        </a:rPr>
                        <a:t>-</a:t>
                      </a:r>
                      <a:r>
                        <a:rPr lang="zh-TW" altLang="en-US" sz="1050" b="0" i="0" dirty="0">
                          <a:latin typeface="微軟正黑體" panose="020B0604030504040204" pitchFamily="34" charset="-120"/>
                          <a:ea typeface="微軟正黑體" panose="020B0604030504040204" pitchFamily="34" charset="-120"/>
                        </a:rPr>
                        <a:t>玉山</a:t>
                      </a:r>
                      <a:r>
                        <a:rPr lang="en-US" altLang="zh-TW" sz="1050" b="0" i="0" dirty="0">
                          <a:latin typeface="微軟正黑體" panose="020B0604030504040204" pitchFamily="34" charset="-120"/>
                          <a:ea typeface="微軟正黑體" panose="020B0604030504040204" pitchFamily="34" charset="-120"/>
                        </a:rPr>
                        <a:t>(</a:t>
                      </a:r>
                      <a:r>
                        <a:rPr lang="zh-TW" altLang="en-US" sz="1050" b="0" i="0" dirty="0">
                          <a:latin typeface="微軟正黑體" panose="020B0604030504040204" pitchFamily="34" charset="-120"/>
                          <a:ea typeface="微軟正黑體" panose="020B0604030504040204" pitchFamily="34" charset="-120"/>
                        </a:rPr>
                        <a:t>預計四月底先上線</a:t>
                      </a:r>
                      <a:r>
                        <a:rPr lang="en-US" altLang="zh-TW" sz="1050" b="0" i="0" dirty="0">
                          <a:latin typeface="微軟正黑體" panose="020B0604030504040204" pitchFamily="34" charset="-120"/>
                          <a:ea typeface="微軟正黑體" panose="020B0604030504040204" pitchFamily="34" charset="-120"/>
                        </a:rPr>
                        <a:t>)</a:t>
                      </a:r>
                      <a:r>
                        <a:rPr lang="zh-TW" altLang="en-US" sz="1050" b="0" i="0" dirty="0">
                          <a:latin typeface="微軟正黑體" panose="020B0604030504040204" pitchFamily="34" charset="-120"/>
                          <a:ea typeface="微軟正黑體" panose="020B0604030504040204" pitchFamily="34" charset="-120"/>
                        </a:rPr>
                        <a:t>；新加坡</a:t>
                      </a:r>
                      <a:r>
                        <a:rPr lang="en-US" altLang="zh-TW" sz="1050" b="0" i="0" dirty="0">
                          <a:latin typeface="微軟正黑體" panose="020B0604030504040204" pitchFamily="34" charset="-120"/>
                          <a:ea typeface="微軟正黑體" panose="020B0604030504040204" pitchFamily="34" charset="-120"/>
                        </a:rPr>
                        <a:t>NETS-</a:t>
                      </a:r>
                      <a:r>
                        <a:rPr lang="zh-TW" altLang="en-US" sz="1050" b="0" i="0" dirty="0">
                          <a:latin typeface="微軟正黑體" panose="020B0604030504040204" pitchFamily="34" charset="-120"/>
                          <a:ea typeface="微軟正黑體" panose="020B0604030504040204" pitchFamily="34" charset="-120"/>
                        </a:rPr>
                        <a:t>星展</a:t>
                      </a:r>
                      <a:endParaRPr lang="en-US" sz="1050" b="0" i="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02810629"/>
                  </a:ext>
                </a:extLst>
              </a:tr>
              <a:tr h="690472">
                <a:tc>
                  <a:txBody>
                    <a:bodyPr/>
                    <a:lstStyle/>
                    <a:p>
                      <a:pPr algn="ctr">
                        <a:buNone/>
                      </a:pPr>
                      <a:r>
                        <a:rPr lang="en-US" altLang="zh-TW" sz="1050" b="0" dirty="0">
                          <a:latin typeface="微軟正黑體" panose="020B0604030504040204" pitchFamily="34" charset="-120"/>
                          <a:ea typeface="微軟正黑體" panose="020B0604030504040204" pitchFamily="34" charset="-120"/>
                        </a:rPr>
                        <a:t>TWQR</a:t>
                      </a:r>
                      <a:r>
                        <a:rPr lang="zh-TW" altLang="en-US" sz="1050" b="0" dirty="0">
                          <a:latin typeface="微軟正黑體" panose="020B0604030504040204" pitchFamily="34" charset="-120"/>
                          <a:ea typeface="微軟正黑體" panose="020B0604030504040204" pitchFamily="34" charset="-120"/>
                        </a:rPr>
                        <a:t>收單</a:t>
                      </a:r>
                      <a:endParaRPr lang="en-US" altLang="zh-TW" sz="1050" b="0" dirty="0">
                        <a:latin typeface="微軟正黑體" panose="020B0604030504040204" pitchFamily="34" charset="-120"/>
                        <a:ea typeface="微軟正黑體" panose="020B0604030504040204" pitchFamily="34" charset="-120"/>
                      </a:endParaRPr>
                    </a:p>
                    <a:p>
                      <a:pPr algn="ctr">
                        <a:buNone/>
                      </a:pPr>
                      <a:r>
                        <a:rPr lang="zh-TW" altLang="en-US" sz="1050" b="0" dirty="0">
                          <a:latin typeface="微軟正黑體" panose="020B0604030504040204" pitchFamily="34" charset="-120"/>
                          <a:ea typeface="微軟正黑體" panose="020B0604030504040204" pitchFamily="34" charset="-120"/>
                        </a:rPr>
                        <a:t>金融機構</a:t>
                      </a:r>
                      <a:endParaRPr lang="en-US" altLang="zh-TW" sz="1050" b="0" dirty="0">
                        <a:latin typeface="微軟正黑體" panose="020B0604030504040204" pitchFamily="34" charset="-120"/>
                        <a:ea typeface="微軟正黑體" panose="020B0604030504040204" pitchFamily="34" charset="-120"/>
                      </a:endParaRPr>
                    </a:p>
                    <a:p>
                      <a:pPr algn="ctr">
                        <a:buNone/>
                      </a:pPr>
                      <a:r>
                        <a:rPr lang="en-US" altLang="zh-TW" sz="1050" b="0" dirty="0">
                          <a:latin typeface="微軟正黑體" panose="020B0604030504040204" pitchFamily="34" charset="-120"/>
                          <a:ea typeface="微軟正黑體" panose="020B0604030504040204" pitchFamily="34" charset="-120"/>
                        </a:rPr>
                        <a:t>(25</a:t>
                      </a:r>
                      <a:r>
                        <a:rPr lang="zh-TW" altLang="en-US" sz="1050" b="0" dirty="0">
                          <a:latin typeface="微軟正黑體" panose="020B0604030504040204" pitchFamily="34" charset="-120"/>
                          <a:ea typeface="微軟正黑體" panose="020B0604030504040204" pitchFamily="34" charset="-120"/>
                        </a:rPr>
                        <a:t>家</a:t>
                      </a:r>
                      <a:r>
                        <a:rPr lang="en-US" altLang="zh-TW" sz="1050" b="0" dirty="0">
                          <a:latin typeface="微軟正黑體" panose="020B0604030504040204" pitchFamily="34" charset="-120"/>
                          <a:ea typeface="微軟正黑體" panose="020B0604030504040204" pitchFamily="34" charset="-120"/>
                        </a:rPr>
                        <a:t>)</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zh-TW" altLang="en-US" sz="1050" b="0" dirty="0">
                          <a:latin typeface="微軟正黑體" panose="020B0604030504040204" pitchFamily="34" charset="-120"/>
                          <a:ea typeface="微軟正黑體" panose="020B0604030504040204" pitchFamily="34" charset="-120"/>
                        </a:rPr>
                        <a:t>已上線：</a:t>
                      </a:r>
                      <a:endParaRPr lang="en-US" altLang="zh-TW" sz="1050" b="0" dirty="0">
                        <a:latin typeface="微軟正黑體" panose="020B0604030504040204" pitchFamily="34" charset="-120"/>
                        <a:ea typeface="微軟正黑體" panose="020B0604030504040204" pitchFamily="34" charset="-120"/>
                      </a:endParaRPr>
                    </a:p>
                    <a:p>
                      <a:pPr marL="349250" indent="-171450" algn="l">
                        <a:buFont typeface="Wingdings" panose="05000000000000000000" pitchFamily="2" charset="2"/>
                        <a:buChar char="ü"/>
                      </a:pPr>
                      <a:r>
                        <a:rPr lang="zh-TW" altLang="en-US" sz="1050" b="0" dirty="0">
                          <a:latin typeface="微軟正黑體" panose="020B0604030504040204" pitchFamily="34" charset="-120"/>
                          <a:ea typeface="微軟正黑體" panose="020B0604030504040204" pitchFamily="34" charset="-120"/>
                        </a:rPr>
                        <a:t>銀行</a:t>
                      </a:r>
                      <a:r>
                        <a:rPr lang="en-US" altLang="zh-TW" sz="1050" b="0" dirty="0">
                          <a:latin typeface="微軟正黑體" panose="020B0604030504040204" pitchFamily="34" charset="-120"/>
                          <a:ea typeface="微軟正黑體" panose="020B0604030504040204" pitchFamily="34" charset="-120"/>
                        </a:rPr>
                        <a:t>(17</a:t>
                      </a:r>
                      <a:r>
                        <a:rPr lang="zh-TW" altLang="en-US" sz="1050" b="0" kern="1200" dirty="0">
                          <a:solidFill>
                            <a:schemeClr val="tx1"/>
                          </a:solidFill>
                          <a:latin typeface="微軟正黑體" panose="020B0604030504040204" pitchFamily="34" charset="-120"/>
                          <a:ea typeface="微軟正黑體" panose="020B0604030504040204" pitchFamily="34" charset="-120"/>
                          <a:cs typeface="+mn-cs"/>
                        </a:rPr>
                        <a:t>家</a:t>
                      </a:r>
                      <a:r>
                        <a:rPr lang="en-US" altLang="zh-TW" sz="1050" b="0"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050" b="0" kern="1200" dirty="0">
                          <a:solidFill>
                            <a:schemeClr val="tx1"/>
                          </a:solidFill>
                          <a:latin typeface="微軟正黑體" panose="020B0604030504040204" pitchFamily="34" charset="-120"/>
                          <a:ea typeface="微軟正黑體" panose="020B0604030504040204" pitchFamily="34" charset="-120"/>
                          <a:cs typeface="+mn-cs"/>
                        </a:rPr>
                        <a:t>：臺銀、土銀、合庫、一銀、華南、彰銀、兆豐、臺企銀、上海、陽信、元大、玉山、基隆二信、淡水一信、台中二信、彰化六信、花蓮二信</a:t>
                      </a:r>
                      <a:endParaRPr lang="en-US" altLang="zh-TW" sz="1050" b="0" kern="1200" dirty="0">
                        <a:solidFill>
                          <a:schemeClr val="tx1"/>
                        </a:solidFill>
                        <a:latin typeface="微軟正黑體" panose="020B0604030504040204" pitchFamily="34" charset="-120"/>
                        <a:ea typeface="微軟正黑體" panose="020B0604030504040204" pitchFamily="34" charset="-120"/>
                        <a:cs typeface="+mn-cs"/>
                      </a:endParaRPr>
                    </a:p>
                    <a:p>
                      <a:pPr marL="349250" indent="-171450" algn="l">
                        <a:buFont typeface="Wingdings" panose="05000000000000000000" pitchFamily="2" charset="2"/>
                        <a:buChar char="ü"/>
                      </a:pPr>
                      <a:r>
                        <a:rPr lang="zh-TW" altLang="en-US" sz="1050" b="0" kern="1200" dirty="0">
                          <a:solidFill>
                            <a:schemeClr val="tx1"/>
                          </a:solidFill>
                          <a:latin typeface="微軟正黑體" panose="020B0604030504040204" pitchFamily="34" charset="-120"/>
                          <a:ea typeface="微軟正黑體" panose="020B0604030504040204" pitchFamily="34" charset="-120"/>
                          <a:cs typeface="+mn-cs"/>
                        </a:rPr>
                        <a:t>電支</a:t>
                      </a:r>
                      <a:r>
                        <a:rPr lang="en-US" altLang="zh-TW" sz="1050" b="0" kern="1200" dirty="0">
                          <a:solidFill>
                            <a:schemeClr val="tx1"/>
                          </a:solidFill>
                          <a:latin typeface="微軟正黑體" panose="020B0604030504040204" pitchFamily="34" charset="-120"/>
                          <a:ea typeface="微軟正黑體" panose="020B0604030504040204" pitchFamily="34" charset="-120"/>
                          <a:cs typeface="+mn-cs"/>
                        </a:rPr>
                        <a:t>(6</a:t>
                      </a:r>
                      <a:r>
                        <a:rPr lang="zh-TW" altLang="en-US" sz="1050" b="0" kern="1200" dirty="0">
                          <a:solidFill>
                            <a:schemeClr val="tx1"/>
                          </a:solidFill>
                          <a:latin typeface="微軟正黑體" panose="020B0604030504040204" pitchFamily="34" charset="-120"/>
                          <a:ea typeface="微軟正黑體" panose="020B0604030504040204" pitchFamily="34" charset="-120"/>
                          <a:cs typeface="+mn-cs"/>
                        </a:rPr>
                        <a:t>家</a:t>
                      </a:r>
                      <a:r>
                        <a:rPr lang="en-US" altLang="zh-TW" sz="1050" b="0"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050" b="0" kern="1200" dirty="0">
                          <a:solidFill>
                            <a:schemeClr val="tx1"/>
                          </a:solidFill>
                          <a:latin typeface="微軟正黑體" panose="020B0604030504040204" pitchFamily="34" charset="-120"/>
                          <a:ea typeface="微軟正黑體" panose="020B0604030504040204" pitchFamily="34" charset="-120"/>
                          <a:cs typeface="+mn-cs"/>
                        </a:rPr>
                        <a:t>：全盈支付、全支付、悠遊卡、一卡通、愛金卡、街口支付</a:t>
                      </a:r>
                      <a:endParaRPr lang="en-US" altLang="zh-TW" sz="1050" b="0" kern="1200" dirty="0">
                        <a:solidFill>
                          <a:schemeClr val="tx1"/>
                        </a:solidFill>
                        <a:latin typeface="微軟正黑體" panose="020B0604030504040204" pitchFamily="34" charset="-120"/>
                        <a:ea typeface="微軟正黑體" panose="020B0604030504040204" pitchFamily="34" charset="-120"/>
                        <a:cs typeface="+mn-cs"/>
                      </a:endParaRPr>
                    </a:p>
                    <a:p>
                      <a:pPr marL="171450" indent="-171450" algn="l">
                        <a:buFont typeface="Arial" panose="020B0604020202020204" pitchFamily="34" charset="0"/>
                        <a:buChar char="•"/>
                      </a:pPr>
                      <a:r>
                        <a:rPr lang="zh-TW" altLang="en-US" sz="1050" b="0" kern="1200" dirty="0">
                          <a:solidFill>
                            <a:schemeClr val="tx1"/>
                          </a:solidFill>
                          <a:latin typeface="微軟正黑體" panose="020B0604030504040204" pitchFamily="34" charset="-120"/>
                          <a:ea typeface="微軟正黑體" panose="020B0604030504040204" pitchFamily="34" charset="-120"/>
                          <a:cs typeface="+mn-cs"/>
                        </a:rPr>
                        <a:t>即將上線</a:t>
                      </a:r>
                      <a:r>
                        <a:rPr lang="en-US" altLang="zh-TW" sz="1050" b="0" kern="1200" dirty="0">
                          <a:solidFill>
                            <a:schemeClr val="tx1"/>
                          </a:solidFill>
                          <a:latin typeface="微軟正黑體" panose="020B0604030504040204" pitchFamily="34" charset="-120"/>
                          <a:ea typeface="微軟正黑體" panose="020B0604030504040204" pitchFamily="34" charset="-120"/>
                          <a:cs typeface="+mn-cs"/>
                        </a:rPr>
                        <a:t>(2</a:t>
                      </a:r>
                      <a:r>
                        <a:rPr lang="zh-TW" altLang="en-US" sz="1050" b="0" kern="1200" dirty="0">
                          <a:solidFill>
                            <a:schemeClr val="tx1"/>
                          </a:solidFill>
                          <a:latin typeface="微軟正黑體" panose="020B0604030504040204" pitchFamily="34" charset="-120"/>
                          <a:ea typeface="微軟正黑體" panose="020B0604030504040204" pitchFamily="34" charset="-120"/>
                          <a:cs typeface="+mn-cs"/>
                        </a:rPr>
                        <a:t>家</a:t>
                      </a:r>
                      <a:r>
                        <a:rPr lang="en-US" altLang="zh-TW" sz="1050" b="0"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050" b="0" kern="1200" dirty="0">
                          <a:solidFill>
                            <a:schemeClr val="tx1"/>
                          </a:solidFill>
                          <a:latin typeface="微軟正黑體" panose="020B0604030504040204" pitchFamily="34" charset="-120"/>
                          <a:ea typeface="微軟正黑體" panose="020B0604030504040204" pitchFamily="34" charset="-120"/>
                          <a:cs typeface="+mn-cs"/>
                        </a:rPr>
                        <a:t>：台新、農金資訊</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76262107"/>
                  </a:ext>
                </a:extLst>
              </a:tr>
              <a:tr h="557538">
                <a:tc>
                  <a:txBody>
                    <a:bodyPr/>
                    <a:lstStyle/>
                    <a:p>
                      <a:pPr algn="ctr">
                        <a:buNone/>
                      </a:pPr>
                      <a:r>
                        <a:rPr lang="zh-TW" altLang="en-US" sz="1050" b="0" dirty="0">
                          <a:latin typeface="微軟正黑體" panose="020B0604030504040204" pitchFamily="34" charset="-120"/>
                          <a:ea typeface="微軟正黑體" panose="020B0604030504040204" pitchFamily="34" charset="-120"/>
                        </a:rPr>
                        <a:t>通路</a:t>
                      </a:r>
                      <a:endParaRPr lang="en-US" altLang="zh-TW" sz="1050" b="0" dirty="0">
                        <a:latin typeface="微軟正黑體" panose="020B0604030504040204" pitchFamily="34" charset="-120"/>
                        <a:ea typeface="微軟正黑體" panose="020B0604030504040204" pitchFamily="34" charset="-120"/>
                      </a:endParaRPr>
                    </a:p>
                    <a:p>
                      <a:pPr algn="ctr">
                        <a:buNone/>
                      </a:pPr>
                      <a:r>
                        <a:rPr lang="en-US" altLang="zh-TW" sz="1050" b="0" dirty="0">
                          <a:latin typeface="微軟正黑體" panose="020B0604030504040204" pitchFamily="34" charset="-120"/>
                          <a:ea typeface="微軟正黑體" panose="020B0604030504040204" pitchFamily="34" charset="-120"/>
                        </a:rPr>
                        <a:t>(40</a:t>
                      </a:r>
                      <a:r>
                        <a:rPr lang="zh-TW" altLang="en-US" sz="1050" b="0" dirty="0">
                          <a:latin typeface="微軟正黑體" panose="020B0604030504040204" pitchFamily="34" charset="-120"/>
                          <a:ea typeface="微軟正黑體" panose="020B0604030504040204" pitchFamily="34" charset="-120"/>
                        </a:rPr>
                        <a:t>萬</a:t>
                      </a:r>
                      <a:r>
                        <a:rPr lang="en-US" altLang="zh-TW" sz="1050" b="0" dirty="0">
                          <a:latin typeface="微軟正黑體" panose="020B0604030504040204" pitchFamily="34" charset="-120"/>
                          <a:ea typeface="微軟正黑體" panose="020B0604030504040204" pitchFamily="34" charset="-120"/>
                        </a:rPr>
                        <a:t>+)</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indent="-171450" algn="l" defTabSz="914400" rtl="0" eaLnBrk="1" latinLnBrk="0" hangingPunct="1">
                        <a:buFont typeface="Arial" panose="020B0604020202020204" pitchFamily="34" charset="0"/>
                        <a:buChar char="•"/>
                      </a:pPr>
                      <a:r>
                        <a:rPr lang="zh-TW" altLang="en-US" sz="1050" b="0" kern="1200" dirty="0">
                          <a:solidFill>
                            <a:schemeClr val="tx1"/>
                          </a:solidFill>
                          <a:latin typeface="微軟正黑體" panose="020B0604030504040204" pitchFamily="34" charset="-120"/>
                          <a:ea typeface="微軟正黑體" panose="020B0604030504040204" pitchFamily="34" charset="-120"/>
                          <a:cs typeface="+mn-cs"/>
                        </a:rPr>
                        <a:t>四大超商：</a:t>
                      </a:r>
                      <a:r>
                        <a:rPr lang="en-US" altLang="zh-TW" sz="1050" b="0" kern="1200" dirty="0">
                          <a:solidFill>
                            <a:schemeClr val="tx1"/>
                          </a:solidFill>
                          <a:latin typeface="微軟正黑體" panose="020B0604030504040204" pitchFamily="34" charset="-120"/>
                          <a:ea typeface="微軟正黑體" panose="020B0604030504040204" pitchFamily="34" charset="-120"/>
                          <a:cs typeface="+mn-cs"/>
                        </a:rPr>
                        <a:t>7-ELEVEN</a:t>
                      </a:r>
                      <a:r>
                        <a:rPr lang="zh-TW" altLang="en-US" sz="1050" b="0" kern="1200" dirty="0">
                          <a:solidFill>
                            <a:schemeClr val="tx1"/>
                          </a:solidFill>
                          <a:latin typeface="微軟正黑體" panose="020B0604030504040204" pitchFamily="34" charset="-120"/>
                          <a:ea typeface="微軟正黑體" panose="020B0604030504040204" pitchFamily="34" charset="-120"/>
                          <a:cs typeface="+mn-cs"/>
                        </a:rPr>
                        <a:t>、全家、萊爾富、</a:t>
                      </a:r>
                      <a:r>
                        <a:rPr lang="en-US" altLang="zh-TW" sz="1050" b="0" kern="1200" dirty="0">
                          <a:solidFill>
                            <a:schemeClr val="tx1"/>
                          </a:solidFill>
                          <a:latin typeface="微軟正黑體" panose="020B0604030504040204" pitchFamily="34" charset="-120"/>
                          <a:ea typeface="微軟正黑體" panose="020B0604030504040204" pitchFamily="34" charset="-120"/>
                          <a:cs typeface="+mn-cs"/>
                        </a:rPr>
                        <a:t>OK </a:t>
                      </a:r>
                    </a:p>
                    <a:p>
                      <a:pPr marL="171450" indent="-171450" algn="l" defTabSz="914400" rtl="0" eaLnBrk="1" latinLnBrk="0" hangingPunct="1">
                        <a:buFont typeface="Arial" panose="020B0604020202020204" pitchFamily="34" charset="0"/>
                        <a:buChar char="•"/>
                      </a:pPr>
                      <a:r>
                        <a:rPr lang="zh-TW" altLang="en-US" sz="1050" b="0" kern="1200" dirty="0">
                          <a:solidFill>
                            <a:schemeClr val="tx1"/>
                          </a:solidFill>
                          <a:latin typeface="微軟正黑體" panose="020B0604030504040204" pitchFamily="34" charset="-120"/>
                          <a:ea typeface="微軟正黑體" panose="020B0604030504040204" pitchFamily="34" charset="-120"/>
                          <a:cs typeface="+mn-cs"/>
                        </a:rPr>
                        <a:t>百貨</a:t>
                      </a:r>
                      <a:r>
                        <a:rPr lang="en-US" altLang="zh-TW" sz="1050" b="0"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050" b="0" kern="1200" dirty="0">
                          <a:solidFill>
                            <a:schemeClr val="tx1"/>
                          </a:solidFill>
                          <a:latin typeface="微軟正黑體" panose="020B0604030504040204" pitchFamily="34" charset="-120"/>
                          <a:ea typeface="微軟正黑體" panose="020B0604030504040204" pitchFamily="34" charset="-120"/>
                          <a:cs typeface="+mn-cs"/>
                        </a:rPr>
                        <a:t>免稅店：台北 </a:t>
                      </a:r>
                      <a:r>
                        <a:rPr lang="en-US" altLang="zh-TW" sz="1050" b="0" kern="1200" dirty="0">
                          <a:solidFill>
                            <a:schemeClr val="tx1"/>
                          </a:solidFill>
                          <a:latin typeface="微軟正黑體" panose="020B0604030504040204" pitchFamily="34" charset="-120"/>
                          <a:ea typeface="微軟正黑體" panose="020B0604030504040204" pitchFamily="34" charset="-120"/>
                          <a:cs typeface="+mn-cs"/>
                        </a:rPr>
                        <a:t>101</a:t>
                      </a:r>
                      <a:r>
                        <a:rPr lang="zh-TW" altLang="en-US" sz="1050" b="0" kern="1200" dirty="0">
                          <a:solidFill>
                            <a:schemeClr val="tx1"/>
                          </a:solidFill>
                          <a:latin typeface="微軟正黑體" panose="020B0604030504040204" pitchFamily="34" charset="-120"/>
                          <a:ea typeface="微軟正黑體" panose="020B0604030504040204" pitchFamily="34" charset="-120"/>
                          <a:cs typeface="+mn-cs"/>
                        </a:rPr>
                        <a:t>、微風百貨、昇恆昌、采盟等</a:t>
                      </a:r>
                      <a:endParaRPr lang="en-US" altLang="zh-TW" sz="1050" b="0" kern="1200" dirty="0">
                        <a:solidFill>
                          <a:schemeClr val="tx1"/>
                        </a:solidFill>
                        <a:latin typeface="微軟正黑體" panose="020B0604030504040204" pitchFamily="34" charset="-120"/>
                        <a:ea typeface="微軟正黑體" panose="020B0604030504040204" pitchFamily="34" charset="-120"/>
                        <a:cs typeface="+mn-cs"/>
                      </a:endParaRPr>
                    </a:p>
                    <a:p>
                      <a:pPr marL="171450" indent="-171450" algn="l" defTabSz="914400" rtl="0" eaLnBrk="1" latinLnBrk="0" hangingPunct="1">
                        <a:buFont typeface="Arial" panose="020B0604020202020204" pitchFamily="34" charset="0"/>
                        <a:buChar char="•"/>
                      </a:pPr>
                      <a:r>
                        <a:rPr lang="zh-TW" altLang="en-US" sz="1050" b="0" kern="1200" dirty="0">
                          <a:solidFill>
                            <a:schemeClr val="tx1"/>
                          </a:solidFill>
                          <a:latin typeface="微軟正黑體" panose="020B0604030504040204" pitchFamily="34" charset="-120"/>
                          <a:ea typeface="微軟正黑體" panose="020B0604030504040204" pitchFamily="34" charset="-120"/>
                          <a:cs typeface="+mn-cs"/>
                        </a:rPr>
                        <a:t>觀光商圈：寧夏夜市、九份老街、迪化街等</a:t>
                      </a:r>
                      <a:endParaRPr lang="en-US" altLang="zh-TW" sz="1050" b="0" kern="1200" dirty="0">
                        <a:solidFill>
                          <a:schemeClr val="tx1"/>
                        </a:solidFill>
                        <a:latin typeface="微軟正黑體" panose="020B0604030504040204" pitchFamily="34" charset="-120"/>
                        <a:ea typeface="微軟正黑體" panose="020B0604030504040204" pitchFamily="34" charset="-120"/>
                        <a:cs typeface="+mn-cs"/>
                      </a:endParaRPr>
                    </a:p>
                    <a:p>
                      <a:pPr marL="171450" indent="-171450" algn="l" defTabSz="914400" rtl="0" eaLnBrk="1" latinLnBrk="0" hangingPunct="1">
                        <a:buFont typeface="Arial" panose="020B0604020202020204" pitchFamily="34" charset="0"/>
                        <a:buChar char="•"/>
                      </a:pPr>
                      <a:r>
                        <a:rPr lang="zh-TW" altLang="en-US" sz="1050" b="0" kern="1200" dirty="0">
                          <a:solidFill>
                            <a:schemeClr val="tx1"/>
                          </a:solidFill>
                          <a:latin typeface="微軟正黑體" panose="020B0604030504040204" pitchFamily="34" charset="-120"/>
                          <a:ea typeface="微軟正黑體" panose="020B0604030504040204" pitchFamily="34" charset="-120"/>
                          <a:cs typeface="+mn-cs"/>
                        </a:rPr>
                        <a:t>其他：柯達大飯店、六福村樂園等</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93700836"/>
                  </a:ext>
                </a:extLst>
              </a:tr>
              <a:tr h="291672">
                <a:tc>
                  <a:txBody>
                    <a:bodyPr/>
                    <a:lstStyle/>
                    <a:p>
                      <a:pPr algn="ctr">
                        <a:buNone/>
                      </a:pPr>
                      <a:r>
                        <a:rPr lang="zh-TW" altLang="en-US" sz="1050" b="0" dirty="0">
                          <a:latin typeface="微軟正黑體" panose="020B0604030504040204" pitchFamily="34" charset="-120"/>
                          <a:ea typeface="微軟正黑體" panose="020B0604030504040204" pitchFamily="34" charset="-120"/>
                        </a:rPr>
                        <a:t>優惠活動</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indent="0" algn="l">
                        <a:buFont typeface="Arial" panose="020B0604020202020204" pitchFamily="34" charset="0"/>
                        <a:buNone/>
                      </a:pPr>
                      <a:r>
                        <a:rPr lang="en-US" sz="1050" b="0" i="0" dirty="0" err="1">
                          <a:latin typeface="微軟正黑體" panose="020B0604030504040204" pitchFamily="34" charset="-120"/>
                          <a:ea typeface="微軟正黑體" panose="020B0604030504040204" pitchFamily="34" charset="-120"/>
                        </a:rPr>
                        <a:t>Paypay</a:t>
                      </a:r>
                      <a:r>
                        <a:rPr lang="zh-TW" altLang="en-US" sz="1050" b="0" i="0" kern="1200" dirty="0">
                          <a:solidFill>
                            <a:schemeClr val="tx1"/>
                          </a:solidFill>
                          <a:latin typeface="微軟正黑體" panose="020B0604030504040204" pitchFamily="34" charset="-120"/>
                          <a:ea typeface="微軟正黑體" panose="020B0604030504040204" pitchFamily="34" charset="-120"/>
                          <a:cs typeface="+mn-cs"/>
                        </a:rPr>
                        <a:t>：日本用戶來台透過</a:t>
                      </a:r>
                      <a:r>
                        <a:rPr lang="en-US" altLang="zh-TW" sz="1050" b="0" i="0" kern="1200" dirty="0">
                          <a:solidFill>
                            <a:schemeClr val="tx1"/>
                          </a:solidFill>
                          <a:latin typeface="微軟正黑體" panose="020B0604030504040204" pitchFamily="34" charset="-120"/>
                          <a:ea typeface="微軟正黑體" panose="020B0604030504040204" pitchFamily="34" charset="-120"/>
                          <a:cs typeface="+mn-cs"/>
                        </a:rPr>
                        <a:t>TWQR</a:t>
                      </a:r>
                      <a:r>
                        <a:rPr lang="zh-TW" altLang="en-US" sz="1050" b="0" i="0" kern="1200" dirty="0">
                          <a:solidFill>
                            <a:schemeClr val="tx1"/>
                          </a:solidFill>
                          <a:latin typeface="微軟正黑體" panose="020B0604030504040204" pitchFamily="34" charset="-120"/>
                          <a:ea typeface="微軟正黑體" panose="020B0604030504040204" pitchFamily="34" charset="-120"/>
                          <a:cs typeface="+mn-cs"/>
                        </a:rPr>
                        <a:t>掃碼消費，可延續參加「</a:t>
                      </a:r>
                      <a:r>
                        <a:rPr lang="en-US" altLang="zh-TW" sz="1050" b="0" i="0" kern="1200" dirty="0" err="1">
                          <a:solidFill>
                            <a:schemeClr val="tx1"/>
                          </a:solidFill>
                          <a:latin typeface="微軟正黑體" panose="020B0604030504040204" pitchFamily="34" charset="-120"/>
                          <a:ea typeface="微軟正黑體" panose="020B0604030504040204" pitchFamily="34" charset="-120"/>
                          <a:cs typeface="+mn-cs"/>
                        </a:rPr>
                        <a:t>PayPay</a:t>
                      </a:r>
                      <a:r>
                        <a:rPr lang="en-US" altLang="zh-TW" sz="1050" b="0" i="0" kern="1200" dirty="0">
                          <a:solidFill>
                            <a:schemeClr val="tx1"/>
                          </a:solidFill>
                          <a:latin typeface="微軟正黑體" panose="020B0604030504040204" pitchFamily="34" charset="-120"/>
                          <a:ea typeface="微軟正黑體" panose="020B0604030504040204" pitchFamily="34" charset="-120"/>
                          <a:cs typeface="+mn-cs"/>
                        </a:rPr>
                        <a:t> STEP</a:t>
                      </a:r>
                      <a:r>
                        <a:rPr lang="zh-TW" altLang="en-US" sz="1050" b="0" i="0" kern="1200" dirty="0">
                          <a:solidFill>
                            <a:schemeClr val="tx1"/>
                          </a:solidFill>
                          <a:latin typeface="微軟正黑體" panose="020B0604030504040204" pitchFamily="34" charset="-120"/>
                          <a:ea typeface="微軟正黑體" panose="020B0604030504040204" pitchFamily="34" charset="-120"/>
                          <a:cs typeface="+mn-cs"/>
                        </a:rPr>
                        <a:t>」點數回饋活動；加碼推出「海外刮刮樂」活動，最高可獲得</a:t>
                      </a:r>
                      <a:r>
                        <a:rPr lang="en-US" altLang="zh-TW" sz="1050" b="0" i="0" kern="1200" dirty="0">
                          <a:solidFill>
                            <a:schemeClr val="tx1"/>
                          </a:solidFill>
                          <a:latin typeface="微軟正黑體" panose="020B0604030504040204" pitchFamily="34" charset="-120"/>
                          <a:ea typeface="微軟正黑體" panose="020B0604030504040204" pitchFamily="34" charset="-120"/>
                          <a:cs typeface="+mn-cs"/>
                        </a:rPr>
                        <a:t>100%</a:t>
                      </a:r>
                      <a:r>
                        <a:rPr lang="zh-TW" altLang="en-US" sz="1050" b="0" i="0" kern="1200" dirty="0">
                          <a:solidFill>
                            <a:schemeClr val="tx1"/>
                          </a:solidFill>
                          <a:latin typeface="微軟正黑體" panose="020B0604030504040204" pitchFamily="34" charset="-120"/>
                          <a:ea typeface="微軟正黑體" panose="020B0604030504040204" pitchFamily="34" charset="-120"/>
                          <a:cs typeface="+mn-cs"/>
                        </a:rPr>
                        <a:t>點數回饋。</a:t>
                      </a:r>
                      <a:endParaRPr lang="en-US" sz="1050" b="0" i="0" kern="1200" dirty="0">
                        <a:solidFill>
                          <a:schemeClr val="tx1"/>
                        </a:solidFill>
                        <a:latin typeface="微軟正黑體" panose="020B0604030504040204" pitchFamily="34" charset="-120"/>
                        <a:ea typeface="微軟正黑體" panose="020B0604030504040204" pitchFamily="34" charset="-120"/>
                        <a:cs typeface="+mn-cs"/>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50386"/>
                  </a:ext>
                </a:extLst>
              </a:tr>
            </a:tbl>
          </a:graphicData>
        </a:graphic>
      </p:graphicFrame>
      <p:pic>
        <p:nvPicPr>
          <p:cNvPr id="15" name="圖片 14">
            <a:extLst>
              <a:ext uri="{FF2B5EF4-FFF2-40B4-BE49-F238E27FC236}">
                <a16:creationId xmlns:a16="http://schemas.microsoft.com/office/drawing/2014/main" id="{2EB7DAEA-7329-CB8D-CDA4-7C831BD19600}"/>
              </a:ext>
            </a:extLst>
          </p:cNvPr>
          <p:cNvPicPr>
            <a:picLocks noChangeAspect="1"/>
          </p:cNvPicPr>
          <p:nvPr/>
        </p:nvPicPr>
        <p:blipFill>
          <a:blip r:embed="rId3"/>
          <a:stretch>
            <a:fillRect/>
          </a:stretch>
        </p:blipFill>
        <p:spPr>
          <a:xfrm>
            <a:off x="10620819" y="5356928"/>
            <a:ext cx="1128894" cy="825388"/>
          </a:xfrm>
          <a:prstGeom prst="rect">
            <a:avLst/>
          </a:prstGeom>
        </p:spPr>
      </p:pic>
    </p:spTree>
    <p:extLst>
      <p:ext uri="{BB962C8B-B14F-4D97-AF65-F5344CB8AC3E}">
        <p14:creationId xmlns:p14="http://schemas.microsoft.com/office/powerpoint/2010/main" val="184598314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1E67A-FFDA-F685-270A-EEFB72BD9774}"/>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C37820B6-052D-C8B5-AB38-8672152406A6}"/>
              </a:ext>
            </a:extLst>
          </p:cNvPr>
          <p:cNvSpPr txBox="1"/>
          <p:nvPr/>
        </p:nvSpPr>
        <p:spPr>
          <a:xfrm>
            <a:off x="311919" y="314805"/>
            <a:ext cx="7629445" cy="396919"/>
          </a:xfrm>
          <a:prstGeom prst="rect">
            <a:avLst/>
          </a:prstGeom>
          <a:solidFill>
            <a:schemeClr val="accent3">
              <a:lumMod val="20000"/>
              <a:lumOff val="80000"/>
            </a:schemeClr>
          </a:solidFill>
          <a:ln w="6350" cap="flat" cmpd="sng" algn="ctr">
            <a:solidFill>
              <a:schemeClr val="accent3">
                <a:lumMod val="20000"/>
                <a:lumOff val="80000"/>
              </a:schemeClr>
            </a:solidFill>
            <a:prstDash val="solid"/>
            <a:miter lim="800000"/>
          </a:ln>
          <a:effectLst/>
        </p:spPr>
        <p:txBody>
          <a:bodyPr wrap="square">
            <a:noAutofit/>
          </a:bodyPr>
          <a:lstStyle>
            <a:defPPr>
              <a:defRPr lang="en-US"/>
            </a:defPPr>
            <a:lvl1pPr marR="0" lvl="0" indent="0">
              <a:lnSpc>
                <a:spcPct val="100000"/>
              </a:lnSpc>
              <a:spcBef>
                <a:spcPts val="0"/>
              </a:spcBef>
              <a:spcAft>
                <a:spcPts val="0"/>
              </a:spcAft>
              <a:buClrTx/>
              <a:buSzTx/>
              <a:buFontTx/>
              <a:buNone/>
              <a:tabLst/>
              <a:defRPr kumimoji="0" sz="2000" i="0" u="none" strike="noStrike" cap="none" spc="0" normalizeH="0" baseline="0">
                <a:ln>
                  <a:noFill/>
                </a:ln>
                <a:effectLst/>
                <a:uLnTx/>
                <a:uFillTx/>
                <a:latin typeface="微軟正黑體" panose="020B0604030504040204" pitchFamily="34" charset="-120"/>
                <a:ea typeface="微軟正黑體" panose="020B0604030504040204" pitchFamily="34" charset="-120"/>
              </a:defRPr>
            </a:lvl1pPr>
          </a:lstStyle>
          <a:p>
            <a:r>
              <a:rPr lang="zh-TW" altLang="en-US" dirty="0"/>
              <a:t>東南亞旅遊夯！銀行祭</a:t>
            </a:r>
            <a:r>
              <a:rPr lang="en-US" altLang="zh-TW" dirty="0"/>
              <a:t>5</a:t>
            </a:r>
            <a:r>
              <a:rPr lang="zh-TW" altLang="en-US" dirty="0"/>
              <a:t>％回饋搶客 兆豐、玉山、星展神卡大對決</a:t>
            </a:r>
          </a:p>
        </p:txBody>
      </p:sp>
      <p:sp>
        <p:nvSpPr>
          <p:cNvPr id="2" name="文字方塊 1">
            <a:extLst>
              <a:ext uri="{FF2B5EF4-FFF2-40B4-BE49-F238E27FC236}">
                <a16:creationId xmlns:a16="http://schemas.microsoft.com/office/drawing/2014/main" id="{ABD48B03-D070-2897-481A-64B23E151BA5}"/>
              </a:ext>
            </a:extLst>
          </p:cNvPr>
          <p:cNvSpPr txBox="1"/>
          <p:nvPr/>
        </p:nvSpPr>
        <p:spPr>
          <a:xfrm>
            <a:off x="144000" y="864000"/>
            <a:ext cx="5760000" cy="5403158"/>
          </a:xfrm>
          <a:prstGeom prst="rect">
            <a:avLst/>
          </a:prstGeom>
          <a:solidFill>
            <a:sysClr val="window" lastClr="FFFFFF"/>
          </a:solidFill>
          <a:ln w="12700" cap="flat" cmpd="sng" algn="ctr">
            <a:solidFill>
              <a:schemeClr val="accent3">
                <a:lumMod val="75000"/>
              </a:schemeClr>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fontAlgn="auto">
              <a:spcBef>
                <a:spcPts val="600"/>
              </a:spcBef>
              <a:spcAft>
                <a:spcPts val="0"/>
              </a:spcAft>
            </a:pPr>
            <a:r>
              <a:rPr lang="zh-TW" altLang="en-US" b="0" dirty="0"/>
              <a:t>國人海外旅遊熱點除日韓以外，東南亞旅遊潮也逐漸升溫。據銀行業者觀察</a:t>
            </a:r>
            <a:r>
              <a:rPr lang="zh-TW" altLang="en-US" dirty="0">
                <a:solidFill>
                  <a:srgbClr val="C00000"/>
                </a:solidFill>
              </a:rPr>
              <a:t>，近來信用卡在馬來西亞、新加坡等地簽帳金額顯著成長，儘管東南亞整體簽帳金額仍相對較低，但成長速度居各區之冠，顯示新興旅遊市場具備高度潛力</a:t>
            </a:r>
            <a:r>
              <a:rPr lang="zh-TW" altLang="en-US" b="0" dirty="0"/>
              <a:t>。看好星馬消費力道突飛猛進，銀行紛紛針對東南亞地區加碼信用卡優惠。</a:t>
            </a:r>
            <a:endParaRPr lang="en-US" altLang="zh-TW" b="0" dirty="0"/>
          </a:p>
          <a:p>
            <a:r>
              <a:rPr lang="zh-TW" altLang="en-US" b="0" dirty="0"/>
              <a:t>根據兆豐銀行統計，去年兆豐卡在馬來西亞的簽帳金額年增率高達近</a:t>
            </a:r>
            <a:r>
              <a:rPr lang="en-US" altLang="zh-TW" b="0" dirty="0"/>
              <a:t>9</a:t>
            </a:r>
            <a:r>
              <a:rPr lang="zh-TW" altLang="en-US" b="0" dirty="0"/>
              <a:t>成，鄰近的新加坡也有近</a:t>
            </a:r>
            <a:r>
              <a:rPr lang="en-US" altLang="zh-TW" b="0" dirty="0"/>
              <a:t>5</a:t>
            </a:r>
            <a:r>
              <a:rPr lang="zh-TW" altLang="en-US" b="0" dirty="0"/>
              <a:t>成的成長率。</a:t>
            </a:r>
          </a:p>
          <a:p>
            <a:r>
              <a:rPr lang="zh-TW" altLang="en-US" dirty="0">
                <a:solidFill>
                  <a:srgbClr val="0070C0"/>
                </a:solidFill>
              </a:rPr>
              <a:t>兆豐銀指出，觀察年輕族群與行動支付使用者對亞洲旅遊與跨境消費需求持續升溫，尤其星馬消費動能成長力道強勁，因此第二季起將旗下兩張卡片「優惠自由選」指定通路涵蓋星馬，分別為宇宙明星</a:t>
            </a:r>
            <a:r>
              <a:rPr lang="en-US" altLang="zh-TW" dirty="0">
                <a:solidFill>
                  <a:srgbClr val="0070C0"/>
                </a:solidFill>
              </a:rPr>
              <a:t>BT21</a:t>
            </a:r>
            <a:r>
              <a:rPr lang="zh-TW" altLang="en-US" dirty="0">
                <a:solidFill>
                  <a:srgbClr val="0070C0"/>
                </a:solidFill>
              </a:rPr>
              <a:t>信用卡及</a:t>
            </a:r>
            <a:r>
              <a:rPr lang="en-US" altLang="zh-TW" dirty="0">
                <a:solidFill>
                  <a:srgbClr val="0070C0"/>
                </a:solidFill>
              </a:rPr>
              <a:t>Mega One</a:t>
            </a:r>
            <a:r>
              <a:rPr lang="zh-TW" altLang="en-US" dirty="0">
                <a:solidFill>
                  <a:srgbClr val="0070C0"/>
                </a:solidFill>
              </a:rPr>
              <a:t>信用卡</a:t>
            </a:r>
            <a:r>
              <a:rPr lang="zh-TW" altLang="en-US" b="0" dirty="0"/>
              <a:t>，提供額外加碼</a:t>
            </a:r>
            <a:r>
              <a:rPr lang="en-US" altLang="zh-TW" b="0" dirty="0"/>
              <a:t>1</a:t>
            </a:r>
            <a:r>
              <a:rPr lang="zh-TW" altLang="en-US" b="0" dirty="0"/>
              <a:t>％現金回饋，加上卡片既有優惠，整體回饋率最高可疊加到國外</a:t>
            </a:r>
            <a:r>
              <a:rPr lang="en-US" altLang="zh-TW" b="0" dirty="0"/>
              <a:t>5</a:t>
            </a:r>
            <a:r>
              <a:rPr lang="zh-TW" altLang="en-US" b="0" dirty="0"/>
              <a:t>％；</a:t>
            </a:r>
            <a:r>
              <a:rPr lang="zh-TW" altLang="en-US" dirty="0">
                <a:solidFill>
                  <a:srgbClr val="0070C0"/>
                </a:solidFill>
              </a:rPr>
              <a:t>星展銀行則持續針對泰國、新加坡提供優惠，持星展</a:t>
            </a:r>
            <a:r>
              <a:rPr lang="en-US" altLang="zh-TW" dirty="0">
                <a:solidFill>
                  <a:srgbClr val="0070C0"/>
                </a:solidFill>
              </a:rPr>
              <a:t>eco</a:t>
            </a:r>
            <a:r>
              <a:rPr lang="zh-TW" altLang="en-US" dirty="0">
                <a:solidFill>
                  <a:srgbClr val="0070C0"/>
                </a:solidFill>
              </a:rPr>
              <a:t>永續卡於當地實體商店刷卡，可享</a:t>
            </a:r>
            <a:r>
              <a:rPr lang="en-US" altLang="zh-TW" dirty="0">
                <a:solidFill>
                  <a:srgbClr val="0070C0"/>
                </a:solidFill>
              </a:rPr>
              <a:t>1</a:t>
            </a:r>
            <a:r>
              <a:rPr lang="zh-TW" altLang="en-US" dirty="0">
                <a:solidFill>
                  <a:srgbClr val="0070C0"/>
                </a:solidFill>
              </a:rPr>
              <a:t>％現金積點回饋無上限及加碼</a:t>
            </a:r>
            <a:r>
              <a:rPr lang="en-US" altLang="zh-TW" dirty="0">
                <a:solidFill>
                  <a:srgbClr val="0070C0"/>
                </a:solidFill>
              </a:rPr>
              <a:t>4</a:t>
            </a:r>
            <a:r>
              <a:rPr lang="zh-TW" altLang="en-US" dirty="0">
                <a:solidFill>
                  <a:srgbClr val="0070C0"/>
                </a:solidFill>
              </a:rPr>
              <a:t>％回饋，合計最優</a:t>
            </a:r>
            <a:r>
              <a:rPr lang="en-US" altLang="zh-TW" dirty="0">
                <a:solidFill>
                  <a:srgbClr val="0070C0"/>
                </a:solidFill>
              </a:rPr>
              <a:t>5</a:t>
            </a:r>
            <a:r>
              <a:rPr lang="zh-TW" altLang="en-US" dirty="0">
                <a:solidFill>
                  <a:srgbClr val="0070C0"/>
                </a:solidFill>
              </a:rPr>
              <a:t>％現金積點回饋</a:t>
            </a:r>
            <a:r>
              <a:rPr lang="zh-TW" altLang="en-US" b="0" dirty="0"/>
              <a:t>；</a:t>
            </a:r>
          </a:p>
          <a:p>
            <a:pPr fontAlgn="auto">
              <a:spcBef>
                <a:spcPts val="600"/>
              </a:spcBef>
              <a:spcAft>
                <a:spcPts val="0"/>
              </a:spcAft>
            </a:pPr>
            <a:endParaRPr lang="en-US" altLang="zh-TW" b="0" dirty="0">
              <a:solidFill>
                <a:prstClr val="black"/>
              </a:solidFill>
            </a:endParaRPr>
          </a:p>
          <a:p>
            <a:pPr fontAlgn="auto">
              <a:spcBef>
                <a:spcPts val="600"/>
              </a:spcBef>
              <a:spcAft>
                <a:spcPts val="0"/>
              </a:spcAft>
            </a:pPr>
            <a:endParaRPr lang="en-US" altLang="zh-TW" b="0" dirty="0">
              <a:solidFill>
                <a:prstClr val="black"/>
              </a:solidFill>
            </a:endParaRPr>
          </a:p>
        </p:txBody>
      </p:sp>
      <p:sp>
        <p:nvSpPr>
          <p:cNvPr id="4" name="文字方塊 3">
            <a:extLst>
              <a:ext uri="{FF2B5EF4-FFF2-40B4-BE49-F238E27FC236}">
                <a16:creationId xmlns:a16="http://schemas.microsoft.com/office/drawing/2014/main" id="{B5E39874-768E-D094-FFA2-A58AA905F339}"/>
              </a:ext>
            </a:extLst>
          </p:cNvPr>
          <p:cNvSpPr txBox="1"/>
          <p:nvPr/>
        </p:nvSpPr>
        <p:spPr>
          <a:xfrm>
            <a:off x="6048000" y="864004"/>
            <a:ext cx="5760000" cy="1400632"/>
          </a:xfrm>
          <a:prstGeom prst="rect">
            <a:avLst/>
          </a:prstGeom>
          <a:solidFill>
            <a:sysClr val="window" lastClr="FFFFFF"/>
          </a:solidFill>
          <a:ln w="12700" cap="flat" cmpd="sng" algn="ctr">
            <a:solidFill>
              <a:schemeClr val="accent3">
                <a:lumMod val="75000"/>
              </a:schemeClr>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fontAlgn="auto">
              <a:spcBef>
                <a:spcPts val="300"/>
              </a:spcBef>
              <a:spcAft>
                <a:spcPts val="0"/>
              </a:spcAft>
            </a:pPr>
            <a:r>
              <a:rPr lang="zh-TW" altLang="en-US" b="0" dirty="0"/>
              <a:t>此外，</a:t>
            </a:r>
            <a:r>
              <a:rPr lang="zh-TW" altLang="en-US" dirty="0">
                <a:solidFill>
                  <a:srgbClr val="0070C0"/>
                </a:solidFill>
              </a:rPr>
              <a:t>玉山銀行</a:t>
            </a:r>
            <a:r>
              <a:rPr lang="en-US" altLang="zh-TW" dirty="0">
                <a:solidFill>
                  <a:srgbClr val="0070C0"/>
                </a:solidFill>
              </a:rPr>
              <a:t>Unicard</a:t>
            </a:r>
            <a:r>
              <a:rPr lang="zh-TW" altLang="en-US" dirty="0">
                <a:solidFill>
                  <a:srgbClr val="0070C0"/>
                </a:solidFill>
              </a:rPr>
              <a:t>將國外實體消費納入百大指定通路，東南亞國家涵蓋泰國、越南、新加坡、馬來西亞、菲律賓等，最高</a:t>
            </a:r>
            <a:r>
              <a:rPr lang="en-US" altLang="zh-TW" dirty="0">
                <a:solidFill>
                  <a:srgbClr val="0070C0"/>
                </a:solidFill>
              </a:rPr>
              <a:t>4.5</a:t>
            </a:r>
            <a:r>
              <a:rPr lang="zh-TW" altLang="en-US" dirty="0">
                <a:solidFill>
                  <a:srgbClr val="0070C0"/>
                </a:solidFill>
              </a:rPr>
              <a:t>％回饋</a:t>
            </a:r>
            <a:r>
              <a:rPr lang="zh-TW" altLang="en-US" b="0" dirty="0"/>
              <a:t>。</a:t>
            </a:r>
            <a:endParaRPr lang="en-US" altLang="zh-TW" b="0" dirty="0"/>
          </a:p>
          <a:p>
            <a:pPr fontAlgn="auto">
              <a:spcBef>
                <a:spcPts val="300"/>
              </a:spcBef>
              <a:spcAft>
                <a:spcPts val="0"/>
              </a:spcAft>
            </a:pPr>
            <a:r>
              <a:rPr lang="zh-TW" altLang="en-US" dirty="0">
                <a:solidFill>
                  <a:srgbClr val="0070C0"/>
                </a:solidFill>
              </a:rPr>
              <a:t>遠東商銀也針對新加坡加碼回饋，持遠東樂家</a:t>
            </a:r>
            <a:r>
              <a:rPr lang="en-US" altLang="zh-TW" dirty="0">
                <a:solidFill>
                  <a:srgbClr val="0070C0"/>
                </a:solidFill>
              </a:rPr>
              <a:t>+</a:t>
            </a:r>
            <a:r>
              <a:rPr lang="zh-TW" altLang="en-US" dirty="0">
                <a:solidFill>
                  <a:srgbClr val="0070C0"/>
                </a:solidFill>
              </a:rPr>
              <a:t>卡單月累積消費滿</a:t>
            </a:r>
            <a:r>
              <a:rPr lang="en-US" altLang="zh-TW" dirty="0">
                <a:solidFill>
                  <a:srgbClr val="0070C0"/>
                </a:solidFill>
              </a:rPr>
              <a:t>5</a:t>
            </a:r>
            <a:r>
              <a:rPr lang="zh-TW" altLang="en-US" dirty="0">
                <a:solidFill>
                  <a:srgbClr val="0070C0"/>
                </a:solidFill>
              </a:rPr>
              <a:t>萬元，即回饋</a:t>
            </a:r>
            <a:r>
              <a:rPr lang="en-US" altLang="zh-TW" dirty="0">
                <a:solidFill>
                  <a:srgbClr val="0070C0"/>
                </a:solidFill>
              </a:rPr>
              <a:t>500</a:t>
            </a:r>
            <a:r>
              <a:rPr lang="zh-TW" altLang="en-US" dirty="0">
                <a:solidFill>
                  <a:srgbClr val="0070C0"/>
                </a:solidFill>
              </a:rPr>
              <a:t>元刷卡金，加計卡片原有</a:t>
            </a:r>
            <a:r>
              <a:rPr lang="en-US" altLang="zh-TW" dirty="0">
                <a:solidFill>
                  <a:srgbClr val="0070C0"/>
                </a:solidFill>
              </a:rPr>
              <a:t>2.5</a:t>
            </a:r>
            <a:r>
              <a:rPr lang="zh-TW" altLang="en-US" dirty="0">
                <a:solidFill>
                  <a:srgbClr val="0070C0"/>
                </a:solidFill>
              </a:rPr>
              <a:t>％現金回饋，最高回饋率共</a:t>
            </a:r>
            <a:r>
              <a:rPr lang="en-US" altLang="zh-TW" dirty="0">
                <a:solidFill>
                  <a:srgbClr val="0070C0"/>
                </a:solidFill>
              </a:rPr>
              <a:t>3.5</a:t>
            </a:r>
            <a:r>
              <a:rPr lang="zh-TW" altLang="en-US" dirty="0">
                <a:solidFill>
                  <a:srgbClr val="0070C0"/>
                </a:solidFill>
              </a:rPr>
              <a:t>％。</a:t>
            </a:r>
          </a:p>
          <a:p>
            <a:pPr fontAlgn="auto">
              <a:spcBef>
                <a:spcPts val="300"/>
              </a:spcBef>
              <a:spcAft>
                <a:spcPts val="0"/>
              </a:spcAft>
            </a:pPr>
            <a:endParaRPr lang="zh-TW" altLang="en-US" b="0" dirty="0">
              <a:solidFill>
                <a:prstClr val="black"/>
              </a:solidFill>
            </a:endParaRPr>
          </a:p>
        </p:txBody>
      </p:sp>
      <p:sp>
        <p:nvSpPr>
          <p:cNvPr id="11" name="矩形 10">
            <a:extLst>
              <a:ext uri="{FF2B5EF4-FFF2-40B4-BE49-F238E27FC236}">
                <a16:creationId xmlns:a16="http://schemas.microsoft.com/office/drawing/2014/main" id="{B1C65061-4B8F-E612-42E1-E8C0135E1591}"/>
              </a:ext>
            </a:extLst>
          </p:cNvPr>
          <p:cNvSpPr/>
          <p:nvPr/>
        </p:nvSpPr>
        <p:spPr>
          <a:xfrm>
            <a:off x="7941364" y="420142"/>
            <a:ext cx="1609736"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Arial" panose="020B0604020202020204" pitchFamily="34" charset="0"/>
                <a:ea typeface="微軟正黑體" panose="020B0604030504040204" pitchFamily="34" charset="-120"/>
                <a:cs typeface="+mn-cs"/>
              </a:rPr>
              <a:t>2026/04/07</a:t>
            </a:r>
            <a:r>
              <a:rPr kumimoji="0" lang="zh-TW" altLang="en-US" sz="1200" b="0" i="0" u="none" strike="noStrike" kern="1200" cap="none" spc="0" normalizeH="0" baseline="0" noProof="0" dirty="0">
                <a:ln>
                  <a:noFill/>
                </a:ln>
                <a:solidFill>
                  <a:prstClr val="black"/>
                </a:solidFill>
                <a:effectLst/>
                <a:uLnTx/>
                <a:uFillTx/>
                <a:latin typeface="Arial" panose="020B0604020202020204" pitchFamily="34" charset="0"/>
                <a:ea typeface="微軟正黑體" panose="020B0604030504040204" pitchFamily="34" charset="-120"/>
                <a:cs typeface="+mn-cs"/>
              </a:rPr>
              <a:t> 工商時報</a:t>
            </a:r>
          </a:p>
        </p:txBody>
      </p:sp>
      <p:sp>
        <p:nvSpPr>
          <p:cNvPr id="7" name="文字方塊 6">
            <a:extLst>
              <a:ext uri="{FF2B5EF4-FFF2-40B4-BE49-F238E27FC236}">
                <a16:creationId xmlns:a16="http://schemas.microsoft.com/office/drawing/2014/main" id="{0899064F-673F-4926-5146-95E63AC14BED}"/>
              </a:ext>
            </a:extLst>
          </p:cNvPr>
          <p:cNvSpPr txBox="1"/>
          <p:nvPr/>
        </p:nvSpPr>
        <p:spPr>
          <a:xfrm>
            <a:off x="6045114" y="2311781"/>
            <a:ext cx="5794837" cy="415498"/>
          </a:xfrm>
          <a:prstGeom prst="rect">
            <a:avLst/>
          </a:prstGeom>
          <a:solidFill>
            <a:srgbClr val="595959"/>
          </a:solidFill>
          <a:ln w="12700" cap="flat" cmpd="sng" algn="ctr">
            <a:noFill/>
            <a:prstDash val="solid"/>
            <a:miter lim="800000"/>
          </a:ln>
          <a:effectLst/>
        </p:spPr>
        <p:txBody>
          <a:bodyPr rtlCol="0" anchor="ct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400" i="0" u="none" strike="noStrike" kern="0" cap="none" spc="0" normalizeH="0" baseline="0">
                <a:ln>
                  <a:noFill/>
                </a:ln>
                <a:solidFill>
                  <a:prstClr val="white"/>
                </a:solidFill>
                <a:effectLst/>
                <a:uLnTx/>
                <a:uFillTx/>
                <a:latin typeface="微軟正黑體" panose="020B0604030504040204" pitchFamily="34" charset="-120"/>
                <a:ea typeface="微軟正黑體" panose="020B0604030504040204" pitchFamily="34" charset="-120"/>
              </a:defRPr>
            </a:lvl1pPr>
          </a:lstStyle>
          <a:p>
            <a:r>
              <a:rPr lang="zh-TW" altLang="en-US" dirty="0"/>
              <a:t>國銀東南亞國家信用卡優惠整理</a:t>
            </a:r>
          </a:p>
        </p:txBody>
      </p:sp>
      <p:sp>
        <p:nvSpPr>
          <p:cNvPr id="8" name="文字方塊 7">
            <a:extLst>
              <a:ext uri="{FF2B5EF4-FFF2-40B4-BE49-F238E27FC236}">
                <a16:creationId xmlns:a16="http://schemas.microsoft.com/office/drawing/2014/main" id="{54AEAC13-E708-4C31-57D0-86306BBD1806}"/>
              </a:ext>
            </a:extLst>
          </p:cNvPr>
          <p:cNvSpPr txBox="1"/>
          <p:nvPr/>
        </p:nvSpPr>
        <p:spPr>
          <a:xfrm>
            <a:off x="10599502" y="2464169"/>
            <a:ext cx="1304650" cy="230832"/>
          </a:xfrm>
          <a:prstGeom prst="rect">
            <a:avLst/>
          </a:prstGeom>
          <a:noFill/>
        </p:spPr>
        <p:txBody>
          <a:bodyPr wrap="square">
            <a:spAutoFit/>
          </a:bodyPr>
          <a:lstStyle/>
          <a:p>
            <a:r>
              <a:rPr lang="zh-TW" altLang="en-US" sz="900" dirty="0">
                <a:solidFill>
                  <a:schemeClr val="bg1"/>
                </a:solidFill>
                <a:latin typeface="微軟正黑體" panose="020B0604030504040204" pitchFamily="34" charset="-120"/>
                <a:ea typeface="微軟正黑體" panose="020B0604030504040204" pitchFamily="34" charset="-120"/>
              </a:rPr>
              <a:t>資料來源：同業官網</a:t>
            </a:r>
            <a:endParaRPr lang="zh-TW" altLang="en-US" sz="2000" dirty="0">
              <a:solidFill>
                <a:schemeClr val="bg1"/>
              </a:solidFill>
              <a:latin typeface="微軟正黑體" panose="020B0604030504040204" pitchFamily="34" charset="-120"/>
              <a:ea typeface="微軟正黑體" panose="020B0604030504040204" pitchFamily="34" charset="-120"/>
            </a:endParaRPr>
          </a:p>
        </p:txBody>
      </p:sp>
      <p:graphicFrame>
        <p:nvGraphicFramePr>
          <p:cNvPr id="5" name="表格 4">
            <a:extLst>
              <a:ext uri="{FF2B5EF4-FFF2-40B4-BE49-F238E27FC236}">
                <a16:creationId xmlns:a16="http://schemas.microsoft.com/office/drawing/2014/main" id="{C6A8E78F-3AA0-0DEC-6B9D-E8346680FADF}"/>
              </a:ext>
            </a:extLst>
          </p:cNvPr>
          <p:cNvGraphicFramePr>
            <a:graphicFrameLocks noGrp="1"/>
          </p:cNvGraphicFramePr>
          <p:nvPr>
            <p:extLst>
              <p:ext uri="{D42A27DB-BD31-4B8C-83A1-F6EECF244321}">
                <p14:modId xmlns:p14="http://schemas.microsoft.com/office/powerpoint/2010/main" val="3657745318"/>
              </p:ext>
            </p:extLst>
          </p:nvPr>
        </p:nvGraphicFramePr>
        <p:xfrm>
          <a:off x="6045113" y="2774422"/>
          <a:ext cx="5794839" cy="3502004"/>
        </p:xfrm>
        <a:graphic>
          <a:graphicData uri="http://schemas.openxmlformats.org/drawingml/2006/table">
            <a:tbl>
              <a:tblPr firstRow="1" bandRow="1">
                <a:tableStyleId>{5940675A-B579-460E-94D1-54222C63F5DA}</a:tableStyleId>
              </a:tblPr>
              <a:tblGrid>
                <a:gridCol w="518057">
                  <a:extLst>
                    <a:ext uri="{9D8B030D-6E8A-4147-A177-3AD203B41FA5}">
                      <a16:colId xmlns:a16="http://schemas.microsoft.com/office/drawing/2014/main" val="4175419738"/>
                    </a:ext>
                  </a:extLst>
                </a:gridCol>
                <a:gridCol w="1213503">
                  <a:extLst>
                    <a:ext uri="{9D8B030D-6E8A-4147-A177-3AD203B41FA5}">
                      <a16:colId xmlns:a16="http://schemas.microsoft.com/office/drawing/2014/main" val="288048670"/>
                    </a:ext>
                  </a:extLst>
                </a:gridCol>
                <a:gridCol w="2444097">
                  <a:extLst>
                    <a:ext uri="{9D8B030D-6E8A-4147-A177-3AD203B41FA5}">
                      <a16:colId xmlns:a16="http://schemas.microsoft.com/office/drawing/2014/main" val="1228318898"/>
                    </a:ext>
                  </a:extLst>
                </a:gridCol>
                <a:gridCol w="581114">
                  <a:extLst>
                    <a:ext uri="{9D8B030D-6E8A-4147-A177-3AD203B41FA5}">
                      <a16:colId xmlns:a16="http://schemas.microsoft.com/office/drawing/2014/main" val="1505288141"/>
                    </a:ext>
                  </a:extLst>
                </a:gridCol>
                <a:gridCol w="1038068">
                  <a:extLst>
                    <a:ext uri="{9D8B030D-6E8A-4147-A177-3AD203B41FA5}">
                      <a16:colId xmlns:a16="http://schemas.microsoft.com/office/drawing/2014/main" val="1386144298"/>
                    </a:ext>
                  </a:extLst>
                </a:gridCol>
              </a:tblGrid>
              <a:tr h="402210">
                <a:tc>
                  <a:txBody>
                    <a:bodyPr/>
                    <a:lstStyle/>
                    <a:p>
                      <a:pPr algn="ctr"/>
                      <a:r>
                        <a:rPr lang="zh-TW" altLang="en-US" sz="1050" b="1" dirty="0">
                          <a:latin typeface="微軟正黑體" panose="020B0604030504040204" pitchFamily="34" charset="-120"/>
                          <a:ea typeface="微軟正黑體" panose="020B0604030504040204" pitchFamily="34" charset="-120"/>
                        </a:rPr>
                        <a:t>國銀</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zh-TW" altLang="en-US" sz="1050" b="1" dirty="0">
                          <a:latin typeface="微軟正黑體" panose="020B0604030504040204" pitchFamily="34" charset="-120"/>
                          <a:ea typeface="微軟正黑體" panose="020B0604030504040204" pitchFamily="34" charset="-120"/>
                        </a:rPr>
                        <a:t>卡別</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zh-TW" altLang="en-US" sz="1050" b="1" dirty="0">
                          <a:latin typeface="微軟正黑體" panose="020B0604030504040204" pitchFamily="34" charset="-120"/>
                          <a:ea typeface="微軟正黑體" panose="020B0604030504040204" pitchFamily="34" charset="-120"/>
                        </a:rPr>
                        <a:t>權益內容</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zh-TW" altLang="en-US" sz="1050" b="1" dirty="0">
                          <a:latin typeface="微軟正黑體" panose="020B0604030504040204" pitchFamily="34" charset="-120"/>
                          <a:ea typeface="微軟正黑體" panose="020B0604030504040204" pitchFamily="34" charset="-120"/>
                        </a:rPr>
                        <a:t>最高</a:t>
                      </a:r>
                      <a:endParaRPr lang="en-US" altLang="zh-TW" sz="1050" b="1" dirty="0">
                        <a:latin typeface="微軟正黑體" panose="020B0604030504040204" pitchFamily="34" charset="-120"/>
                        <a:ea typeface="微軟正黑體" panose="020B0604030504040204" pitchFamily="34" charset="-120"/>
                      </a:endParaRPr>
                    </a:p>
                    <a:p>
                      <a:pPr algn="ctr"/>
                      <a:r>
                        <a:rPr lang="zh-TW" altLang="en-US" sz="1050" b="1" dirty="0">
                          <a:latin typeface="微軟正黑體" panose="020B0604030504040204" pitchFamily="34" charset="-120"/>
                          <a:ea typeface="微軟正黑體" panose="020B0604030504040204" pitchFamily="34" charset="-120"/>
                        </a:rPr>
                        <a:t>回饋</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zh-TW" altLang="en-US" sz="1050" b="1" dirty="0">
                          <a:latin typeface="微軟正黑體" panose="020B0604030504040204" pitchFamily="34" charset="-120"/>
                          <a:ea typeface="微軟正黑體" panose="020B0604030504040204" pitchFamily="34" charset="-120"/>
                        </a:rPr>
                        <a:t>適用期間</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964938369"/>
                  </a:ext>
                </a:extLst>
              </a:tr>
              <a:tr h="732793">
                <a:tc>
                  <a:txBody>
                    <a:bodyPr/>
                    <a:lstStyle/>
                    <a:p>
                      <a:pPr algn="ctr"/>
                      <a:r>
                        <a:rPr lang="zh-TW" altLang="en-US" sz="1050" dirty="0">
                          <a:latin typeface="微軟正黑體" panose="020B0604030504040204" pitchFamily="34" charset="-120"/>
                          <a:ea typeface="微軟正黑體" panose="020B0604030504040204" pitchFamily="34" charset="-120"/>
                        </a:rPr>
                        <a:t>兆豐</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zh-TW" altLang="en-US" sz="1050" dirty="0">
                          <a:latin typeface="微軟正黑體" panose="020B0604030504040204" pitchFamily="34" charset="-120"/>
                          <a:ea typeface="微軟正黑體" panose="020B0604030504040204" pitchFamily="34" charset="-120"/>
                        </a:rPr>
                        <a:t>宇宙明星</a:t>
                      </a:r>
                      <a:r>
                        <a:rPr lang="en-US" altLang="zh-TW" sz="1050" dirty="0">
                          <a:latin typeface="微軟正黑體" panose="020B0604030504040204" pitchFamily="34" charset="-120"/>
                          <a:ea typeface="微軟正黑體" panose="020B0604030504040204" pitchFamily="34" charset="-120"/>
                        </a:rPr>
                        <a:t>BT21</a:t>
                      </a:r>
                      <a:r>
                        <a:rPr lang="zh-TW" altLang="en-US" sz="1050" dirty="0">
                          <a:latin typeface="微軟正黑體" panose="020B0604030504040204" pitchFamily="34" charset="-120"/>
                          <a:ea typeface="微軟正黑體" panose="020B0604030504040204" pitchFamily="34" charset="-120"/>
                        </a:rPr>
                        <a:t>卡</a:t>
                      </a:r>
                      <a:endParaRPr lang="en-US" altLang="zh-TW" sz="1050" dirty="0">
                        <a:latin typeface="微軟正黑體" panose="020B0604030504040204" pitchFamily="34" charset="-120"/>
                        <a:ea typeface="微軟正黑體" panose="020B0604030504040204" pitchFamily="34" charset="-120"/>
                      </a:endParaRPr>
                    </a:p>
                    <a:p>
                      <a:pPr algn="ctr"/>
                      <a:r>
                        <a:rPr lang="en-US" altLang="zh-TW" sz="1050" dirty="0">
                          <a:latin typeface="微軟正黑體" panose="020B0604030504040204" pitchFamily="34" charset="-120"/>
                          <a:ea typeface="微軟正黑體" panose="020B0604030504040204" pitchFamily="34" charset="-120"/>
                        </a:rPr>
                        <a:t>Mega One</a:t>
                      </a:r>
                      <a:r>
                        <a:rPr lang="zh-TW" altLang="en-US" sz="1050" dirty="0">
                          <a:latin typeface="微軟正黑體" panose="020B0604030504040204" pitchFamily="34" charset="-120"/>
                          <a:ea typeface="微軟正黑體" panose="020B0604030504040204" pitchFamily="34" charset="-120"/>
                        </a:rPr>
                        <a:t>卡</a:t>
                      </a:r>
                      <a:endParaRPr lang="en-US" altLang="zh-TW" sz="1050" dirty="0">
                        <a:latin typeface="微軟正黑體" panose="020B0604030504040204" pitchFamily="34" charset="-120"/>
                        <a:ea typeface="微軟正黑體" panose="020B0604030504040204" pitchFamily="34" charset="-12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171450" indent="-171450" algn="l">
                        <a:buFont typeface="Arial" panose="020B0604020202020204" pitchFamily="34" charset="0"/>
                        <a:buChar char="•"/>
                      </a:pPr>
                      <a:r>
                        <a:rPr lang="zh-TW" altLang="en-US" sz="1050" b="0" dirty="0">
                          <a:latin typeface="微軟正黑體" panose="020B0604030504040204" pitchFamily="34" charset="-120"/>
                          <a:ea typeface="微軟正黑體" panose="020B0604030504040204" pitchFamily="34" charset="-120"/>
                        </a:rPr>
                        <a:t>新加坡、馬來西亞：</a:t>
                      </a:r>
                      <a:endParaRPr lang="en-US" altLang="zh-TW" sz="1050" b="0" dirty="0">
                        <a:latin typeface="微軟正黑體" panose="020B0604030504040204" pitchFamily="34" charset="-120"/>
                        <a:ea typeface="微軟正黑體" panose="020B0604030504040204" pitchFamily="34" charset="-120"/>
                      </a:endParaRPr>
                    </a:p>
                    <a:p>
                      <a:pPr marL="0" indent="179388" algn="l">
                        <a:buFont typeface="Arial" panose="020B0604020202020204" pitchFamily="34" charset="0"/>
                        <a:buNone/>
                      </a:pPr>
                      <a:r>
                        <a:rPr lang="zh-TW" altLang="en-US" sz="1050" b="0" dirty="0">
                          <a:latin typeface="微軟正黑體" panose="020B0604030504040204" pitchFamily="34" charset="-120"/>
                          <a:ea typeface="微軟正黑體" panose="020B0604030504040204" pitchFamily="34" charset="-120"/>
                        </a:rPr>
                        <a:t>「優惠自由選」新增指定通路</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en-US" altLang="zh-TW" sz="1050" dirty="0">
                          <a:latin typeface="微軟正黑體" panose="020B0604030504040204" pitchFamily="34" charset="-120"/>
                          <a:ea typeface="微軟正黑體" panose="020B0604030504040204" pitchFamily="34" charset="-120"/>
                        </a:rPr>
                        <a:t>5%</a:t>
                      </a:r>
                      <a:endParaRPr lang="zh-TW" altLang="en-US" sz="1050" dirty="0">
                        <a:latin typeface="微軟正黑體" panose="020B0604030504040204" pitchFamily="34" charset="-120"/>
                        <a:ea typeface="微軟正黑體" panose="020B0604030504040204" pitchFamily="34" charset="-12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en-US" altLang="zh-TW" sz="1050" dirty="0">
                          <a:latin typeface="微軟正黑體" panose="020B0604030504040204" pitchFamily="34" charset="-120"/>
                          <a:ea typeface="微軟正黑體" panose="020B0604030504040204" pitchFamily="34" charset="-120"/>
                        </a:rPr>
                        <a:t>2026/Q2</a:t>
                      </a:r>
                      <a:endParaRPr lang="zh-TW" altLang="en-US" sz="1050" dirty="0">
                        <a:latin typeface="微軟正黑體" panose="020B0604030504040204" pitchFamily="34" charset="-120"/>
                        <a:ea typeface="微軟正黑體" panose="020B0604030504040204" pitchFamily="34" charset="-12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54835800"/>
                  </a:ext>
                </a:extLst>
              </a:tr>
              <a:tr h="732793">
                <a:tc>
                  <a:txBody>
                    <a:bodyPr/>
                    <a:lstStyle/>
                    <a:p>
                      <a:pPr algn="ctr"/>
                      <a:r>
                        <a:rPr lang="zh-TW" altLang="en-US" sz="1050" dirty="0">
                          <a:latin typeface="微軟正黑體" panose="020B0604030504040204" pitchFamily="34" charset="-120"/>
                          <a:ea typeface="微軟正黑體" panose="020B0604030504040204" pitchFamily="34" charset="-120"/>
                        </a:rPr>
                        <a:t>星展</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en-US" altLang="zh-TW" sz="1050" dirty="0">
                          <a:latin typeface="微軟正黑體" panose="020B0604030504040204" pitchFamily="34" charset="-120"/>
                          <a:ea typeface="微軟正黑體" panose="020B0604030504040204" pitchFamily="34" charset="-120"/>
                        </a:rPr>
                        <a:t>eco</a:t>
                      </a:r>
                      <a:r>
                        <a:rPr lang="zh-TW" altLang="en-US" sz="1050" dirty="0">
                          <a:latin typeface="微軟正黑體" panose="020B0604030504040204" pitchFamily="34" charset="-120"/>
                          <a:ea typeface="微軟正黑體" panose="020B0604030504040204" pitchFamily="34" charset="-120"/>
                        </a:rPr>
                        <a:t>永續卡</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171450" indent="-171450" algn="l">
                        <a:buFont typeface="Arial" panose="020B0604020202020204" pitchFamily="34" charset="0"/>
                        <a:buChar char="•"/>
                      </a:pPr>
                      <a:r>
                        <a:rPr lang="zh-TW" altLang="en-US" sz="1050" dirty="0">
                          <a:latin typeface="微軟正黑體" panose="020B0604030504040204" pitchFamily="34" charset="-120"/>
                          <a:ea typeface="微軟正黑體" panose="020B0604030504040204" pitchFamily="34" charset="-120"/>
                        </a:rPr>
                        <a:t>泰國、新加坡：</a:t>
                      </a:r>
                      <a:endParaRPr lang="en-US" altLang="zh-TW" sz="1050" dirty="0">
                        <a:latin typeface="微軟正黑體" panose="020B0604030504040204" pitchFamily="34" charset="-120"/>
                        <a:ea typeface="微軟正黑體" panose="020B0604030504040204" pitchFamily="34" charset="-120"/>
                      </a:endParaRPr>
                    </a:p>
                    <a:p>
                      <a:pPr marL="179388" indent="0" algn="l">
                        <a:buFont typeface="Arial" panose="020B0604020202020204" pitchFamily="34" charset="0"/>
                        <a:buNone/>
                      </a:pPr>
                      <a:r>
                        <a:rPr lang="zh-TW" altLang="en-US" sz="1050" dirty="0">
                          <a:latin typeface="微軟正黑體" panose="020B0604030504040204" pitchFamily="34" charset="-120"/>
                          <a:ea typeface="微軟正黑體" panose="020B0604030504040204" pitchFamily="34" charset="-120"/>
                        </a:rPr>
                        <a:t>持卡或以</a:t>
                      </a:r>
                      <a:r>
                        <a:rPr lang="en-US" altLang="zh-TW" sz="1050" dirty="0">
                          <a:latin typeface="微軟正黑體" panose="020B0604030504040204" pitchFamily="34" charset="-120"/>
                          <a:ea typeface="微軟正黑體" panose="020B0604030504040204" pitchFamily="34" charset="-120"/>
                        </a:rPr>
                        <a:t>Apple Pay/Samsung Pay</a:t>
                      </a:r>
                      <a:r>
                        <a:rPr lang="zh-TW" altLang="en-US" sz="1050" dirty="0">
                          <a:latin typeface="微軟正黑體" panose="020B0604030504040204" pitchFamily="34" charset="-120"/>
                          <a:ea typeface="微軟正黑體" panose="020B0604030504040204" pitchFamily="34" charset="-120"/>
                        </a:rPr>
                        <a:t>於實體商店消費</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en-US" altLang="zh-TW" sz="1050" dirty="0">
                          <a:latin typeface="微軟正黑體" panose="020B0604030504040204" pitchFamily="34" charset="-120"/>
                          <a:ea typeface="微軟正黑體" panose="020B0604030504040204" pitchFamily="34" charset="-120"/>
                        </a:rPr>
                        <a:t>5%</a:t>
                      </a:r>
                      <a:endParaRPr lang="zh-TW" altLang="en-US" sz="1050" dirty="0">
                        <a:latin typeface="微軟正黑體" panose="020B0604030504040204" pitchFamily="34" charset="-120"/>
                        <a:ea typeface="微軟正黑體" panose="020B0604030504040204" pitchFamily="34" charset="-12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en-US" altLang="zh-TW" sz="1050" dirty="0">
                          <a:latin typeface="微軟正黑體" panose="020B0604030504040204" pitchFamily="34" charset="-120"/>
                          <a:ea typeface="微軟正黑體" panose="020B0604030504040204" pitchFamily="34" charset="-120"/>
                        </a:rPr>
                        <a:t>2026</a:t>
                      </a:r>
                      <a:r>
                        <a:rPr lang="zh-TW" altLang="en-US" sz="1050" dirty="0">
                          <a:latin typeface="微軟正黑體" panose="020B0604030504040204" pitchFamily="34" charset="-120"/>
                          <a:ea typeface="微軟正黑體" panose="020B0604030504040204" pitchFamily="34" charset="-120"/>
                        </a:rPr>
                        <a:t>全年</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85193378"/>
                  </a:ext>
                </a:extLst>
              </a:tr>
              <a:tr h="1008583">
                <a:tc>
                  <a:txBody>
                    <a:bodyPr/>
                    <a:lstStyle/>
                    <a:p>
                      <a:pPr algn="ctr"/>
                      <a:r>
                        <a:rPr lang="zh-TW" altLang="en-US" sz="1050" dirty="0">
                          <a:latin typeface="微軟正黑體" panose="020B0604030504040204" pitchFamily="34" charset="-120"/>
                          <a:ea typeface="微軟正黑體" panose="020B0604030504040204" pitchFamily="34" charset="-120"/>
                        </a:rPr>
                        <a:t>玉山</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en-US" altLang="zh-TW" sz="1050" dirty="0">
                          <a:latin typeface="微軟正黑體" panose="020B0604030504040204" pitchFamily="34" charset="-120"/>
                          <a:ea typeface="微軟正黑體" panose="020B0604030504040204" pitchFamily="34" charset="-120"/>
                        </a:rPr>
                        <a:t>Unicard</a:t>
                      </a:r>
                      <a:r>
                        <a:rPr lang="zh-TW" altLang="en-US" sz="1050" dirty="0">
                          <a:latin typeface="微軟正黑體" panose="020B0604030504040204" pitchFamily="34" charset="-120"/>
                          <a:ea typeface="微軟正黑體" panose="020B0604030504040204" pitchFamily="34" charset="-120"/>
                        </a:rPr>
                        <a:t>卡</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171450" indent="-171450" algn="l">
                        <a:buFont typeface="Arial" panose="020B0604020202020204" pitchFamily="34" charset="0"/>
                        <a:buChar char="•"/>
                      </a:pPr>
                      <a:r>
                        <a:rPr lang="zh-TW" altLang="en-US" sz="1050" dirty="0">
                          <a:latin typeface="微軟正黑體" panose="020B0604030504040204" pitchFamily="34" charset="-120"/>
                          <a:ea typeface="微軟正黑體" panose="020B0604030504040204" pitchFamily="34" charset="-120"/>
                        </a:rPr>
                        <a:t>泰國、越南、新加坡、馬來西亞、菲律賓：</a:t>
                      </a:r>
                      <a:endParaRPr lang="en-US" altLang="zh-TW" sz="1050" dirty="0">
                        <a:latin typeface="微軟正黑體" panose="020B0604030504040204" pitchFamily="34" charset="-120"/>
                        <a:ea typeface="微軟正黑體" panose="020B0604030504040204" pitchFamily="34" charset="-120"/>
                      </a:endParaRPr>
                    </a:p>
                    <a:p>
                      <a:pPr marL="179388" indent="0" algn="l">
                        <a:buFont typeface="Arial" panose="020B0604020202020204" pitchFamily="34" charset="0"/>
                        <a:buNone/>
                      </a:pPr>
                      <a:r>
                        <a:rPr lang="zh-TW" altLang="en-US" sz="1050" dirty="0">
                          <a:latin typeface="微軟正黑體" panose="020B0604030504040204" pitchFamily="34" charset="-120"/>
                          <a:ea typeface="微軟正黑體" panose="020B0604030504040204" pitchFamily="34" charset="-120"/>
                        </a:rPr>
                        <a:t>實體消費納入「百大指定消費通路」</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en-US" altLang="zh-TW" sz="1050" dirty="0">
                          <a:latin typeface="微軟正黑體" panose="020B0604030504040204" pitchFamily="34" charset="-120"/>
                          <a:ea typeface="微軟正黑體" panose="020B0604030504040204" pitchFamily="34" charset="-120"/>
                        </a:rPr>
                        <a:t>4.5%</a:t>
                      </a:r>
                      <a:endParaRPr lang="zh-TW" altLang="en-US" sz="1050" dirty="0">
                        <a:latin typeface="微軟正黑體" panose="020B0604030504040204" pitchFamily="34" charset="-120"/>
                        <a:ea typeface="微軟正黑體" panose="020B0604030504040204" pitchFamily="34" charset="-12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en-US" altLang="zh-TW" sz="1050" dirty="0">
                          <a:latin typeface="微軟正黑體" panose="020B0604030504040204" pitchFamily="34" charset="-120"/>
                          <a:ea typeface="微軟正黑體" panose="020B0604030504040204" pitchFamily="34" charset="-120"/>
                        </a:rPr>
                        <a:t>2025/10/1~</a:t>
                      </a:r>
                    </a:p>
                    <a:p>
                      <a:pPr algn="ctr"/>
                      <a:r>
                        <a:rPr lang="en-US" altLang="zh-TW" sz="1050" dirty="0">
                          <a:latin typeface="微軟正黑體" panose="020B0604030504040204" pitchFamily="34" charset="-120"/>
                          <a:ea typeface="微軟正黑體" panose="020B0604030504040204" pitchFamily="34" charset="-120"/>
                        </a:rPr>
                        <a:t>2026/</a:t>
                      </a:r>
                      <a:r>
                        <a:rPr lang="zh-TW" altLang="en-US" sz="1050" dirty="0">
                          <a:latin typeface="微軟正黑體" panose="020B0604030504040204" pitchFamily="34" charset="-120"/>
                          <a:ea typeface="微軟正黑體" panose="020B0604030504040204" pitchFamily="34" charset="-120"/>
                        </a:rPr>
                        <a:t>上半年</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74799135"/>
                  </a:ext>
                </a:extLst>
              </a:tr>
              <a:tr h="616355">
                <a:tc>
                  <a:txBody>
                    <a:bodyPr/>
                    <a:lstStyle/>
                    <a:p>
                      <a:pPr algn="ctr"/>
                      <a:r>
                        <a:rPr lang="zh-TW" altLang="en-US" sz="1050" dirty="0">
                          <a:latin typeface="微軟正黑體" panose="020B0604030504040204" pitchFamily="34" charset="-120"/>
                          <a:ea typeface="微軟正黑體" panose="020B0604030504040204" pitchFamily="34" charset="-120"/>
                        </a:rPr>
                        <a:t>遠東</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050" dirty="0">
                          <a:latin typeface="微軟正黑體" panose="020B0604030504040204" pitchFamily="34" charset="-120"/>
                          <a:ea typeface="微軟正黑體" panose="020B0604030504040204" pitchFamily="34" charset="-120"/>
                        </a:rPr>
                        <a:t>樂家</a:t>
                      </a:r>
                      <a:r>
                        <a:rPr lang="en-US" altLang="zh-TW" sz="1050" dirty="0">
                          <a:latin typeface="微軟正黑體" panose="020B0604030504040204" pitchFamily="34" charset="-120"/>
                          <a:ea typeface="微軟正黑體" panose="020B0604030504040204" pitchFamily="34" charset="-120"/>
                        </a:rPr>
                        <a:t>+</a:t>
                      </a:r>
                      <a:r>
                        <a:rPr lang="zh-TW" altLang="en-US" sz="1050" dirty="0">
                          <a:latin typeface="微軟正黑體" panose="020B0604030504040204" pitchFamily="34" charset="-120"/>
                          <a:ea typeface="微軟正黑體" panose="020B0604030504040204" pitchFamily="34" charset="-120"/>
                        </a:rPr>
                        <a:t>卡</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1050" dirty="0">
                          <a:latin typeface="微軟正黑體" panose="020B0604030504040204" pitchFamily="34" charset="-120"/>
                          <a:ea typeface="微軟正黑體" panose="020B0604030504040204" pitchFamily="34" charset="-120"/>
                        </a:rPr>
                        <a:t>新加坡：</a:t>
                      </a:r>
                      <a:endParaRPr lang="en-US" altLang="zh-TW" sz="1050" dirty="0">
                        <a:latin typeface="微軟正黑體" panose="020B0604030504040204" pitchFamily="34" charset="-120"/>
                        <a:ea typeface="微軟正黑體" panose="020B0604030504040204" pitchFamily="34" charset="-120"/>
                      </a:endParaRPr>
                    </a:p>
                    <a:p>
                      <a:pPr marL="179388"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50" dirty="0">
                          <a:latin typeface="微軟正黑體" panose="020B0604030504040204" pitchFamily="34" charset="-120"/>
                          <a:ea typeface="微軟正黑體" panose="020B0604030504040204" pitchFamily="34" charset="-120"/>
                        </a:rPr>
                        <a:t>單月累積消費滿</a:t>
                      </a:r>
                      <a:r>
                        <a:rPr lang="en-US" altLang="zh-TW" sz="1050" dirty="0">
                          <a:latin typeface="微軟正黑體" panose="020B0604030504040204" pitchFamily="34" charset="-120"/>
                          <a:ea typeface="微軟正黑體" panose="020B0604030504040204" pitchFamily="34" charset="-120"/>
                        </a:rPr>
                        <a:t>NT$5</a:t>
                      </a:r>
                      <a:r>
                        <a:rPr lang="zh-TW" altLang="en-US" sz="1050" dirty="0">
                          <a:latin typeface="微軟正黑體" panose="020B0604030504040204" pitchFamily="34" charset="-120"/>
                          <a:ea typeface="微軟正黑體" panose="020B0604030504040204" pitchFamily="34" charset="-120"/>
                        </a:rPr>
                        <a:t>萬元，加贈</a:t>
                      </a:r>
                      <a:r>
                        <a:rPr lang="en-US" altLang="zh-TW" sz="1050" dirty="0">
                          <a:latin typeface="微軟正黑體" panose="020B0604030504040204" pitchFamily="34" charset="-120"/>
                          <a:ea typeface="微軟正黑體" panose="020B0604030504040204" pitchFamily="34" charset="-120"/>
                        </a:rPr>
                        <a:t>NT$500</a:t>
                      </a:r>
                      <a:r>
                        <a:rPr lang="zh-TW" altLang="en-US" sz="1050" dirty="0">
                          <a:latin typeface="微軟正黑體" panose="020B0604030504040204" pitchFamily="34" charset="-120"/>
                          <a:ea typeface="微軟正黑體" panose="020B0604030504040204" pitchFamily="34" charset="-120"/>
                        </a:rPr>
                        <a:t>元刷卡金</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50" dirty="0">
                          <a:latin typeface="微軟正黑體" panose="020B0604030504040204" pitchFamily="34" charset="-120"/>
                          <a:ea typeface="微軟正黑體" panose="020B0604030504040204" pitchFamily="34" charset="-120"/>
                        </a:rPr>
                        <a:t>3.5%</a:t>
                      </a:r>
                      <a:endParaRPr lang="zh-TW" altLang="en-US" sz="1050" dirty="0">
                        <a:latin typeface="微軟正黑體" panose="020B0604030504040204" pitchFamily="34" charset="-120"/>
                        <a:ea typeface="微軟正黑體" panose="020B0604030504040204" pitchFamily="34" charset="-120"/>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50" dirty="0">
                          <a:latin typeface="微軟正黑體" panose="020B0604030504040204" pitchFamily="34" charset="-120"/>
                          <a:ea typeface="微軟正黑體" panose="020B0604030504040204" pitchFamily="34" charset="-120"/>
                        </a:rPr>
                        <a:t>2026/</a:t>
                      </a:r>
                      <a:r>
                        <a:rPr lang="zh-TW" altLang="en-US" sz="1050" dirty="0">
                          <a:latin typeface="微軟正黑體" panose="020B0604030504040204" pitchFamily="34" charset="-120"/>
                          <a:ea typeface="微軟正黑體" panose="020B0604030504040204" pitchFamily="34" charset="-120"/>
                        </a:rPr>
                        <a:t>上半年</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5210192"/>
                  </a:ext>
                </a:extLst>
              </a:tr>
            </a:tbl>
          </a:graphicData>
        </a:graphic>
      </p:graphicFrame>
    </p:spTree>
    <p:extLst>
      <p:ext uri="{BB962C8B-B14F-4D97-AF65-F5344CB8AC3E}">
        <p14:creationId xmlns:p14="http://schemas.microsoft.com/office/powerpoint/2010/main" val="81224839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0A8017B5-A008-9F7D-65DC-331041FCDBD2}"/>
              </a:ext>
            </a:extLst>
          </p:cNvPr>
          <p:cNvSpPr txBox="1"/>
          <p:nvPr/>
        </p:nvSpPr>
        <p:spPr>
          <a:xfrm>
            <a:off x="311920" y="314805"/>
            <a:ext cx="7691902" cy="396919"/>
          </a:xfrm>
          <a:prstGeom prst="rect">
            <a:avLst/>
          </a:prstGeom>
          <a:solidFill>
            <a:schemeClr val="accent6">
              <a:lumMod val="20000"/>
              <a:lumOff val="80000"/>
            </a:schemeClr>
          </a:solidFill>
          <a:ln w="6350" cap="flat" cmpd="sng" algn="ctr">
            <a:solidFill>
              <a:schemeClr val="accent6">
                <a:lumMod val="20000"/>
                <a:lumOff val="80000"/>
              </a:schemeClr>
            </a:solidFill>
            <a:prstDash val="solid"/>
            <a:miter lim="800000"/>
          </a:ln>
          <a:effectLst/>
        </p:spPr>
        <p:txBody>
          <a:bodyPr wrap="square">
            <a:noAutofit/>
          </a:bodyPr>
          <a:lstStyle>
            <a:defPPr>
              <a:defRPr lang="en-US"/>
            </a:defPPr>
            <a:lvl1pPr marR="0" lvl="0" indent="0">
              <a:lnSpc>
                <a:spcPct val="100000"/>
              </a:lnSpc>
              <a:spcBef>
                <a:spcPts val="0"/>
              </a:spcBef>
              <a:spcAft>
                <a:spcPts val="0"/>
              </a:spcAft>
              <a:buClrTx/>
              <a:buSzTx/>
              <a:buFontTx/>
              <a:buNone/>
              <a:tabLst/>
              <a:defRPr kumimoji="0" sz="2000" i="0" u="none" strike="noStrike" cap="none" spc="0" normalizeH="0" baseline="0">
                <a:ln>
                  <a:noFill/>
                </a:ln>
                <a:solidFill>
                  <a:srgbClr val="000000"/>
                </a:solidFill>
                <a:effectLst/>
                <a:uLnTx/>
                <a:uFillTx/>
                <a:latin typeface="微軟正黑體" panose="020B0604030504040204" pitchFamily="34" charset="-120"/>
                <a:ea typeface="微軟正黑體" panose="020B0604030504040204" pitchFamily="34" charset="-120"/>
              </a:defRPr>
            </a:lvl1pPr>
          </a:lstStyle>
          <a:p>
            <a:r>
              <a:rPr lang="zh-TW" altLang="en-US" dirty="0"/>
              <a:t>虛擬資產業將導入信託、隔離管理機制 境外幣商落地　三家有意願</a:t>
            </a:r>
          </a:p>
        </p:txBody>
      </p:sp>
      <p:sp>
        <p:nvSpPr>
          <p:cNvPr id="2" name="文字方塊 1">
            <a:extLst>
              <a:ext uri="{FF2B5EF4-FFF2-40B4-BE49-F238E27FC236}">
                <a16:creationId xmlns:a16="http://schemas.microsoft.com/office/drawing/2014/main" id="{679A707D-D0C7-E2E4-96E4-C1B7F85936E8}"/>
              </a:ext>
            </a:extLst>
          </p:cNvPr>
          <p:cNvSpPr txBox="1"/>
          <p:nvPr/>
        </p:nvSpPr>
        <p:spPr>
          <a:xfrm>
            <a:off x="141113" y="864000"/>
            <a:ext cx="5760000" cy="5432025"/>
          </a:xfrm>
          <a:prstGeom prst="rect">
            <a:avLst/>
          </a:prstGeom>
          <a:solidFill>
            <a:sysClr val="window" lastClr="FFFFFF"/>
          </a:solidFill>
          <a:ln w="12700" cap="flat" cmpd="sng" algn="ctr">
            <a:solidFill>
              <a:schemeClr val="accent6">
                <a:lumMod val="75000"/>
              </a:schemeClr>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TW" altLang="en-US" b="0" dirty="0"/>
              <a:t>金管會主委彭金隆於昨（</a:t>
            </a:r>
            <a:r>
              <a:rPr lang="en-US" altLang="zh-TW" b="0" dirty="0"/>
              <a:t>23</a:t>
            </a:r>
            <a:r>
              <a:rPr lang="zh-TW" altLang="en-US" b="0" dirty="0"/>
              <a:t>）日揭示</a:t>
            </a:r>
            <a:r>
              <a:rPr lang="zh-TW" altLang="en-US" dirty="0">
                <a:solidFill>
                  <a:srgbClr val="C00000"/>
                </a:solidFill>
              </a:rPr>
              <a:t>虛擬資產業（</a:t>
            </a:r>
            <a:r>
              <a:rPr lang="en-US" altLang="zh-TW" dirty="0">
                <a:solidFill>
                  <a:srgbClr val="C00000"/>
                </a:solidFill>
              </a:rPr>
              <a:t>VASP</a:t>
            </a:r>
            <a:r>
              <a:rPr lang="zh-TW" altLang="en-US" dirty="0">
                <a:solidFill>
                  <a:srgbClr val="C00000"/>
                </a:solidFill>
              </a:rPr>
              <a:t>）監管新進展，包括台灣專法將導入資產信託、隔離管理二機制，走向高強度監理，他並公布目前全台約</a:t>
            </a:r>
            <a:r>
              <a:rPr lang="en-US" altLang="zh-TW" dirty="0">
                <a:solidFill>
                  <a:srgbClr val="C00000"/>
                </a:solidFill>
              </a:rPr>
              <a:t>100</a:t>
            </a:r>
            <a:r>
              <a:rPr lang="zh-TW" altLang="en-US" dirty="0">
                <a:solidFill>
                  <a:srgbClr val="C00000"/>
                </a:solidFill>
              </a:rPr>
              <a:t>萬人在</a:t>
            </a:r>
            <a:r>
              <a:rPr lang="en-US" altLang="zh-TW" dirty="0">
                <a:solidFill>
                  <a:srgbClr val="C00000"/>
                </a:solidFill>
              </a:rPr>
              <a:t>VASP</a:t>
            </a:r>
            <a:r>
              <a:rPr lang="zh-TW" altLang="en-US" dirty="0">
                <a:solidFill>
                  <a:srgbClr val="C00000"/>
                </a:solidFill>
              </a:rPr>
              <a:t>開戶，已有</a:t>
            </a:r>
            <a:r>
              <a:rPr lang="en-US" altLang="zh-TW" dirty="0">
                <a:solidFill>
                  <a:srgbClr val="C00000"/>
                </a:solidFill>
              </a:rPr>
              <a:t>19</a:t>
            </a:r>
            <a:r>
              <a:rPr lang="zh-TW" altLang="en-US" dirty="0">
                <a:solidFill>
                  <a:srgbClr val="C00000"/>
                </a:solidFill>
              </a:rPr>
              <a:t>家銀行對虛擬資產保管表達興趣</a:t>
            </a:r>
            <a:r>
              <a:rPr lang="zh-TW" altLang="en-US" b="0" dirty="0"/>
              <a:t>。另外，官員也透露，</a:t>
            </a:r>
            <a:r>
              <a:rPr lang="zh-TW" altLang="en-US" dirty="0">
                <a:solidFill>
                  <a:srgbClr val="C00000"/>
                </a:solidFill>
              </a:rPr>
              <a:t>目前有三家以上境外幣商有意願在台落地</a:t>
            </a:r>
            <a:r>
              <a:rPr lang="zh-TW" altLang="en-US" b="0" dirty="0"/>
              <a:t>。</a:t>
            </a:r>
          </a:p>
          <a:p>
            <a:r>
              <a:rPr lang="zh-TW" altLang="en-US" b="0" dirty="0"/>
              <a:t>立法院財委會昨日審查</a:t>
            </a:r>
            <a:r>
              <a:rPr lang="en-US" altLang="zh-TW" b="0" dirty="0"/>
              <a:t>《</a:t>
            </a:r>
            <a:r>
              <a:rPr lang="zh-TW" altLang="en-US" b="0" dirty="0"/>
              <a:t>虛擬資產服務法</a:t>
            </a:r>
            <a:r>
              <a:rPr lang="en-US" altLang="zh-TW" b="0" dirty="0"/>
              <a:t>》</a:t>
            </a:r>
            <a:r>
              <a:rPr lang="zh-TW" altLang="en-US" b="0" dirty="0"/>
              <a:t>草案。全球第二大加密貨幣交易所</a:t>
            </a:r>
            <a:r>
              <a:rPr lang="en-US" altLang="zh-TW" b="0" dirty="0"/>
              <a:t>FTX</a:t>
            </a:r>
            <a:r>
              <a:rPr lang="zh-TW" altLang="en-US" b="0" dirty="0"/>
              <a:t>破產重創投資人信心，顯現虛擬資產市場監管的急迫性。立委賴惠員說，該案影響約</a:t>
            </a:r>
            <a:r>
              <a:rPr lang="en-US" altLang="zh-TW" b="0" dirty="0"/>
              <a:t>30</a:t>
            </a:r>
            <a:r>
              <a:rPr lang="zh-TW" altLang="en-US" b="0" dirty="0"/>
              <a:t>萬名台灣投資人、損失達</a:t>
            </a:r>
            <a:r>
              <a:rPr lang="en-US" altLang="zh-TW" b="0" dirty="0"/>
              <a:t>4</a:t>
            </a:r>
            <a:r>
              <a:rPr lang="zh-TW" altLang="en-US" b="0" dirty="0"/>
              <a:t>億美元，問題核心在三大結構性漏洞，包括客戶資產未隔離、流動性不足及資金管理不當。</a:t>
            </a:r>
          </a:p>
          <a:p>
            <a:r>
              <a:rPr lang="zh-TW" altLang="en-US" b="0" dirty="0"/>
              <a:t>彭金隆指出，過去在虛擬資產市場野蠻生長、沒有納管的時代會發生如</a:t>
            </a:r>
            <a:r>
              <a:rPr lang="en-US" altLang="zh-TW" b="0" dirty="0"/>
              <a:t>FTX</a:t>
            </a:r>
            <a:r>
              <a:rPr lang="zh-TW" altLang="en-US" b="0" dirty="0"/>
              <a:t>爆發資金流動性不足的問題，這是因為資產無隔離，存取也沒有做保護。</a:t>
            </a:r>
            <a:endParaRPr lang="en-US" altLang="zh-TW" b="0" dirty="0"/>
          </a:p>
          <a:p>
            <a:r>
              <a:rPr lang="zh-TW" altLang="en-US" b="0" dirty="0"/>
              <a:t>為因應相關風險，金管會已在草案中明訂，</a:t>
            </a:r>
            <a:r>
              <a:rPr lang="zh-TW" altLang="en-US" dirty="0">
                <a:solidFill>
                  <a:srgbClr val="0070C0"/>
                </a:solidFill>
              </a:rPr>
              <a:t>一是業者須將客戶資產全數交付信託，二是客戶資產與自有資產嚴格區隔，未來即使業者出現財務問題，客戶資產仍可獨立保護，避免遭挪用或轉為高風險標的。除資產保護機制外，監理範圍也將擴及業者營運、資訊揭露及風險控管</a:t>
            </a:r>
            <a:r>
              <a:rPr lang="zh-TW" altLang="en-US" b="0" dirty="0"/>
              <a:t>。</a:t>
            </a:r>
          </a:p>
          <a:p>
            <a:endParaRPr lang="zh-TW" altLang="en-US" b="0" dirty="0"/>
          </a:p>
        </p:txBody>
      </p:sp>
      <p:sp>
        <p:nvSpPr>
          <p:cNvPr id="4" name="文字方塊 3">
            <a:extLst>
              <a:ext uri="{FF2B5EF4-FFF2-40B4-BE49-F238E27FC236}">
                <a16:creationId xmlns:a16="http://schemas.microsoft.com/office/drawing/2014/main" id="{1E007B00-45A5-3605-1517-6282B8858C0B}"/>
              </a:ext>
            </a:extLst>
          </p:cNvPr>
          <p:cNvSpPr txBox="1"/>
          <p:nvPr/>
        </p:nvSpPr>
        <p:spPr>
          <a:xfrm>
            <a:off x="6048000" y="864000"/>
            <a:ext cx="5760000" cy="5432025"/>
          </a:xfrm>
          <a:prstGeom prst="rect">
            <a:avLst/>
          </a:prstGeom>
          <a:solidFill>
            <a:sysClr val="window" lastClr="FFFFFF"/>
          </a:solidFill>
          <a:ln w="12700" cap="flat" cmpd="sng" algn="ctr">
            <a:solidFill>
              <a:schemeClr val="accent6">
                <a:lumMod val="75000"/>
              </a:schemeClr>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TW" altLang="en-US" b="0" dirty="0"/>
              <a:t>虛擬資產市場監管最大難題是境外幣商納管，立委林岱樺提及</a:t>
            </a:r>
            <a:r>
              <a:rPr lang="zh-TW" altLang="en-US" dirty="0">
                <a:solidFill>
                  <a:srgbClr val="0070C0"/>
                </a:solidFill>
              </a:rPr>
              <a:t>台灣合規業者僅八家，但實際仍有</a:t>
            </a:r>
            <a:r>
              <a:rPr lang="en-US" altLang="zh-TW" dirty="0">
                <a:solidFill>
                  <a:srgbClr val="0070C0"/>
                </a:solidFill>
              </a:rPr>
              <a:t>30</a:t>
            </a:r>
            <a:r>
              <a:rPr lang="zh-TW" altLang="en-US" dirty="0">
                <a:solidFill>
                  <a:srgbClr val="0070C0"/>
                </a:solidFill>
              </a:rPr>
              <a:t>家以上的境外幣商未落地納管，恐對消費者無保障。彭金隆指出，境外幣商來台有兩種途徑，包含成立子公司或分公司，再申請</a:t>
            </a:r>
            <a:r>
              <a:rPr lang="en-US" altLang="zh-TW" dirty="0">
                <a:solidFill>
                  <a:srgbClr val="0070C0"/>
                </a:solidFill>
              </a:rPr>
              <a:t>VASP</a:t>
            </a:r>
            <a:r>
              <a:rPr lang="zh-TW" altLang="en-US" dirty="0">
                <a:solidFill>
                  <a:srgbClr val="0070C0"/>
                </a:solidFill>
              </a:rPr>
              <a:t>牌照，確實曾與境外幣商互動過</a:t>
            </a:r>
            <a:r>
              <a:rPr lang="zh-TW" altLang="en-US" b="0" dirty="0"/>
              <a:t>。</a:t>
            </a:r>
          </a:p>
          <a:p>
            <a:r>
              <a:rPr lang="zh-TW" altLang="en-US" b="0" dirty="0"/>
              <a:t>據了解，</a:t>
            </a:r>
            <a:r>
              <a:rPr lang="zh-TW" altLang="en-US" dirty="0">
                <a:solidFill>
                  <a:srgbClr val="0070C0"/>
                </a:solidFill>
              </a:rPr>
              <a:t>部分業者因資金來源被認為是陸資而有落地困難，知情律師透露，目前至少有三家以上境外幣商有意願落地台灣，其中包含已公開的新加坡錢包商</a:t>
            </a:r>
            <a:r>
              <a:rPr lang="en-US" altLang="zh-TW" dirty="0">
                <a:solidFill>
                  <a:srgbClr val="0070C0"/>
                </a:solidFill>
              </a:rPr>
              <a:t>Liminal</a:t>
            </a:r>
            <a:r>
              <a:rPr lang="zh-TW" altLang="en-US" dirty="0">
                <a:solidFill>
                  <a:srgbClr val="0070C0"/>
                </a:solidFill>
              </a:rPr>
              <a:t>及美商比特行（</a:t>
            </a:r>
            <a:r>
              <a:rPr lang="en-US" altLang="zh-TW" dirty="0" err="1">
                <a:solidFill>
                  <a:srgbClr val="0070C0"/>
                </a:solidFill>
              </a:rPr>
              <a:t>BitGo</a:t>
            </a:r>
            <a:r>
              <a:rPr lang="zh-TW" altLang="en-US" dirty="0">
                <a:solidFill>
                  <a:srgbClr val="0070C0"/>
                </a:solidFill>
              </a:rPr>
              <a:t>）已在台設立分公司或子公司，幣安（</a:t>
            </a:r>
            <a:r>
              <a:rPr lang="en-US" altLang="zh-TW" dirty="0">
                <a:solidFill>
                  <a:srgbClr val="0070C0"/>
                </a:solidFill>
              </a:rPr>
              <a:t>Binance</a:t>
            </a:r>
            <a:r>
              <a:rPr lang="zh-TW" altLang="en-US" dirty="0">
                <a:solidFill>
                  <a:srgbClr val="0070C0"/>
                </a:solidFill>
              </a:rPr>
              <a:t>）也在台設立分公司</a:t>
            </a:r>
            <a:r>
              <a:rPr lang="zh-TW" altLang="en-US" b="0" dirty="0"/>
              <a:t>。</a:t>
            </a:r>
          </a:p>
          <a:p>
            <a:r>
              <a:rPr lang="zh-TW" altLang="en-US" b="0" dirty="0"/>
              <a:t>除</a:t>
            </a:r>
            <a:r>
              <a:rPr lang="en-US" altLang="zh-TW" b="0" dirty="0"/>
              <a:t>VASP</a:t>
            </a:r>
            <a:r>
              <a:rPr lang="zh-TW" altLang="en-US" b="0" dirty="0"/>
              <a:t>業者，傳統金融機構也有意參與虛擬資產市場。彭金隆表示，</a:t>
            </a:r>
            <a:r>
              <a:rPr lang="zh-TW" altLang="en-US" dirty="0">
                <a:solidFill>
                  <a:srgbClr val="0070C0"/>
                </a:solidFill>
              </a:rPr>
              <a:t>目前大約有</a:t>
            </a:r>
            <a:r>
              <a:rPr lang="en-US" altLang="zh-TW" dirty="0">
                <a:solidFill>
                  <a:srgbClr val="0070C0"/>
                </a:solidFill>
              </a:rPr>
              <a:t>19</a:t>
            </a:r>
            <a:r>
              <a:rPr lang="zh-TW" altLang="en-US" dirty="0">
                <a:solidFill>
                  <a:srgbClr val="0070C0"/>
                </a:solidFill>
              </a:rPr>
              <a:t>家銀行表達對虛擬資產試辦業務有興趣，其中有五家申請試辦，各銀行技術採用方式不同，預計六個月內訂出虛擬資產保管業務指引，屆時即可正式申請開辦</a:t>
            </a:r>
            <a:r>
              <a:rPr lang="zh-TW" altLang="en-US" b="0" dirty="0"/>
              <a:t>。截至</a:t>
            </a:r>
            <a:r>
              <a:rPr lang="zh-TW" altLang="en-US" dirty="0">
                <a:solidFill>
                  <a:srgbClr val="C00000"/>
                </a:solidFill>
              </a:rPr>
              <a:t>目前已核准試辦的銀行為聯邦、中信、凱基、國泰世華及台新銀行。銀行局指出，除國泰世華銀及台新銀尚在籌備中，其餘均已開辦，核准試辦期間為六個月</a:t>
            </a:r>
            <a:r>
              <a:rPr lang="zh-TW" altLang="en-US" b="0" dirty="0"/>
              <a:t>，至於新訂定的指引，具體內容仍待銀行公會研議討論。</a:t>
            </a:r>
          </a:p>
          <a:p>
            <a:endParaRPr lang="zh-TW" altLang="en-US" b="0" dirty="0">
              <a:solidFill>
                <a:srgbClr val="272727"/>
              </a:solidFill>
            </a:endParaRPr>
          </a:p>
        </p:txBody>
      </p:sp>
      <p:sp>
        <p:nvSpPr>
          <p:cNvPr id="11" name="矩形 10">
            <a:extLst>
              <a:ext uri="{FF2B5EF4-FFF2-40B4-BE49-F238E27FC236}">
                <a16:creationId xmlns:a16="http://schemas.microsoft.com/office/drawing/2014/main" id="{A254FC5C-4B08-F79C-A27A-9FFA7FFAE78F}"/>
              </a:ext>
            </a:extLst>
          </p:cNvPr>
          <p:cNvSpPr/>
          <p:nvPr/>
        </p:nvSpPr>
        <p:spPr>
          <a:xfrm>
            <a:off x="8003822" y="434725"/>
            <a:ext cx="1609736"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Arial" panose="020B0604020202020204" pitchFamily="34" charset="0"/>
                <a:ea typeface="微軟正黑體" panose="020B0604030504040204" pitchFamily="34" charset="-120"/>
                <a:cs typeface="+mn-cs"/>
              </a:rPr>
              <a:t>2026/03/24</a:t>
            </a:r>
            <a:r>
              <a:rPr lang="zh-TW" altLang="en-US" sz="1200" b="0" dirty="0">
                <a:solidFill>
                  <a:prstClr val="black"/>
                </a:solidFill>
                <a:latin typeface="Arial" panose="020B0604020202020204" pitchFamily="34" charset="0"/>
                <a:ea typeface="微軟正黑體" panose="020B0604030504040204" pitchFamily="34" charset="-120"/>
              </a:rPr>
              <a:t> 經濟日報</a:t>
            </a:r>
            <a:endParaRPr kumimoji="0" lang="zh-TW" altLang="en-US" sz="1200" b="0" i="0" u="none" strike="noStrike" kern="1200" cap="none" spc="0" normalizeH="0" baseline="0" noProof="0" dirty="0">
              <a:ln>
                <a:noFill/>
              </a:ln>
              <a:solidFill>
                <a:prstClr val="black"/>
              </a:solidFill>
              <a:effectLst/>
              <a:uLnTx/>
              <a:uFillTx/>
              <a:latin typeface="Arial" panose="020B0604020202020204" pitchFamily="34" charset="0"/>
              <a:ea typeface="微軟正黑體" panose="020B0604030504040204" pitchFamily="34" charset="-120"/>
              <a:cs typeface="+mn-cs"/>
            </a:endParaRPr>
          </a:p>
        </p:txBody>
      </p:sp>
    </p:spTree>
    <p:extLst>
      <p:ext uri="{BB962C8B-B14F-4D97-AF65-F5344CB8AC3E}">
        <p14:creationId xmlns:p14="http://schemas.microsoft.com/office/powerpoint/2010/main" val="372357222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0A1B5B4-6990-19C0-6219-8722586D110E}"/>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A5B5CC45-D015-792D-2AAD-E8EDB69D7914}"/>
              </a:ext>
            </a:extLst>
          </p:cNvPr>
          <p:cNvSpPr txBox="1"/>
          <p:nvPr/>
        </p:nvSpPr>
        <p:spPr>
          <a:xfrm>
            <a:off x="311920" y="314805"/>
            <a:ext cx="3662203" cy="396919"/>
          </a:xfrm>
          <a:prstGeom prst="rect">
            <a:avLst/>
          </a:prstGeom>
          <a:solidFill>
            <a:srgbClr val="CC99FF"/>
          </a:solidFill>
          <a:ln w="6350" cap="flat" cmpd="sng" algn="ctr">
            <a:solidFill>
              <a:srgbClr val="CC99FF"/>
            </a:solidFill>
            <a:prstDash val="solid"/>
            <a:miter lim="800000"/>
          </a:ln>
          <a:effectLst/>
        </p:spPr>
        <p:txBody>
          <a:bodyPr wrap="square">
            <a:noAutofit/>
          </a:bodyPr>
          <a:lstStyle>
            <a:defPPr>
              <a:defRPr lang="en-US"/>
            </a:defPPr>
            <a:lvl1pPr marR="0" lvl="0" indent="0">
              <a:lnSpc>
                <a:spcPct val="100000"/>
              </a:lnSpc>
              <a:spcBef>
                <a:spcPts val="0"/>
              </a:spcBef>
              <a:spcAft>
                <a:spcPts val="0"/>
              </a:spcAft>
              <a:buClrTx/>
              <a:buSzTx/>
              <a:buFontTx/>
              <a:buNone/>
              <a:tabLst/>
              <a:defRPr sz="2000" i="0">
                <a:solidFill>
                  <a:srgbClr val="000000"/>
                </a:solidFill>
                <a:effectLst/>
                <a:latin typeface="Noto Sans TC"/>
                <a:ea typeface="微軟正黑體" panose="020B0604030504040204" pitchFamily="34" charset="-120"/>
              </a:defRPr>
            </a:lvl1pPr>
          </a:lstStyle>
          <a:p>
            <a:r>
              <a:rPr lang="zh-TW" altLang="en-US" dirty="0">
                <a:latin typeface="微軟正黑體" panose="020B0604030504040204" pitchFamily="34" charset="-120"/>
              </a:rPr>
              <a:t>安養信託規模加速 十年增</a:t>
            </a:r>
            <a:r>
              <a:rPr lang="en-US" altLang="zh-TW" dirty="0">
                <a:latin typeface="微軟正黑體" panose="020B0604030504040204" pitchFamily="34" charset="-120"/>
              </a:rPr>
              <a:t>43</a:t>
            </a:r>
            <a:r>
              <a:rPr lang="zh-TW" altLang="en-US" dirty="0">
                <a:latin typeface="微軟正黑體" panose="020B0604030504040204" pitchFamily="34" charset="-120"/>
              </a:rPr>
              <a:t>倍</a:t>
            </a:r>
          </a:p>
        </p:txBody>
      </p:sp>
      <p:sp>
        <p:nvSpPr>
          <p:cNvPr id="2" name="文字方塊 1">
            <a:extLst>
              <a:ext uri="{FF2B5EF4-FFF2-40B4-BE49-F238E27FC236}">
                <a16:creationId xmlns:a16="http://schemas.microsoft.com/office/drawing/2014/main" id="{689CED85-605B-2579-C671-0919A408A4F8}"/>
              </a:ext>
            </a:extLst>
          </p:cNvPr>
          <p:cNvSpPr txBox="1"/>
          <p:nvPr/>
        </p:nvSpPr>
        <p:spPr>
          <a:xfrm>
            <a:off x="144000" y="864000"/>
            <a:ext cx="5760000" cy="5462909"/>
          </a:xfrm>
          <a:prstGeom prst="rect">
            <a:avLst/>
          </a:prstGeom>
          <a:solidFill>
            <a:sysClr val="window" lastClr="FFFFFF"/>
          </a:solidFill>
          <a:ln w="12700" cap="flat" cmpd="sng" algn="ctr">
            <a:solidFill>
              <a:srgbClr val="CC99FF"/>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fontAlgn="auto">
              <a:spcBef>
                <a:spcPts val="600"/>
              </a:spcBef>
              <a:spcAft>
                <a:spcPts val="0"/>
              </a:spcAft>
            </a:pPr>
            <a:r>
              <a:rPr lang="zh-TW" altLang="en-US" b="0" dirty="0">
                <a:solidFill>
                  <a:prstClr val="black"/>
                </a:solidFill>
              </a:rPr>
              <a:t>超高齡社會來臨，金管會加速推動安養信託。銀行局主秘周正山</a:t>
            </a:r>
            <a:r>
              <a:rPr lang="en-US" altLang="zh-TW" b="0" dirty="0">
                <a:solidFill>
                  <a:prstClr val="black"/>
                </a:solidFill>
              </a:rPr>
              <a:t>26</a:t>
            </a:r>
            <a:r>
              <a:rPr lang="zh-TW" altLang="en-US" b="0" dirty="0">
                <a:solidFill>
                  <a:prstClr val="black"/>
                </a:solidFill>
              </a:rPr>
              <a:t>日指出，</a:t>
            </a:r>
            <a:r>
              <a:rPr lang="zh-TW" altLang="en-US" dirty="0">
                <a:solidFill>
                  <a:srgbClr val="C00000"/>
                </a:solidFill>
              </a:rPr>
              <a:t>截至</a:t>
            </a:r>
            <a:r>
              <a:rPr lang="en-US" altLang="zh-TW" dirty="0">
                <a:solidFill>
                  <a:srgbClr val="C00000"/>
                </a:solidFill>
              </a:rPr>
              <a:t>2025</a:t>
            </a:r>
            <a:r>
              <a:rPr lang="zh-TW" altLang="en-US" dirty="0">
                <a:solidFill>
                  <a:srgbClr val="C00000"/>
                </a:solidFill>
              </a:rPr>
              <a:t>年底止，已有</a:t>
            </a:r>
            <a:r>
              <a:rPr lang="en-US" altLang="zh-TW" dirty="0">
                <a:solidFill>
                  <a:srgbClr val="C00000"/>
                </a:solidFill>
              </a:rPr>
              <a:t>30</a:t>
            </a:r>
            <a:r>
              <a:rPr lang="zh-TW" altLang="en-US" dirty="0">
                <a:solidFill>
                  <a:srgbClr val="C00000"/>
                </a:solidFill>
              </a:rPr>
              <a:t>家信託業者提供安養信託商品，累計信託受益人達</a:t>
            </a:r>
            <a:r>
              <a:rPr lang="en-US" altLang="zh-TW" dirty="0">
                <a:solidFill>
                  <a:srgbClr val="C00000"/>
                </a:solidFill>
              </a:rPr>
              <a:t>22</a:t>
            </a:r>
            <a:r>
              <a:rPr lang="zh-TW" altLang="en-US" dirty="0">
                <a:solidFill>
                  <a:srgbClr val="C00000"/>
                </a:solidFill>
              </a:rPr>
              <a:t>萬</a:t>
            </a:r>
            <a:r>
              <a:rPr lang="en-US" altLang="zh-TW" dirty="0">
                <a:solidFill>
                  <a:srgbClr val="C00000"/>
                </a:solidFill>
              </a:rPr>
              <a:t>1,047</a:t>
            </a:r>
            <a:r>
              <a:rPr lang="zh-TW" altLang="en-US" dirty="0">
                <a:solidFill>
                  <a:srgbClr val="C00000"/>
                </a:solidFill>
              </a:rPr>
              <a:t>人，累計信託財產本金約</a:t>
            </a:r>
            <a:r>
              <a:rPr lang="en-US" altLang="zh-TW" dirty="0">
                <a:solidFill>
                  <a:srgbClr val="C00000"/>
                </a:solidFill>
              </a:rPr>
              <a:t>1,844</a:t>
            </a:r>
            <a:r>
              <a:rPr lang="zh-TW" altLang="en-US" dirty="0">
                <a:solidFill>
                  <a:srgbClr val="C00000"/>
                </a:solidFill>
              </a:rPr>
              <a:t>億元，較安養信託推動初期（</a:t>
            </a:r>
            <a:r>
              <a:rPr lang="en-US" altLang="zh-TW" dirty="0">
                <a:solidFill>
                  <a:srgbClr val="C00000"/>
                </a:solidFill>
              </a:rPr>
              <a:t>2015</a:t>
            </a:r>
            <a:r>
              <a:rPr lang="zh-TW" altLang="en-US" dirty="0">
                <a:solidFill>
                  <a:srgbClr val="C00000"/>
                </a:solidFill>
              </a:rPr>
              <a:t>年底）的</a:t>
            </a:r>
            <a:r>
              <a:rPr lang="en-US" altLang="zh-TW" dirty="0">
                <a:solidFill>
                  <a:srgbClr val="C00000"/>
                </a:solidFill>
              </a:rPr>
              <a:t>863</a:t>
            </a:r>
            <a:r>
              <a:rPr lang="zh-TW" altLang="en-US" dirty="0">
                <a:solidFill>
                  <a:srgbClr val="C00000"/>
                </a:solidFill>
              </a:rPr>
              <a:t>人及</a:t>
            </a:r>
            <a:r>
              <a:rPr lang="en-US" altLang="zh-TW" dirty="0">
                <a:solidFill>
                  <a:srgbClr val="C00000"/>
                </a:solidFill>
              </a:rPr>
              <a:t>42</a:t>
            </a:r>
            <a:r>
              <a:rPr lang="zh-TW" altLang="en-US" dirty="0">
                <a:solidFill>
                  <a:srgbClr val="C00000"/>
                </a:solidFill>
              </a:rPr>
              <a:t>億元顯著成長，以規模來看，去年年增率達</a:t>
            </a:r>
            <a:r>
              <a:rPr lang="en-US" altLang="zh-TW" dirty="0">
                <a:solidFill>
                  <a:srgbClr val="C00000"/>
                </a:solidFill>
              </a:rPr>
              <a:t>17</a:t>
            </a:r>
            <a:r>
              <a:rPr lang="zh-TW" altLang="en-US" dirty="0">
                <a:solidFill>
                  <a:srgbClr val="C00000"/>
                </a:solidFill>
              </a:rPr>
              <a:t>％、十年來大幅翻增了</a:t>
            </a:r>
            <a:r>
              <a:rPr lang="en-US" altLang="zh-TW" dirty="0">
                <a:solidFill>
                  <a:srgbClr val="C00000"/>
                </a:solidFill>
              </a:rPr>
              <a:t>43</a:t>
            </a:r>
            <a:r>
              <a:rPr lang="zh-TW" altLang="en-US" dirty="0">
                <a:solidFill>
                  <a:srgbClr val="C00000"/>
                </a:solidFill>
              </a:rPr>
              <a:t>倍</a:t>
            </a:r>
            <a:r>
              <a:rPr lang="zh-TW" altLang="en-US" b="0" dirty="0">
                <a:solidFill>
                  <a:prstClr val="black"/>
                </a:solidFill>
              </a:rPr>
              <a:t>。</a:t>
            </a:r>
            <a:endParaRPr lang="en-US" altLang="zh-TW" b="0" dirty="0">
              <a:solidFill>
                <a:prstClr val="black"/>
              </a:solidFill>
            </a:endParaRPr>
          </a:p>
          <a:p>
            <a:pPr fontAlgn="auto">
              <a:spcBef>
                <a:spcPts val="600"/>
              </a:spcBef>
              <a:spcAft>
                <a:spcPts val="0"/>
              </a:spcAft>
            </a:pPr>
            <a:r>
              <a:rPr lang="zh-TW" altLang="en-US" b="0" dirty="0">
                <a:solidFill>
                  <a:prstClr val="black"/>
                </a:solidFill>
              </a:rPr>
              <a:t>周正山指出，為鼓勵信託業積極發展安養信託業務，金管會自</a:t>
            </a:r>
            <a:r>
              <a:rPr lang="en-US" altLang="zh-TW" b="0" dirty="0">
                <a:solidFill>
                  <a:prstClr val="black"/>
                </a:solidFill>
              </a:rPr>
              <a:t>2016</a:t>
            </a:r>
            <a:r>
              <a:rPr lang="zh-TW" altLang="en-US" b="0" dirty="0">
                <a:solidFill>
                  <a:prstClr val="black"/>
                </a:solidFill>
              </a:rPr>
              <a:t>年起實施「信託業辦理高齡者及身心障礙者財產信託評鑑及獎勵措施」，</a:t>
            </a:r>
            <a:r>
              <a:rPr lang="en-US" altLang="zh-TW" b="0" dirty="0">
                <a:solidFill>
                  <a:prstClr val="black"/>
                </a:solidFill>
              </a:rPr>
              <a:t>2020</a:t>
            </a:r>
            <a:r>
              <a:rPr lang="zh-TW" altLang="en-US" b="0" dirty="0">
                <a:solidFill>
                  <a:prstClr val="black"/>
                </a:solidFill>
              </a:rPr>
              <a:t>年</a:t>
            </a:r>
            <a:r>
              <a:rPr lang="en-US" altLang="zh-TW" b="0" dirty="0">
                <a:solidFill>
                  <a:prstClr val="black"/>
                </a:solidFill>
              </a:rPr>
              <a:t>9</a:t>
            </a:r>
            <a:r>
              <a:rPr lang="zh-TW" altLang="en-US" b="0" dirty="0">
                <a:solidFill>
                  <a:prstClr val="black"/>
                </a:solidFill>
              </a:rPr>
              <a:t>月至</a:t>
            </a:r>
            <a:r>
              <a:rPr lang="en-US" altLang="zh-TW" b="0" dirty="0">
                <a:solidFill>
                  <a:prstClr val="black"/>
                </a:solidFill>
              </a:rPr>
              <a:t>2024</a:t>
            </a:r>
            <a:r>
              <a:rPr lang="zh-TW" altLang="en-US" b="0" dirty="0">
                <a:solidFill>
                  <a:prstClr val="black"/>
                </a:solidFill>
              </a:rPr>
              <a:t>年</a:t>
            </a:r>
            <a:r>
              <a:rPr lang="en-US" altLang="zh-TW" b="0" dirty="0">
                <a:solidFill>
                  <a:prstClr val="black"/>
                </a:solidFill>
              </a:rPr>
              <a:t>12</a:t>
            </a:r>
            <a:r>
              <a:rPr lang="zh-TW" altLang="en-US" b="0" dirty="0">
                <a:solidFill>
                  <a:prstClr val="black"/>
                </a:solidFill>
              </a:rPr>
              <a:t>月推動「信託</a:t>
            </a:r>
            <a:r>
              <a:rPr lang="en-US" altLang="zh-TW" b="0" dirty="0">
                <a:solidFill>
                  <a:prstClr val="black"/>
                </a:solidFill>
              </a:rPr>
              <a:t>2.0</a:t>
            </a:r>
            <a:r>
              <a:rPr lang="zh-TW" altLang="en-US" b="0" dirty="0">
                <a:solidFill>
                  <a:prstClr val="black"/>
                </a:solidFill>
              </a:rPr>
              <a:t>計畫」，並接續於</a:t>
            </a:r>
            <a:r>
              <a:rPr lang="en-US" altLang="zh-TW" b="0" dirty="0">
                <a:solidFill>
                  <a:prstClr val="black"/>
                </a:solidFill>
              </a:rPr>
              <a:t>2024</a:t>
            </a:r>
            <a:r>
              <a:rPr lang="zh-TW" altLang="en-US" b="0" dirty="0">
                <a:solidFill>
                  <a:prstClr val="black"/>
                </a:solidFill>
              </a:rPr>
              <a:t>年底發布「信託業務發展策略藍圖」，推動信託業持續充實信託服務功能，</a:t>
            </a:r>
            <a:r>
              <a:rPr lang="zh-TW" altLang="en-US" dirty="0">
                <a:solidFill>
                  <a:srgbClr val="0070C0"/>
                </a:solidFill>
              </a:rPr>
              <a:t>目前實務上已有信託業者發展整合不同資產或功能之安養信託，並透過跨業合作與異業結盟結合跨產業資源，提供滿足民眾生活各面向所需的整合服務，例如居家照顧、醫療接送、長照機構入住、不動產代管等</a:t>
            </a:r>
            <a:r>
              <a:rPr lang="zh-TW" altLang="en-US" b="0" dirty="0">
                <a:solidFill>
                  <a:prstClr val="black"/>
                </a:solidFill>
              </a:rPr>
              <a:t>。</a:t>
            </a:r>
          </a:p>
          <a:p>
            <a:pPr fontAlgn="auto">
              <a:spcBef>
                <a:spcPts val="600"/>
              </a:spcBef>
              <a:spcAft>
                <a:spcPts val="0"/>
              </a:spcAft>
            </a:pPr>
            <a:r>
              <a:rPr lang="zh-TW" altLang="en-US" b="0" dirty="0">
                <a:solidFill>
                  <a:prstClr val="black"/>
                </a:solidFill>
              </a:rPr>
              <a:t>周正山還說，金管會自</a:t>
            </a:r>
            <a:r>
              <a:rPr lang="en-US" altLang="zh-TW" b="0" dirty="0">
                <a:solidFill>
                  <a:prstClr val="black"/>
                </a:solidFill>
              </a:rPr>
              <a:t>2020</a:t>
            </a:r>
            <a:r>
              <a:rPr lang="zh-TW" altLang="en-US" b="0" dirty="0">
                <a:solidFill>
                  <a:prstClr val="black"/>
                </a:solidFill>
              </a:rPr>
              <a:t>年</a:t>
            </a:r>
            <a:r>
              <a:rPr lang="en-US" altLang="zh-TW" b="0" dirty="0">
                <a:solidFill>
                  <a:prstClr val="black"/>
                </a:solidFill>
              </a:rPr>
              <a:t>9</a:t>
            </a:r>
            <a:r>
              <a:rPr lang="zh-TW" altLang="en-US" b="0" dirty="0">
                <a:solidFill>
                  <a:prstClr val="black"/>
                </a:solidFill>
              </a:rPr>
              <a:t>月起推動「信託</a:t>
            </a:r>
            <a:r>
              <a:rPr lang="en-US" altLang="zh-TW" b="0" dirty="0">
                <a:solidFill>
                  <a:prstClr val="black"/>
                </a:solidFill>
              </a:rPr>
              <a:t>2.0</a:t>
            </a:r>
            <a:r>
              <a:rPr lang="zh-TW" altLang="en-US" b="0" dirty="0">
                <a:solidFill>
                  <a:prstClr val="black"/>
                </a:solidFill>
              </a:rPr>
              <a:t>計畫」，在銀行組織調整、信託法規與政策鬆綁、人才深耕培育及信託商品創新方面已有相當成果，也為我國信託業務順應高齡化潮流的長期發展方向奠定良好基礎。</a:t>
            </a:r>
          </a:p>
          <a:p>
            <a:pPr>
              <a:spcBef>
                <a:spcPts val="300"/>
              </a:spcBef>
            </a:pPr>
            <a:endParaRPr lang="zh-TW" altLang="en-US" b="0" dirty="0">
              <a:solidFill>
                <a:srgbClr val="272727"/>
              </a:solidFill>
            </a:endParaRPr>
          </a:p>
          <a:p>
            <a:pPr algn="l" fontAlgn="base">
              <a:spcBef>
                <a:spcPts val="300"/>
              </a:spcBef>
            </a:pPr>
            <a:endParaRPr lang="zh-TW" altLang="en-US" b="0" i="0" dirty="0">
              <a:solidFill>
                <a:srgbClr val="272727"/>
              </a:solidFill>
              <a:effectLst/>
              <a:latin typeface="system-ui"/>
            </a:endParaRPr>
          </a:p>
        </p:txBody>
      </p:sp>
      <p:sp>
        <p:nvSpPr>
          <p:cNvPr id="4" name="文字方塊 3">
            <a:extLst>
              <a:ext uri="{FF2B5EF4-FFF2-40B4-BE49-F238E27FC236}">
                <a16:creationId xmlns:a16="http://schemas.microsoft.com/office/drawing/2014/main" id="{E088C8EA-74CA-270A-5F6B-0894458E8EBB}"/>
              </a:ext>
            </a:extLst>
          </p:cNvPr>
          <p:cNvSpPr txBox="1"/>
          <p:nvPr/>
        </p:nvSpPr>
        <p:spPr>
          <a:xfrm>
            <a:off x="6048000" y="864001"/>
            <a:ext cx="5760000" cy="3322769"/>
          </a:xfrm>
          <a:prstGeom prst="rect">
            <a:avLst/>
          </a:prstGeom>
          <a:solidFill>
            <a:sysClr val="window" lastClr="FFFFFF"/>
          </a:solidFill>
          <a:ln w="12700" cap="flat" cmpd="sng" algn="ctr">
            <a:solidFill>
              <a:srgbClr val="CC99FF"/>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fontAlgn="auto">
              <a:spcBef>
                <a:spcPts val="600"/>
              </a:spcBef>
              <a:spcAft>
                <a:spcPts val="0"/>
              </a:spcAft>
            </a:pPr>
            <a:r>
              <a:rPr lang="zh-TW" altLang="en-US" b="0" dirty="0">
                <a:solidFill>
                  <a:prstClr val="black"/>
                </a:solidFill>
              </a:rPr>
              <a:t>他強調，</a:t>
            </a:r>
            <a:r>
              <a:rPr lang="zh-TW" altLang="en-US" dirty="0">
                <a:solidFill>
                  <a:srgbClr val="0070C0"/>
                </a:solidFill>
              </a:rPr>
              <a:t>「信託業務發展策略藍圖」是以「營造信託業與社會大眾互利雙贏的環境」為核心價值，主要有三大目標：創新、普惠、永續，且有六大策略：「創新信託服務、運用數位技術、培育具跨領域及整體規劃能力的信託人才、整合資源及深化跨業結盟、開發多元普惠的信託商品與精進友善服務、辦理評鑑獎勵績效優良的信託業與有功人員」，從去年</a:t>
            </a:r>
            <a:r>
              <a:rPr lang="en-US" altLang="zh-TW" dirty="0">
                <a:solidFill>
                  <a:srgbClr val="0070C0"/>
                </a:solidFill>
              </a:rPr>
              <a:t>1</a:t>
            </a:r>
            <a:r>
              <a:rPr lang="zh-TW" altLang="en-US" dirty="0">
                <a:solidFill>
                  <a:srgbClr val="0070C0"/>
                </a:solidFill>
              </a:rPr>
              <a:t>月</a:t>
            </a:r>
            <a:r>
              <a:rPr lang="en-US" altLang="zh-TW" dirty="0">
                <a:solidFill>
                  <a:srgbClr val="0070C0"/>
                </a:solidFill>
              </a:rPr>
              <a:t>1</a:t>
            </a:r>
            <a:r>
              <a:rPr lang="zh-TW" altLang="en-US" dirty="0">
                <a:solidFill>
                  <a:srgbClr val="0070C0"/>
                </a:solidFill>
              </a:rPr>
              <a:t>日起上路</a:t>
            </a:r>
            <a:r>
              <a:rPr lang="zh-TW" altLang="en-US" b="0" dirty="0">
                <a:solidFill>
                  <a:prstClr val="black"/>
                </a:solidFill>
              </a:rPr>
              <a:t>。</a:t>
            </a:r>
          </a:p>
          <a:p>
            <a:pPr fontAlgn="auto">
              <a:spcBef>
                <a:spcPts val="600"/>
              </a:spcBef>
              <a:spcAft>
                <a:spcPts val="0"/>
              </a:spcAft>
            </a:pPr>
            <a:r>
              <a:rPr lang="zh-TW" altLang="en-US" b="0" dirty="0">
                <a:solidFill>
                  <a:prstClr val="black"/>
                </a:solidFill>
              </a:rPr>
              <a:t>周正山認為，</a:t>
            </a:r>
            <a:r>
              <a:rPr lang="zh-TW" altLang="en-US" dirty="0">
                <a:solidFill>
                  <a:srgbClr val="0070C0"/>
                </a:solidFill>
              </a:rPr>
              <a:t>目前在創新信託服務上可看到業界發展出整合型信託、模組化契約、裁量權信託、家族信託、跨境資產管理等，在數位技術應用上也可透過大數據分析應用並結合智能化數位服務，應用數位技術處理訊息、分析數據、發掘問題</a:t>
            </a:r>
            <a:r>
              <a:rPr lang="zh-TW" altLang="en-US" b="0" dirty="0">
                <a:solidFill>
                  <a:prstClr val="black"/>
                </a:solidFill>
              </a:rPr>
              <a:t>。</a:t>
            </a:r>
            <a:endParaRPr lang="en-US" altLang="zh-TW" b="0" dirty="0">
              <a:solidFill>
                <a:prstClr val="black"/>
              </a:solidFill>
            </a:endParaRPr>
          </a:p>
          <a:p>
            <a:pPr algn="l" fontAlgn="base">
              <a:spcBef>
                <a:spcPts val="300"/>
              </a:spcBef>
            </a:pPr>
            <a:endParaRPr lang="zh-TW" altLang="en-US" b="0" i="0" dirty="0">
              <a:solidFill>
                <a:srgbClr val="272727"/>
              </a:solidFill>
              <a:effectLst/>
              <a:latin typeface="system-ui"/>
            </a:endParaRPr>
          </a:p>
        </p:txBody>
      </p:sp>
      <p:sp>
        <p:nvSpPr>
          <p:cNvPr id="11" name="矩形 10">
            <a:extLst>
              <a:ext uri="{FF2B5EF4-FFF2-40B4-BE49-F238E27FC236}">
                <a16:creationId xmlns:a16="http://schemas.microsoft.com/office/drawing/2014/main" id="{2AAE8606-BC46-43CD-CBFA-1D953F7FDFC4}"/>
              </a:ext>
            </a:extLst>
          </p:cNvPr>
          <p:cNvSpPr/>
          <p:nvPr/>
        </p:nvSpPr>
        <p:spPr>
          <a:xfrm>
            <a:off x="3974123" y="441729"/>
            <a:ext cx="1609736" cy="276999"/>
          </a:xfrm>
          <a:prstGeom prst="rect">
            <a:avLst/>
          </a:prstGeom>
        </p:spPr>
        <p:txBody>
          <a:bodyPr wrap="none">
            <a:spAutoFit/>
          </a:bodyPr>
          <a:lstStyle/>
          <a:p>
            <a:pPr fontAlgn="auto">
              <a:spcBef>
                <a:spcPts val="0"/>
              </a:spcBef>
              <a:spcAft>
                <a:spcPts val="0"/>
              </a:spcAft>
            </a:pPr>
            <a:r>
              <a:rPr lang="en-US" altLang="zh-TW" sz="1200" b="0" dirty="0">
                <a:solidFill>
                  <a:prstClr val="black"/>
                </a:solidFill>
                <a:latin typeface="Arial" panose="020B0604020202020204" pitchFamily="34" charset="0"/>
                <a:ea typeface="微軟正黑體" panose="020B0604030504040204" pitchFamily="34" charset="-120"/>
              </a:rPr>
              <a:t>2026/03/20 </a:t>
            </a:r>
            <a:r>
              <a:rPr lang="zh-TW" altLang="en-US" sz="1200" b="0" dirty="0">
                <a:solidFill>
                  <a:prstClr val="black"/>
                </a:solidFill>
                <a:latin typeface="Arial" panose="020B0604020202020204" pitchFamily="34" charset="0"/>
                <a:ea typeface="微軟正黑體" panose="020B0604030504040204" pitchFamily="34" charset="-120"/>
              </a:rPr>
              <a:t>工商時報</a:t>
            </a:r>
          </a:p>
        </p:txBody>
      </p:sp>
      <p:sp>
        <p:nvSpPr>
          <p:cNvPr id="10" name="文字方塊 9">
            <a:extLst>
              <a:ext uri="{FF2B5EF4-FFF2-40B4-BE49-F238E27FC236}">
                <a16:creationId xmlns:a16="http://schemas.microsoft.com/office/drawing/2014/main" id="{14B3FA01-6C00-6388-6D82-ED6A107C6049}"/>
              </a:ext>
            </a:extLst>
          </p:cNvPr>
          <p:cNvSpPr txBox="1"/>
          <p:nvPr/>
        </p:nvSpPr>
        <p:spPr>
          <a:xfrm>
            <a:off x="6045114" y="4237351"/>
            <a:ext cx="5765772" cy="360000"/>
          </a:xfrm>
          <a:prstGeom prst="rect">
            <a:avLst/>
          </a:prstGeom>
          <a:solidFill>
            <a:srgbClr val="595959"/>
          </a:solidFill>
          <a:ln w="12700" cap="flat" cmpd="sng" algn="ctr">
            <a:noFill/>
            <a:prstDash val="solid"/>
            <a:miter lim="800000"/>
          </a:ln>
          <a:effectLst/>
        </p:spPr>
        <p:txBody>
          <a:bodyPr rtlCol="0" anchor="ct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i="0" u="none" strike="noStrike" kern="0" cap="none" spc="0" normalizeH="0" baseline="0">
                <a:ln>
                  <a:noFill/>
                </a:ln>
                <a:solidFill>
                  <a:prstClr val="white"/>
                </a:solidFill>
                <a:effectLst/>
                <a:uLnTx/>
                <a:uFillTx/>
                <a:latin typeface="微軟正黑體" panose="020B0604030504040204" pitchFamily="34" charset="-120"/>
                <a:ea typeface="微軟正黑體" panose="020B0604030504040204" pitchFamily="34" charset="-120"/>
              </a:defRPr>
            </a:lvl1pPr>
            <a:lvl2pPr>
              <a:defRPr>
                <a:solidFill>
                  <a:schemeClr val="tx1"/>
                </a:solidFill>
                <a:latin typeface="Arial" charset="0"/>
                <a:ea typeface="华文楷体" pitchFamily="2" charset="-122"/>
              </a:defRPr>
            </a:lvl2pPr>
            <a:lvl3pPr>
              <a:defRPr>
                <a:solidFill>
                  <a:schemeClr val="tx1"/>
                </a:solidFill>
                <a:latin typeface="Arial" charset="0"/>
                <a:ea typeface="华文楷体" pitchFamily="2" charset="-122"/>
              </a:defRPr>
            </a:lvl3pPr>
            <a:lvl4pPr>
              <a:defRPr>
                <a:solidFill>
                  <a:schemeClr val="tx1"/>
                </a:solidFill>
                <a:latin typeface="Arial" charset="0"/>
                <a:ea typeface="华文楷体" pitchFamily="2" charset="-122"/>
              </a:defRPr>
            </a:lvl4pPr>
            <a:lvl5pPr>
              <a:defRPr>
                <a:solidFill>
                  <a:schemeClr val="tx1"/>
                </a:solidFill>
                <a:latin typeface="Arial" charset="0"/>
                <a:ea typeface="华文楷体" pitchFamily="2" charset="-122"/>
              </a:defRPr>
            </a:lvl5pPr>
            <a:lvl6pPr>
              <a:defRPr>
                <a:solidFill>
                  <a:schemeClr val="tx1"/>
                </a:solidFill>
                <a:latin typeface="Arial" charset="0"/>
                <a:ea typeface="华文楷体" pitchFamily="2" charset="-122"/>
              </a:defRPr>
            </a:lvl6pPr>
            <a:lvl7pPr>
              <a:defRPr>
                <a:solidFill>
                  <a:schemeClr val="tx1"/>
                </a:solidFill>
                <a:latin typeface="Arial" charset="0"/>
                <a:ea typeface="华文楷体" pitchFamily="2" charset="-122"/>
              </a:defRPr>
            </a:lvl7pPr>
            <a:lvl8pPr>
              <a:defRPr>
                <a:solidFill>
                  <a:schemeClr val="tx1"/>
                </a:solidFill>
                <a:latin typeface="Arial" charset="0"/>
                <a:ea typeface="华文楷体" pitchFamily="2" charset="-122"/>
              </a:defRPr>
            </a:lvl8pPr>
            <a:lvl9pPr>
              <a:defRPr>
                <a:solidFill>
                  <a:schemeClr val="tx1"/>
                </a:solidFill>
                <a:latin typeface="Arial" charset="0"/>
                <a:ea typeface="华文楷体" pitchFamily="2" charset="-122"/>
              </a:defRPr>
            </a:lvl9pPr>
          </a:lstStyle>
          <a:p>
            <a:r>
              <a:rPr lang="zh-TW" altLang="en-US" sz="1400" dirty="0"/>
              <a:t>近五年安養信託辦理情形</a:t>
            </a:r>
            <a:endParaRPr lang="en-US" altLang="zh-TW" sz="1400" dirty="0"/>
          </a:p>
        </p:txBody>
      </p:sp>
      <p:sp>
        <p:nvSpPr>
          <p:cNvPr id="23" name="文字方塊 22">
            <a:extLst>
              <a:ext uri="{FF2B5EF4-FFF2-40B4-BE49-F238E27FC236}">
                <a16:creationId xmlns:a16="http://schemas.microsoft.com/office/drawing/2014/main" id="{56AF467A-3C0A-96EC-A4DB-7E547CF4CD35}"/>
              </a:ext>
            </a:extLst>
          </p:cNvPr>
          <p:cNvSpPr txBox="1"/>
          <p:nvPr/>
        </p:nvSpPr>
        <p:spPr>
          <a:xfrm>
            <a:off x="10173762" y="4366519"/>
            <a:ext cx="2002457" cy="230832"/>
          </a:xfrm>
          <a:prstGeom prst="rect">
            <a:avLst/>
          </a:prstGeom>
          <a:noFill/>
        </p:spPr>
        <p:txBody>
          <a:bodyPr wrap="square">
            <a:spAutoFit/>
          </a:bodyPr>
          <a:lstStyle/>
          <a:p>
            <a:r>
              <a:rPr lang="zh-TW" altLang="en-US" sz="900" dirty="0">
                <a:solidFill>
                  <a:schemeClr val="bg1"/>
                </a:solidFill>
                <a:latin typeface="微軟正黑體" panose="020B0604030504040204" pitchFamily="34" charset="-120"/>
                <a:ea typeface="微軟正黑體" panose="020B0604030504040204" pitchFamily="34" charset="-120"/>
              </a:rPr>
              <a:t>資料來源：金管會、新聞整理</a:t>
            </a:r>
          </a:p>
        </p:txBody>
      </p:sp>
      <p:graphicFrame>
        <p:nvGraphicFramePr>
          <p:cNvPr id="12" name="圖表 11">
            <a:extLst>
              <a:ext uri="{FF2B5EF4-FFF2-40B4-BE49-F238E27FC236}">
                <a16:creationId xmlns:a16="http://schemas.microsoft.com/office/drawing/2014/main" id="{52CED0F9-B71D-3F3F-B79F-104329082868}"/>
              </a:ext>
            </a:extLst>
          </p:cNvPr>
          <p:cNvGraphicFramePr>
            <a:graphicFrameLocks/>
          </p:cNvGraphicFramePr>
          <p:nvPr>
            <p:extLst>
              <p:ext uri="{D42A27DB-BD31-4B8C-83A1-F6EECF244321}">
                <p14:modId xmlns:p14="http://schemas.microsoft.com/office/powerpoint/2010/main" val="780583710"/>
              </p:ext>
            </p:extLst>
          </p:nvPr>
        </p:nvGraphicFramePr>
        <p:xfrm>
          <a:off x="6039341" y="4923693"/>
          <a:ext cx="2834251" cy="14172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圖表 12">
            <a:extLst>
              <a:ext uri="{FF2B5EF4-FFF2-40B4-BE49-F238E27FC236}">
                <a16:creationId xmlns:a16="http://schemas.microsoft.com/office/drawing/2014/main" id="{6B6A822D-C8B0-176E-C37C-8CBC0A751910}"/>
              </a:ext>
            </a:extLst>
          </p:cNvPr>
          <p:cNvGraphicFramePr>
            <a:graphicFrameLocks/>
          </p:cNvGraphicFramePr>
          <p:nvPr>
            <p:extLst>
              <p:ext uri="{D42A27DB-BD31-4B8C-83A1-F6EECF244321}">
                <p14:modId xmlns:p14="http://schemas.microsoft.com/office/powerpoint/2010/main" val="3368372761"/>
              </p:ext>
            </p:extLst>
          </p:nvPr>
        </p:nvGraphicFramePr>
        <p:xfrm>
          <a:off x="8970862" y="4922046"/>
          <a:ext cx="2834251" cy="1418930"/>
        </p:xfrm>
        <a:graphic>
          <a:graphicData uri="http://schemas.openxmlformats.org/drawingml/2006/chart">
            <c:chart xmlns:c="http://schemas.openxmlformats.org/drawingml/2006/chart" xmlns:r="http://schemas.openxmlformats.org/officeDocument/2006/relationships" r:id="rId4"/>
          </a:graphicData>
        </a:graphic>
      </p:graphicFrame>
      <p:sp>
        <p:nvSpPr>
          <p:cNvPr id="14" name="文字方塊 13">
            <a:extLst>
              <a:ext uri="{FF2B5EF4-FFF2-40B4-BE49-F238E27FC236}">
                <a16:creationId xmlns:a16="http://schemas.microsoft.com/office/drawing/2014/main" id="{F3A33601-E404-FB27-962D-A75B2214EA20}"/>
              </a:ext>
            </a:extLst>
          </p:cNvPr>
          <p:cNvSpPr txBox="1"/>
          <p:nvPr/>
        </p:nvSpPr>
        <p:spPr>
          <a:xfrm>
            <a:off x="6039341" y="4633864"/>
            <a:ext cx="2834251" cy="260046"/>
          </a:xfrm>
          <a:prstGeom prst="rect">
            <a:avLst/>
          </a:prstGeom>
          <a:solidFill>
            <a:schemeClr val="accent4">
              <a:lumMod val="20000"/>
              <a:lumOff val="80000"/>
            </a:schemeClr>
          </a:solidFill>
          <a:ln w="12700" cap="flat" cmpd="sng" algn="ctr">
            <a:solidFill>
              <a:schemeClr val="accent4">
                <a:lumMod val="20000"/>
                <a:lumOff val="80000"/>
              </a:schemeClr>
            </a:solidFill>
            <a:prstDash val="solid"/>
            <a:miter lim="800000"/>
          </a:ln>
          <a:effectLst/>
        </p:spPr>
        <p:txBody>
          <a:bodyPr rtlCol="0" anchor="ct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i="0" u="none" strike="noStrike" kern="0" cap="none" spc="0" normalizeH="0" baseline="0">
                <a:ln>
                  <a:noFill/>
                </a:ln>
                <a:solidFill>
                  <a:prstClr val="white"/>
                </a:solidFill>
                <a:effectLst/>
                <a:uLnTx/>
                <a:uFillTx/>
                <a:latin typeface="微軟正黑體" panose="020B0604030504040204" pitchFamily="34" charset="-120"/>
                <a:ea typeface="微軟正黑體" panose="020B0604030504040204" pitchFamily="34" charset="-120"/>
              </a:defRPr>
            </a:lvl1pPr>
            <a:lvl2pPr>
              <a:defRPr>
                <a:solidFill>
                  <a:schemeClr val="tx1"/>
                </a:solidFill>
                <a:latin typeface="Arial" charset="0"/>
                <a:ea typeface="华文楷体" pitchFamily="2" charset="-122"/>
              </a:defRPr>
            </a:lvl2pPr>
            <a:lvl3pPr>
              <a:defRPr>
                <a:solidFill>
                  <a:schemeClr val="tx1"/>
                </a:solidFill>
                <a:latin typeface="Arial" charset="0"/>
                <a:ea typeface="华文楷体" pitchFamily="2" charset="-122"/>
              </a:defRPr>
            </a:lvl3pPr>
            <a:lvl4pPr>
              <a:defRPr>
                <a:solidFill>
                  <a:schemeClr val="tx1"/>
                </a:solidFill>
                <a:latin typeface="Arial" charset="0"/>
                <a:ea typeface="华文楷体" pitchFamily="2" charset="-122"/>
              </a:defRPr>
            </a:lvl4pPr>
            <a:lvl5pPr>
              <a:defRPr>
                <a:solidFill>
                  <a:schemeClr val="tx1"/>
                </a:solidFill>
                <a:latin typeface="Arial" charset="0"/>
                <a:ea typeface="华文楷体" pitchFamily="2" charset="-122"/>
              </a:defRPr>
            </a:lvl5pPr>
            <a:lvl6pPr>
              <a:defRPr>
                <a:solidFill>
                  <a:schemeClr val="tx1"/>
                </a:solidFill>
                <a:latin typeface="Arial" charset="0"/>
                <a:ea typeface="华文楷体" pitchFamily="2" charset="-122"/>
              </a:defRPr>
            </a:lvl6pPr>
            <a:lvl7pPr>
              <a:defRPr>
                <a:solidFill>
                  <a:schemeClr val="tx1"/>
                </a:solidFill>
                <a:latin typeface="Arial" charset="0"/>
                <a:ea typeface="华文楷体" pitchFamily="2" charset="-122"/>
              </a:defRPr>
            </a:lvl7pPr>
            <a:lvl8pPr>
              <a:defRPr>
                <a:solidFill>
                  <a:schemeClr val="tx1"/>
                </a:solidFill>
                <a:latin typeface="Arial" charset="0"/>
                <a:ea typeface="华文楷体" pitchFamily="2" charset="-122"/>
              </a:defRPr>
            </a:lvl8pPr>
            <a:lvl9pPr>
              <a:defRPr>
                <a:solidFill>
                  <a:schemeClr val="tx1"/>
                </a:solidFill>
                <a:latin typeface="Arial" charset="0"/>
                <a:ea typeface="华文楷体" pitchFamily="2" charset="-122"/>
              </a:defRPr>
            </a:lvl9pPr>
          </a:lstStyle>
          <a:p>
            <a:r>
              <a:rPr lang="zh-TW" altLang="en-US" dirty="0">
                <a:solidFill>
                  <a:schemeClr val="accent4"/>
                </a:solidFill>
              </a:rPr>
              <a:t>累計受益人數</a:t>
            </a:r>
            <a:r>
              <a:rPr lang="en-US" altLang="zh-TW" dirty="0">
                <a:solidFill>
                  <a:schemeClr val="accent4"/>
                </a:solidFill>
              </a:rPr>
              <a:t>(</a:t>
            </a:r>
            <a:r>
              <a:rPr lang="zh-TW" altLang="en-US" dirty="0">
                <a:solidFill>
                  <a:schemeClr val="accent4"/>
                </a:solidFill>
              </a:rPr>
              <a:t>人</a:t>
            </a:r>
            <a:r>
              <a:rPr lang="en-US" altLang="zh-TW" dirty="0">
                <a:solidFill>
                  <a:schemeClr val="accent4"/>
                </a:solidFill>
              </a:rPr>
              <a:t>)</a:t>
            </a:r>
          </a:p>
        </p:txBody>
      </p:sp>
      <p:sp>
        <p:nvSpPr>
          <p:cNvPr id="15" name="文字方塊 14">
            <a:extLst>
              <a:ext uri="{FF2B5EF4-FFF2-40B4-BE49-F238E27FC236}">
                <a16:creationId xmlns:a16="http://schemas.microsoft.com/office/drawing/2014/main" id="{D4D86260-15C5-D7DE-B54E-C74B9B766030}"/>
              </a:ext>
            </a:extLst>
          </p:cNvPr>
          <p:cNvSpPr txBox="1"/>
          <p:nvPr/>
        </p:nvSpPr>
        <p:spPr>
          <a:xfrm>
            <a:off x="8970862" y="4633009"/>
            <a:ext cx="2834251" cy="260046"/>
          </a:xfrm>
          <a:prstGeom prst="rect">
            <a:avLst/>
          </a:prstGeom>
          <a:solidFill>
            <a:schemeClr val="accent4">
              <a:lumMod val="20000"/>
              <a:lumOff val="80000"/>
            </a:schemeClr>
          </a:solidFill>
          <a:ln w="12700" cap="flat" cmpd="sng" algn="ctr">
            <a:solidFill>
              <a:schemeClr val="accent4">
                <a:lumMod val="20000"/>
                <a:lumOff val="80000"/>
              </a:schemeClr>
            </a:solidFill>
            <a:prstDash val="solid"/>
            <a:miter lim="800000"/>
          </a:ln>
          <a:effectLst/>
        </p:spPr>
        <p:txBody>
          <a:bodyPr rtlCol="0" anchor="ct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i="0" u="none" strike="noStrike" kern="0" cap="none" spc="0" normalizeH="0" baseline="0">
                <a:ln>
                  <a:noFill/>
                </a:ln>
                <a:solidFill>
                  <a:prstClr val="white"/>
                </a:solidFill>
                <a:effectLst/>
                <a:uLnTx/>
                <a:uFillTx/>
                <a:latin typeface="微軟正黑體" panose="020B0604030504040204" pitchFamily="34" charset="-120"/>
                <a:ea typeface="微軟正黑體" panose="020B0604030504040204" pitchFamily="34" charset="-120"/>
              </a:defRPr>
            </a:lvl1pPr>
            <a:lvl2pPr>
              <a:defRPr>
                <a:solidFill>
                  <a:schemeClr val="tx1"/>
                </a:solidFill>
                <a:latin typeface="Arial" charset="0"/>
                <a:ea typeface="华文楷体" pitchFamily="2" charset="-122"/>
              </a:defRPr>
            </a:lvl2pPr>
            <a:lvl3pPr>
              <a:defRPr>
                <a:solidFill>
                  <a:schemeClr val="tx1"/>
                </a:solidFill>
                <a:latin typeface="Arial" charset="0"/>
                <a:ea typeface="华文楷体" pitchFamily="2" charset="-122"/>
              </a:defRPr>
            </a:lvl3pPr>
            <a:lvl4pPr>
              <a:defRPr>
                <a:solidFill>
                  <a:schemeClr val="tx1"/>
                </a:solidFill>
                <a:latin typeface="Arial" charset="0"/>
                <a:ea typeface="华文楷体" pitchFamily="2" charset="-122"/>
              </a:defRPr>
            </a:lvl4pPr>
            <a:lvl5pPr>
              <a:defRPr>
                <a:solidFill>
                  <a:schemeClr val="tx1"/>
                </a:solidFill>
                <a:latin typeface="Arial" charset="0"/>
                <a:ea typeface="华文楷体" pitchFamily="2" charset="-122"/>
              </a:defRPr>
            </a:lvl5pPr>
            <a:lvl6pPr>
              <a:defRPr>
                <a:solidFill>
                  <a:schemeClr val="tx1"/>
                </a:solidFill>
                <a:latin typeface="Arial" charset="0"/>
                <a:ea typeface="华文楷体" pitchFamily="2" charset="-122"/>
              </a:defRPr>
            </a:lvl6pPr>
            <a:lvl7pPr>
              <a:defRPr>
                <a:solidFill>
                  <a:schemeClr val="tx1"/>
                </a:solidFill>
                <a:latin typeface="Arial" charset="0"/>
                <a:ea typeface="华文楷体" pitchFamily="2" charset="-122"/>
              </a:defRPr>
            </a:lvl7pPr>
            <a:lvl8pPr>
              <a:defRPr>
                <a:solidFill>
                  <a:schemeClr val="tx1"/>
                </a:solidFill>
                <a:latin typeface="Arial" charset="0"/>
                <a:ea typeface="华文楷体" pitchFamily="2" charset="-122"/>
              </a:defRPr>
            </a:lvl8pPr>
            <a:lvl9pPr>
              <a:defRPr>
                <a:solidFill>
                  <a:schemeClr val="tx1"/>
                </a:solidFill>
                <a:latin typeface="Arial" charset="0"/>
                <a:ea typeface="华文楷体" pitchFamily="2" charset="-122"/>
              </a:defRPr>
            </a:lvl9pPr>
          </a:lstStyle>
          <a:p>
            <a:r>
              <a:rPr lang="zh-TW" altLang="en-US" dirty="0">
                <a:solidFill>
                  <a:schemeClr val="accent4"/>
                </a:solidFill>
              </a:rPr>
              <a:t>累計信託財產本金</a:t>
            </a:r>
            <a:r>
              <a:rPr lang="en-US" altLang="zh-TW" dirty="0">
                <a:solidFill>
                  <a:schemeClr val="accent4"/>
                </a:solidFill>
              </a:rPr>
              <a:t>(</a:t>
            </a:r>
            <a:r>
              <a:rPr lang="zh-TW" altLang="en-US" dirty="0">
                <a:solidFill>
                  <a:schemeClr val="accent4"/>
                </a:solidFill>
              </a:rPr>
              <a:t>億元</a:t>
            </a:r>
            <a:r>
              <a:rPr lang="en-US" altLang="zh-TW" dirty="0">
                <a:solidFill>
                  <a:schemeClr val="accent4"/>
                </a:solidFill>
              </a:rPr>
              <a:t>)</a:t>
            </a:r>
          </a:p>
        </p:txBody>
      </p:sp>
    </p:spTree>
    <p:extLst>
      <p:ext uri="{BB962C8B-B14F-4D97-AF65-F5344CB8AC3E}">
        <p14:creationId xmlns:p14="http://schemas.microsoft.com/office/powerpoint/2010/main" val="121912858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71C2270-DA21-8E2C-30F8-F86C2B0401F5}"/>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71EAD266-F314-FA1B-03F0-33DDC4E4B59C}"/>
              </a:ext>
            </a:extLst>
          </p:cNvPr>
          <p:cNvSpPr txBox="1"/>
          <p:nvPr/>
        </p:nvSpPr>
        <p:spPr>
          <a:xfrm>
            <a:off x="311920" y="314805"/>
            <a:ext cx="5589193" cy="396919"/>
          </a:xfrm>
          <a:prstGeom prst="rect">
            <a:avLst/>
          </a:prstGeom>
          <a:solidFill>
            <a:schemeClr val="bg1">
              <a:lumMod val="85000"/>
            </a:schemeClr>
          </a:solidFill>
          <a:ln w="6350" cap="flat" cmpd="sng" algn="ctr">
            <a:solidFill>
              <a:schemeClr val="bg1">
                <a:lumMod val="85000"/>
              </a:schemeClr>
            </a:solidFill>
            <a:prstDash val="solid"/>
            <a:miter lim="800000"/>
          </a:ln>
          <a:effectLst/>
        </p:spPr>
        <p:txBody>
          <a:bodyPr wrap="square">
            <a:noAutofit/>
          </a:bodyPr>
          <a:lstStyle>
            <a:defPPr>
              <a:defRPr lang="en-US"/>
            </a:defPPr>
            <a:lvl1pPr marR="0" lvl="0" indent="0">
              <a:lnSpc>
                <a:spcPct val="100000"/>
              </a:lnSpc>
              <a:spcBef>
                <a:spcPts val="0"/>
              </a:spcBef>
              <a:spcAft>
                <a:spcPts val="0"/>
              </a:spcAft>
              <a:buClrTx/>
              <a:buSzTx/>
              <a:buFontTx/>
              <a:buNone/>
              <a:tabLst/>
              <a:defRPr kumimoji="0" sz="2000" i="0" u="none" strike="noStrike" cap="none" spc="0" normalizeH="0" baseline="0">
                <a:ln>
                  <a:noFill/>
                </a:ln>
                <a:solidFill>
                  <a:srgbClr val="000000"/>
                </a:solidFill>
                <a:effectLst/>
                <a:uLnTx/>
                <a:uFillTx/>
                <a:latin typeface="微軟正黑體" panose="020B0604030504040204" pitchFamily="34" charset="-120"/>
                <a:ea typeface="微軟正黑體" panose="020B0604030504040204" pitchFamily="34" charset="-120"/>
              </a:defRPr>
            </a:lvl1pPr>
          </a:lstStyle>
          <a:p>
            <a:r>
              <a:rPr lang="zh-TW" altLang="en-US" dirty="0"/>
              <a:t>國銀中小企業放款續增　五大銀行新增房貸探低</a:t>
            </a:r>
          </a:p>
        </p:txBody>
      </p:sp>
      <p:sp>
        <p:nvSpPr>
          <p:cNvPr id="2" name="文字方塊 1">
            <a:extLst>
              <a:ext uri="{FF2B5EF4-FFF2-40B4-BE49-F238E27FC236}">
                <a16:creationId xmlns:a16="http://schemas.microsoft.com/office/drawing/2014/main" id="{E48DC7D3-F7E3-6661-7BD5-D9C3D4786D55}"/>
              </a:ext>
            </a:extLst>
          </p:cNvPr>
          <p:cNvSpPr txBox="1"/>
          <p:nvPr/>
        </p:nvSpPr>
        <p:spPr>
          <a:xfrm>
            <a:off x="141113" y="864000"/>
            <a:ext cx="5760000" cy="5542670"/>
          </a:xfrm>
          <a:prstGeom prst="rect">
            <a:avLst/>
          </a:prstGeom>
          <a:solidFill>
            <a:sysClr val="window" lastClr="FFFFFF"/>
          </a:solidFill>
          <a:ln w="12700" cap="flat" cmpd="sng" algn="ctr">
            <a:solidFill>
              <a:schemeClr val="tx1">
                <a:lumMod val="50000"/>
                <a:lumOff val="50000"/>
              </a:schemeClr>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fontAlgn="auto">
              <a:lnSpc>
                <a:spcPts val="2000"/>
              </a:lnSpc>
              <a:spcBef>
                <a:spcPts val="300"/>
              </a:spcBef>
              <a:spcAft>
                <a:spcPts val="0"/>
              </a:spcAft>
            </a:pPr>
            <a:r>
              <a:rPr lang="zh-TW" altLang="en-US" dirty="0">
                <a:solidFill>
                  <a:srgbClr val="C00000"/>
                </a:solidFill>
              </a:rPr>
              <a:t>國內銀行放款動能分化，企業融資需求走升，但房貸市場轉弱</a:t>
            </a:r>
            <a:r>
              <a:rPr lang="zh-TW" altLang="en-US" b="0" dirty="0">
                <a:solidFill>
                  <a:prstClr val="black"/>
                </a:solidFill>
              </a:rPr>
              <a:t>。根據金管</a:t>
            </a:r>
            <a:r>
              <a:rPr lang="zh-TW" altLang="en-US" b="0" dirty="0">
                <a:solidFill>
                  <a:schemeClr val="tx1"/>
                </a:solidFill>
              </a:rPr>
              <a:t>會統計，</a:t>
            </a:r>
            <a:r>
              <a:rPr lang="zh-TW" altLang="en-US" dirty="0">
                <a:solidFill>
                  <a:srgbClr val="C00000"/>
                </a:solidFill>
              </a:rPr>
              <a:t>今</a:t>
            </a:r>
            <a:r>
              <a:rPr lang="en-US" altLang="zh-TW" dirty="0">
                <a:solidFill>
                  <a:srgbClr val="C00000"/>
                </a:solidFill>
              </a:rPr>
              <a:t>(2026)</a:t>
            </a:r>
            <a:r>
              <a:rPr lang="zh-TW" altLang="en-US" dirty="0">
                <a:solidFill>
                  <a:srgbClr val="C00000"/>
                </a:solidFill>
              </a:rPr>
              <a:t>年</a:t>
            </a:r>
            <a:r>
              <a:rPr lang="en-US" altLang="zh-TW" dirty="0">
                <a:solidFill>
                  <a:srgbClr val="C00000"/>
                </a:solidFill>
              </a:rPr>
              <a:t>1</a:t>
            </a:r>
            <a:r>
              <a:rPr lang="zh-TW" altLang="en-US" dirty="0">
                <a:solidFill>
                  <a:srgbClr val="C00000"/>
                </a:solidFill>
              </a:rPr>
              <a:t>月底本國銀行對中小企業放款餘額達</a:t>
            </a:r>
            <a:r>
              <a:rPr lang="en-US" altLang="zh-TW" dirty="0">
                <a:solidFill>
                  <a:srgbClr val="C00000"/>
                </a:solidFill>
              </a:rPr>
              <a:t>10</a:t>
            </a:r>
            <a:r>
              <a:rPr lang="zh-TW" altLang="en-US" dirty="0">
                <a:solidFill>
                  <a:srgbClr val="C00000"/>
                </a:solidFill>
              </a:rPr>
              <a:t>兆</a:t>
            </a:r>
            <a:r>
              <a:rPr lang="en-US" altLang="zh-TW" dirty="0">
                <a:solidFill>
                  <a:srgbClr val="C00000"/>
                </a:solidFill>
              </a:rPr>
              <a:t>9,160</a:t>
            </a:r>
            <a:r>
              <a:rPr lang="zh-TW" altLang="en-US" dirty="0">
                <a:solidFill>
                  <a:srgbClr val="C00000"/>
                </a:solidFill>
              </a:rPr>
              <a:t>億元，單月增加</a:t>
            </a:r>
            <a:r>
              <a:rPr lang="en-US" altLang="zh-TW" dirty="0">
                <a:solidFill>
                  <a:srgbClr val="C00000"/>
                </a:solidFill>
              </a:rPr>
              <a:t>276</a:t>
            </a:r>
            <a:r>
              <a:rPr lang="zh-TW" altLang="en-US" dirty="0">
                <a:solidFill>
                  <a:srgbClr val="C00000"/>
                </a:solidFill>
              </a:rPr>
              <a:t>億元、創歷年同期第</a:t>
            </a:r>
            <a:r>
              <a:rPr lang="en-US" altLang="zh-TW" dirty="0">
                <a:solidFill>
                  <a:srgbClr val="C00000"/>
                </a:solidFill>
              </a:rPr>
              <a:t>3</a:t>
            </a:r>
            <a:r>
              <a:rPr lang="zh-TW" altLang="en-US" dirty="0">
                <a:solidFill>
                  <a:srgbClr val="C00000"/>
                </a:solidFill>
              </a:rPr>
              <a:t>高，</a:t>
            </a:r>
            <a:r>
              <a:rPr lang="zh-TW" altLang="en-US" b="0" dirty="0">
                <a:solidFill>
                  <a:schemeClr val="tx1"/>
                </a:solidFill>
              </a:rPr>
              <a:t>相關資金多用於購置不動產、動產融資及營運周轉，帶動銀行授信規模擴大；同時，中央銀行資料顯示，</a:t>
            </a:r>
            <a:r>
              <a:rPr lang="en-US" altLang="zh-TW" b="0" dirty="0">
                <a:solidFill>
                  <a:schemeClr val="tx1"/>
                </a:solidFill>
              </a:rPr>
              <a:t>2</a:t>
            </a:r>
            <a:r>
              <a:rPr lang="zh-TW" altLang="en-US" b="0" dirty="0">
                <a:solidFill>
                  <a:schemeClr val="tx1"/>
                </a:solidFill>
              </a:rPr>
              <a:t>月五大銀行新承做房貸金額降至</a:t>
            </a:r>
            <a:r>
              <a:rPr lang="en-US" altLang="zh-TW" b="0" dirty="0">
                <a:solidFill>
                  <a:schemeClr val="tx1"/>
                </a:solidFill>
              </a:rPr>
              <a:t>367.64</a:t>
            </a:r>
            <a:r>
              <a:rPr lang="zh-TW" altLang="en-US" b="0" dirty="0">
                <a:solidFill>
                  <a:schemeClr val="tx1"/>
                </a:solidFill>
              </a:rPr>
              <a:t>億元，較前</a:t>
            </a:r>
            <a:r>
              <a:rPr lang="en-US" altLang="zh-TW" b="0" dirty="0">
                <a:solidFill>
                  <a:schemeClr val="tx1"/>
                </a:solidFill>
              </a:rPr>
              <a:t>(1)</a:t>
            </a:r>
            <a:r>
              <a:rPr lang="zh-TW" altLang="en-US" b="0" dirty="0">
                <a:solidFill>
                  <a:schemeClr val="tx1"/>
                </a:solidFill>
              </a:rPr>
              <a:t>月大減</a:t>
            </a:r>
            <a:r>
              <a:rPr lang="en-US" altLang="zh-TW" b="0" dirty="0">
                <a:solidFill>
                  <a:schemeClr val="tx1"/>
                </a:solidFill>
              </a:rPr>
              <a:t>200.02</a:t>
            </a:r>
            <a:r>
              <a:rPr lang="zh-TW" altLang="en-US" b="0" dirty="0">
                <a:solidFill>
                  <a:schemeClr val="tx1"/>
                </a:solidFill>
              </a:rPr>
              <a:t>億元，探</a:t>
            </a:r>
            <a:r>
              <a:rPr lang="en-US" altLang="zh-TW" b="0" dirty="0">
                <a:solidFill>
                  <a:schemeClr val="tx1"/>
                </a:solidFill>
              </a:rPr>
              <a:t>2019</a:t>
            </a:r>
            <a:r>
              <a:rPr lang="zh-TW" altLang="en-US" b="0" dirty="0">
                <a:solidFill>
                  <a:schemeClr val="tx1"/>
                </a:solidFill>
              </a:rPr>
              <a:t>年</a:t>
            </a:r>
            <a:r>
              <a:rPr lang="en-US" altLang="zh-TW" b="0" dirty="0">
                <a:solidFill>
                  <a:schemeClr val="tx1"/>
                </a:solidFill>
              </a:rPr>
              <a:t>3</a:t>
            </a:r>
            <a:r>
              <a:rPr lang="zh-TW" altLang="en-US" b="0" dirty="0">
                <a:solidFill>
                  <a:schemeClr val="tx1"/>
                </a:solidFill>
              </a:rPr>
              <a:t>月以來</a:t>
            </a:r>
            <a:r>
              <a:rPr lang="en-US" altLang="zh-TW" b="0" dirty="0">
                <a:solidFill>
                  <a:schemeClr val="tx1"/>
                </a:solidFill>
              </a:rPr>
              <a:t>7</a:t>
            </a:r>
            <a:r>
              <a:rPr lang="zh-TW" altLang="en-US" b="0" dirty="0">
                <a:solidFill>
                  <a:schemeClr val="tx1"/>
                </a:solidFill>
              </a:rPr>
              <a:t>年新低</a:t>
            </a:r>
            <a:r>
              <a:rPr lang="zh-TW" altLang="en-US" b="0" dirty="0">
                <a:solidFill>
                  <a:prstClr val="black"/>
                </a:solidFill>
              </a:rPr>
              <a:t>。</a:t>
            </a:r>
          </a:p>
          <a:p>
            <a:pPr fontAlgn="auto">
              <a:lnSpc>
                <a:spcPts val="2000"/>
              </a:lnSpc>
              <a:spcBef>
                <a:spcPts val="300"/>
              </a:spcBef>
              <a:spcAft>
                <a:spcPts val="0"/>
              </a:spcAft>
            </a:pPr>
            <a:r>
              <a:rPr lang="zh-TW" altLang="en-US" b="0" dirty="0">
                <a:solidFill>
                  <a:prstClr val="black"/>
                </a:solidFill>
              </a:rPr>
              <a:t>金管會表示，</a:t>
            </a:r>
            <a:r>
              <a:rPr lang="zh-TW" altLang="en-US" dirty="0">
                <a:solidFill>
                  <a:srgbClr val="0070C0"/>
                </a:solidFill>
              </a:rPr>
              <a:t>中小企業放款走高，與企業對景氣維持審慎樂觀看法有關，推升購置不動產、動產融資及營運周轉金等需求同步上升，進一步驅動整體放款量能，也反映企業在資金運用與擴張布局上具一定信心</a:t>
            </a:r>
            <a:r>
              <a:rPr lang="zh-TW" altLang="en-US" b="0" dirty="0">
                <a:solidFill>
                  <a:prstClr val="black"/>
                </a:solidFill>
              </a:rPr>
              <a:t>。</a:t>
            </a:r>
          </a:p>
          <a:p>
            <a:pPr fontAlgn="auto">
              <a:lnSpc>
                <a:spcPts val="2000"/>
              </a:lnSpc>
              <a:spcBef>
                <a:spcPts val="300"/>
              </a:spcBef>
              <a:spcAft>
                <a:spcPts val="0"/>
              </a:spcAft>
            </a:pPr>
            <a:r>
              <a:rPr lang="zh-TW" altLang="en-US" dirty="0">
                <a:solidFill>
                  <a:srgbClr val="0070C0"/>
                </a:solidFill>
              </a:rPr>
              <a:t>從銀行別來看，中小企業放款「增額」前</a:t>
            </a:r>
            <a:r>
              <a:rPr lang="en-US" altLang="zh-TW" dirty="0">
                <a:solidFill>
                  <a:srgbClr val="0070C0"/>
                </a:solidFill>
              </a:rPr>
              <a:t>5</a:t>
            </a:r>
            <a:r>
              <a:rPr lang="zh-TW" altLang="en-US" dirty="0">
                <a:solidFill>
                  <a:srgbClr val="0070C0"/>
                </a:solidFill>
              </a:rPr>
              <a:t>大銀行，全數由民營銀行包辦，依序為台新銀行增加</a:t>
            </a:r>
            <a:r>
              <a:rPr lang="en-US" altLang="zh-TW" dirty="0">
                <a:solidFill>
                  <a:srgbClr val="0070C0"/>
                </a:solidFill>
              </a:rPr>
              <a:t>228.91</a:t>
            </a:r>
            <a:r>
              <a:rPr lang="zh-TW" altLang="en-US" dirty="0">
                <a:solidFill>
                  <a:srgbClr val="0070C0"/>
                </a:solidFill>
              </a:rPr>
              <a:t>億元、永豐銀行新增</a:t>
            </a:r>
            <a:r>
              <a:rPr lang="en-US" altLang="zh-TW" dirty="0">
                <a:solidFill>
                  <a:srgbClr val="0070C0"/>
                </a:solidFill>
              </a:rPr>
              <a:t>200.62</a:t>
            </a:r>
            <a:r>
              <a:rPr lang="zh-TW" altLang="en-US" dirty="0">
                <a:solidFill>
                  <a:srgbClr val="0070C0"/>
                </a:solidFill>
              </a:rPr>
              <a:t>億元、遠東銀行增額</a:t>
            </a:r>
            <a:r>
              <a:rPr lang="en-US" altLang="zh-TW" dirty="0">
                <a:solidFill>
                  <a:srgbClr val="0070C0"/>
                </a:solidFill>
              </a:rPr>
              <a:t>83.31</a:t>
            </a:r>
            <a:r>
              <a:rPr lang="zh-TW" altLang="en-US" dirty="0">
                <a:solidFill>
                  <a:srgbClr val="0070C0"/>
                </a:solidFill>
              </a:rPr>
              <a:t>億元，以及台北富邦</a:t>
            </a:r>
            <a:r>
              <a:rPr lang="en-US" altLang="zh-TW" dirty="0">
                <a:solidFill>
                  <a:srgbClr val="0070C0"/>
                </a:solidFill>
              </a:rPr>
              <a:t>77.11</a:t>
            </a:r>
            <a:r>
              <a:rPr lang="zh-TW" altLang="en-US" dirty="0">
                <a:solidFill>
                  <a:srgbClr val="0070C0"/>
                </a:solidFill>
              </a:rPr>
              <a:t>億元、玉山銀行</a:t>
            </a:r>
            <a:r>
              <a:rPr lang="en-US" altLang="zh-TW" dirty="0">
                <a:solidFill>
                  <a:srgbClr val="0070C0"/>
                </a:solidFill>
              </a:rPr>
              <a:t>38.97</a:t>
            </a:r>
            <a:r>
              <a:rPr lang="zh-TW" altLang="en-US" dirty="0">
                <a:solidFill>
                  <a:srgbClr val="0070C0"/>
                </a:solidFill>
              </a:rPr>
              <a:t>億元，</a:t>
            </a:r>
            <a:r>
              <a:rPr lang="zh-TW" altLang="en-US" b="0" dirty="0">
                <a:solidFill>
                  <a:prstClr val="black"/>
                </a:solidFill>
              </a:rPr>
              <a:t>可見民營銀行在授信拓展與市場經營上態度積極，增幅明顯優於同業。</a:t>
            </a:r>
          </a:p>
          <a:p>
            <a:pPr fontAlgn="auto">
              <a:lnSpc>
                <a:spcPts val="2000"/>
              </a:lnSpc>
              <a:spcBef>
                <a:spcPts val="300"/>
              </a:spcBef>
              <a:spcAft>
                <a:spcPts val="0"/>
              </a:spcAft>
            </a:pPr>
            <a:r>
              <a:rPr lang="zh-TW" altLang="en-US" dirty="0">
                <a:solidFill>
                  <a:srgbClr val="0070C0"/>
                </a:solidFill>
              </a:rPr>
              <a:t>若從整體放款餘額觀察，市場仍由公股銀行占據主導地位。前</a:t>
            </a:r>
            <a:r>
              <a:rPr lang="en-US" altLang="zh-TW" dirty="0">
                <a:solidFill>
                  <a:srgbClr val="0070C0"/>
                </a:solidFill>
              </a:rPr>
              <a:t>5</a:t>
            </a:r>
            <a:r>
              <a:rPr lang="zh-TW" altLang="en-US" dirty="0">
                <a:solidFill>
                  <a:srgbClr val="0070C0"/>
                </a:solidFill>
              </a:rPr>
              <a:t>大銀行依次為第一銀行</a:t>
            </a:r>
            <a:r>
              <a:rPr lang="en-US" altLang="zh-TW" dirty="0">
                <a:solidFill>
                  <a:srgbClr val="0070C0"/>
                </a:solidFill>
              </a:rPr>
              <a:t>1</a:t>
            </a:r>
            <a:r>
              <a:rPr lang="zh-TW" altLang="en-US" dirty="0">
                <a:solidFill>
                  <a:srgbClr val="0070C0"/>
                </a:solidFill>
              </a:rPr>
              <a:t>兆</a:t>
            </a:r>
            <a:r>
              <a:rPr lang="en-US" altLang="zh-TW" dirty="0">
                <a:solidFill>
                  <a:srgbClr val="0070C0"/>
                </a:solidFill>
              </a:rPr>
              <a:t>133</a:t>
            </a:r>
            <a:r>
              <a:rPr lang="zh-TW" altLang="en-US" dirty="0">
                <a:solidFill>
                  <a:srgbClr val="0070C0"/>
                </a:solidFill>
              </a:rPr>
              <a:t>億元、合作金庫銀行</a:t>
            </a:r>
            <a:r>
              <a:rPr lang="en-US" altLang="zh-TW" dirty="0">
                <a:solidFill>
                  <a:srgbClr val="0070C0"/>
                </a:solidFill>
              </a:rPr>
              <a:t>8,539</a:t>
            </a:r>
            <a:r>
              <a:rPr lang="zh-TW" altLang="en-US" dirty="0">
                <a:solidFill>
                  <a:srgbClr val="0070C0"/>
                </a:solidFill>
              </a:rPr>
              <a:t>億元、臺灣企銀</a:t>
            </a:r>
            <a:r>
              <a:rPr lang="en-US" altLang="zh-TW" dirty="0">
                <a:solidFill>
                  <a:srgbClr val="0070C0"/>
                </a:solidFill>
              </a:rPr>
              <a:t>8,199</a:t>
            </a:r>
            <a:r>
              <a:rPr lang="zh-TW" altLang="en-US" dirty="0">
                <a:solidFill>
                  <a:srgbClr val="0070C0"/>
                </a:solidFill>
              </a:rPr>
              <a:t>億元、華南銀行</a:t>
            </a:r>
            <a:r>
              <a:rPr lang="en-US" altLang="zh-TW" dirty="0">
                <a:solidFill>
                  <a:srgbClr val="0070C0"/>
                </a:solidFill>
              </a:rPr>
              <a:t>7,638</a:t>
            </a:r>
            <a:r>
              <a:rPr lang="zh-TW" altLang="en-US" dirty="0">
                <a:solidFill>
                  <a:srgbClr val="0070C0"/>
                </a:solidFill>
              </a:rPr>
              <a:t>億元及兆豐銀行</a:t>
            </a:r>
            <a:r>
              <a:rPr lang="en-US" altLang="zh-TW" dirty="0">
                <a:solidFill>
                  <a:srgbClr val="0070C0"/>
                </a:solidFill>
              </a:rPr>
              <a:t>7,425</a:t>
            </a:r>
            <a:r>
              <a:rPr lang="zh-TW" altLang="en-US" dirty="0">
                <a:solidFill>
                  <a:srgbClr val="0070C0"/>
                </a:solidFill>
              </a:rPr>
              <a:t>億元</a:t>
            </a:r>
            <a:r>
              <a:rPr lang="zh-TW" altLang="en-US" b="0" dirty="0">
                <a:solidFill>
                  <a:prstClr val="black"/>
                </a:solidFill>
              </a:rPr>
              <a:t>。公股銀行在長期客群經營與政策性金融支持下，具有市占優勢。</a:t>
            </a:r>
            <a:endParaRPr lang="en-US" altLang="zh-TW" b="0" dirty="0">
              <a:solidFill>
                <a:prstClr val="black"/>
              </a:solidFill>
            </a:endParaRPr>
          </a:p>
          <a:p>
            <a:pPr fontAlgn="auto">
              <a:lnSpc>
                <a:spcPts val="2000"/>
              </a:lnSpc>
              <a:spcBef>
                <a:spcPts val="300"/>
              </a:spcBef>
              <a:spcAft>
                <a:spcPts val="0"/>
              </a:spcAft>
            </a:pPr>
            <a:r>
              <a:rPr lang="zh-TW" altLang="en-US" b="0" dirty="0">
                <a:solidFill>
                  <a:prstClr val="black"/>
                </a:solidFill>
              </a:rPr>
              <a:t>在房貸市場方面，</a:t>
            </a:r>
            <a:r>
              <a:rPr lang="en-US" altLang="zh-TW" dirty="0">
                <a:solidFill>
                  <a:srgbClr val="C00000"/>
                </a:solidFill>
              </a:rPr>
              <a:t>2</a:t>
            </a:r>
            <a:r>
              <a:rPr lang="zh-TW" altLang="en-US" dirty="0">
                <a:solidFill>
                  <a:srgbClr val="C00000"/>
                </a:solidFill>
              </a:rPr>
              <a:t>月五大銀行新承做房貸金額為</a:t>
            </a:r>
            <a:r>
              <a:rPr lang="en-US" altLang="zh-TW" dirty="0">
                <a:solidFill>
                  <a:srgbClr val="C00000"/>
                </a:solidFill>
              </a:rPr>
              <a:t>367.64</a:t>
            </a:r>
            <a:r>
              <a:rPr lang="zh-TW" altLang="en-US" dirty="0">
                <a:solidFill>
                  <a:srgbClr val="C00000"/>
                </a:solidFill>
              </a:rPr>
              <a:t>億元，較</a:t>
            </a:r>
            <a:r>
              <a:rPr lang="en-US" altLang="zh-TW" dirty="0">
                <a:solidFill>
                  <a:srgbClr val="C00000"/>
                </a:solidFill>
              </a:rPr>
              <a:t>1</a:t>
            </a:r>
            <a:r>
              <a:rPr lang="zh-TW" altLang="en-US" dirty="0">
                <a:solidFill>
                  <a:srgbClr val="C00000"/>
                </a:solidFill>
              </a:rPr>
              <a:t>月減少</a:t>
            </a:r>
            <a:r>
              <a:rPr lang="en-US" altLang="zh-TW" dirty="0">
                <a:solidFill>
                  <a:srgbClr val="C00000"/>
                </a:solidFill>
              </a:rPr>
              <a:t>200.02</a:t>
            </a:r>
            <a:r>
              <a:rPr lang="zh-TW" altLang="en-US" dirty="0">
                <a:solidFill>
                  <a:srgbClr val="C00000"/>
                </a:solidFill>
              </a:rPr>
              <a:t>億元，跌至逾</a:t>
            </a:r>
            <a:r>
              <a:rPr lang="en-US" altLang="zh-TW" dirty="0">
                <a:solidFill>
                  <a:srgbClr val="C00000"/>
                </a:solidFill>
              </a:rPr>
              <a:t>7</a:t>
            </a:r>
            <a:r>
              <a:rPr lang="zh-TW" altLang="en-US" dirty="0">
                <a:solidFill>
                  <a:srgbClr val="C00000"/>
                </a:solidFill>
              </a:rPr>
              <a:t>年最低，貸款動能顯著降溫。同期六都建物買賣移轉棟數降至約</a:t>
            </a:r>
            <a:r>
              <a:rPr lang="en-US" altLang="zh-TW" dirty="0">
                <a:solidFill>
                  <a:srgbClr val="C00000"/>
                </a:solidFill>
              </a:rPr>
              <a:t>1.05</a:t>
            </a:r>
            <a:r>
              <a:rPr lang="zh-TW" altLang="en-US" dirty="0">
                <a:solidFill>
                  <a:srgbClr val="C00000"/>
                </a:solidFill>
              </a:rPr>
              <a:t>萬棟，月減</a:t>
            </a:r>
            <a:r>
              <a:rPr lang="en-US" altLang="zh-TW" dirty="0">
                <a:solidFill>
                  <a:srgbClr val="C00000"/>
                </a:solidFill>
              </a:rPr>
              <a:t>42.5%</a:t>
            </a:r>
            <a:r>
              <a:rPr lang="zh-TW" altLang="en-US" dirty="0">
                <a:solidFill>
                  <a:srgbClr val="C00000"/>
                </a:solidFill>
              </a:rPr>
              <a:t>，主要因為春節長假及</a:t>
            </a:r>
            <a:r>
              <a:rPr lang="en-US" altLang="zh-TW" dirty="0">
                <a:solidFill>
                  <a:srgbClr val="C00000"/>
                </a:solidFill>
              </a:rPr>
              <a:t>228</a:t>
            </a:r>
            <a:r>
              <a:rPr lang="zh-TW" altLang="en-US" dirty="0">
                <a:solidFill>
                  <a:srgbClr val="C00000"/>
                </a:solidFill>
              </a:rPr>
              <a:t>連假造成交易量縮減，進而壓抑房貸承作規模</a:t>
            </a:r>
            <a:r>
              <a:rPr lang="zh-TW" altLang="en-US" b="0" dirty="0">
                <a:solidFill>
                  <a:prstClr val="black"/>
                </a:solidFill>
              </a:rPr>
              <a:t>。</a:t>
            </a:r>
          </a:p>
          <a:p>
            <a:endParaRPr lang="zh-TW" altLang="en-US" b="0" dirty="0"/>
          </a:p>
        </p:txBody>
      </p:sp>
      <p:sp>
        <p:nvSpPr>
          <p:cNvPr id="4" name="文字方塊 3">
            <a:extLst>
              <a:ext uri="{FF2B5EF4-FFF2-40B4-BE49-F238E27FC236}">
                <a16:creationId xmlns:a16="http://schemas.microsoft.com/office/drawing/2014/main" id="{27CC653F-E05A-B4C8-406D-1BCE9FBAEF4C}"/>
              </a:ext>
            </a:extLst>
          </p:cNvPr>
          <p:cNvSpPr txBox="1"/>
          <p:nvPr/>
        </p:nvSpPr>
        <p:spPr>
          <a:xfrm>
            <a:off x="6048000" y="864002"/>
            <a:ext cx="5760000" cy="1868066"/>
          </a:xfrm>
          <a:prstGeom prst="rect">
            <a:avLst/>
          </a:prstGeom>
          <a:solidFill>
            <a:sysClr val="window" lastClr="FFFFFF"/>
          </a:solidFill>
          <a:ln w="12700" cap="flat" cmpd="sng" algn="ctr">
            <a:solidFill>
              <a:schemeClr val="tx1">
                <a:lumMod val="50000"/>
                <a:lumOff val="50000"/>
              </a:schemeClr>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fontAlgn="auto">
              <a:lnSpc>
                <a:spcPts val="2000"/>
              </a:lnSpc>
              <a:spcBef>
                <a:spcPts val="300"/>
              </a:spcBef>
              <a:spcAft>
                <a:spcPts val="0"/>
              </a:spcAft>
            </a:pPr>
            <a:r>
              <a:rPr lang="zh-TW" altLang="en-US" b="0" dirty="0">
                <a:solidFill>
                  <a:prstClr val="black"/>
                </a:solidFill>
              </a:rPr>
              <a:t>從利率表現觀察，</a:t>
            </a:r>
            <a:r>
              <a:rPr lang="en-US" altLang="zh-TW" dirty="0">
                <a:solidFill>
                  <a:srgbClr val="0070C0"/>
                </a:solidFill>
              </a:rPr>
              <a:t>2</a:t>
            </a:r>
            <a:r>
              <a:rPr lang="zh-TW" altLang="en-US" dirty="0">
                <a:solidFill>
                  <a:srgbClr val="0070C0"/>
                </a:solidFill>
              </a:rPr>
              <a:t>月新承做房貸利率約落在</a:t>
            </a:r>
            <a:r>
              <a:rPr lang="en-US" altLang="zh-TW" dirty="0">
                <a:solidFill>
                  <a:srgbClr val="0070C0"/>
                </a:solidFill>
              </a:rPr>
              <a:t>2.3%</a:t>
            </a:r>
            <a:r>
              <a:rPr lang="zh-TW" altLang="en-US" dirty="0">
                <a:solidFill>
                  <a:srgbClr val="0070C0"/>
                </a:solidFill>
              </a:rPr>
              <a:t>左右水準，仍處相對高檔區間，對購屋族貸款負擔形成一定壓力；同時，新青安房貸占全體新增房貸比重回升至</a:t>
            </a:r>
            <a:r>
              <a:rPr lang="en-US" altLang="zh-TW" dirty="0">
                <a:solidFill>
                  <a:srgbClr val="0070C0"/>
                </a:solidFill>
              </a:rPr>
              <a:t>43.28%</a:t>
            </a:r>
            <a:r>
              <a:rPr lang="zh-TW" altLang="en-US" dirty="0">
                <a:solidFill>
                  <a:srgbClr val="0070C0"/>
                </a:solidFill>
              </a:rPr>
              <a:t>，凸顯在市場轉趨保守之際，政策性貸款對於支撐房貸需求仍有一定影響力</a:t>
            </a:r>
            <a:r>
              <a:rPr lang="zh-TW" altLang="en-US" b="0" dirty="0">
                <a:solidFill>
                  <a:prstClr val="black"/>
                </a:solidFill>
              </a:rPr>
              <a:t>。</a:t>
            </a:r>
            <a:r>
              <a:rPr lang="zh-TW" altLang="en-US" dirty="0">
                <a:solidFill>
                  <a:srgbClr val="C00000"/>
                </a:solidFill>
              </a:rPr>
              <a:t>總體房貸餘額則持續攀升至</a:t>
            </a:r>
            <a:r>
              <a:rPr lang="en-US" altLang="zh-TW" dirty="0">
                <a:solidFill>
                  <a:srgbClr val="C00000"/>
                </a:solidFill>
              </a:rPr>
              <a:t>11</a:t>
            </a:r>
            <a:r>
              <a:rPr lang="zh-TW" altLang="en-US" dirty="0">
                <a:solidFill>
                  <a:srgbClr val="C00000"/>
                </a:solidFill>
              </a:rPr>
              <a:t>兆</a:t>
            </a:r>
            <a:r>
              <a:rPr lang="en-US" altLang="zh-TW" dirty="0">
                <a:solidFill>
                  <a:srgbClr val="C00000"/>
                </a:solidFill>
              </a:rPr>
              <a:t>6,278</a:t>
            </a:r>
            <a:r>
              <a:rPr lang="zh-TW" altLang="en-US" dirty="0">
                <a:solidFill>
                  <a:srgbClr val="C00000"/>
                </a:solidFill>
              </a:rPr>
              <a:t>億元，已連續</a:t>
            </a:r>
            <a:r>
              <a:rPr lang="en-US" altLang="zh-TW" dirty="0">
                <a:solidFill>
                  <a:srgbClr val="C00000"/>
                </a:solidFill>
              </a:rPr>
              <a:t>27</a:t>
            </a:r>
            <a:r>
              <a:rPr lang="zh-TW" altLang="en-US" dirty="0">
                <a:solidFill>
                  <a:srgbClr val="C00000"/>
                </a:solidFill>
              </a:rPr>
              <a:t>個月保持在</a:t>
            </a:r>
            <a:r>
              <a:rPr lang="en-US" altLang="zh-TW" dirty="0">
                <a:solidFill>
                  <a:srgbClr val="C00000"/>
                </a:solidFill>
              </a:rPr>
              <a:t>10</a:t>
            </a:r>
            <a:r>
              <a:rPr lang="zh-TW" altLang="en-US" dirty="0">
                <a:solidFill>
                  <a:srgbClr val="C00000"/>
                </a:solidFill>
              </a:rPr>
              <a:t>兆元以上，續創歷史新高，不過年增率降至</a:t>
            </a:r>
            <a:r>
              <a:rPr lang="en-US" altLang="zh-TW" dirty="0">
                <a:solidFill>
                  <a:srgbClr val="C00000"/>
                </a:solidFill>
              </a:rPr>
              <a:t>4.49%</a:t>
            </a:r>
            <a:r>
              <a:rPr lang="zh-TW" altLang="en-US" b="0" dirty="0">
                <a:solidFill>
                  <a:prstClr val="black"/>
                </a:solidFill>
              </a:rPr>
              <a:t>。在房市交易量縮的情況下，房貸成長動能已逐步放緩，市場呈現量縮價盤整的發展態勢。</a:t>
            </a:r>
          </a:p>
          <a:p>
            <a:pPr latinLnBrk="1"/>
            <a:br>
              <a:rPr lang="zh-TW" altLang="en-US" b="0" dirty="0"/>
            </a:br>
            <a:endParaRPr lang="zh-TW" altLang="en-US" b="0" dirty="0"/>
          </a:p>
          <a:p>
            <a:endParaRPr lang="zh-TW" altLang="en-US" b="0" dirty="0">
              <a:solidFill>
                <a:srgbClr val="272727"/>
              </a:solidFill>
            </a:endParaRPr>
          </a:p>
        </p:txBody>
      </p:sp>
      <p:sp>
        <p:nvSpPr>
          <p:cNvPr id="11" name="矩形 10">
            <a:extLst>
              <a:ext uri="{FF2B5EF4-FFF2-40B4-BE49-F238E27FC236}">
                <a16:creationId xmlns:a16="http://schemas.microsoft.com/office/drawing/2014/main" id="{5F8CF992-8B93-2596-B98D-2F5730888B36}"/>
              </a:ext>
            </a:extLst>
          </p:cNvPr>
          <p:cNvSpPr/>
          <p:nvPr/>
        </p:nvSpPr>
        <p:spPr>
          <a:xfrm>
            <a:off x="5901113" y="451060"/>
            <a:ext cx="1763624"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Arial" panose="020B0604020202020204" pitchFamily="34" charset="0"/>
                <a:ea typeface="微軟正黑體" panose="020B0604030504040204" pitchFamily="34" charset="-120"/>
                <a:cs typeface="+mn-cs"/>
              </a:rPr>
              <a:t>2026/03/20</a:t>
            </a:r>
            <a:r>
              <a:rPr lang="zh-TW" altLang="en-US" sz="1200" b="0" dirty="0">
                <a:solidFill>
                  <a:prstClr val="black"/>
                </a:solidFill>
                <a:latin typeface="Arial" panose="020B0604020202020204" pitchFamily="34" charset="0"/>
                <a:ea typeface="微軟正黑體" panose="020B0604030504040204" pitchFamily="34" charset="-120"/>
              </a:rPr>
              <a:t> 卡優新聞網</a:t>
            </a:r>
            <a:endParaRPr kumimoji="0" lang="zh-TW" altLang="en-US" sz="1200" b="0" i="0" u="none" strike="noStrike" kern="1200" cap="none" spc="0" normalizeH="0" baseline="0" noProof="0" dirty="0">
              <a:ln>
                <a:noFill/>
              </a:ln>
              <a:solidFill>
                <a:prstClr val="black"/>
              </a:solidFill>
              <a:effectLst/>
              <a:uLnTx/>
              <a:uFillTx/>
              <a:latin typeface="Arial" panose="020B0604020202020204" pitchFamily="34" charset="0"/>
              <a:ea typeface="微軟正黑體" panose="020B0604030504040204" pitchFamily="34" charset="-120"/>
              <a:cs typeface="+mn-cs"/>
            </a:endParaRPr>
          </a:p>
        </p:txBody>
      </p:sp>
      <p:sp>
        <p:nvSpPr>
          <p:cNvPr id="5" name="文字方塊 4">
            <a:extLst>
              <a:ext uri="{FF2B5EF4-FFF2-40B4-BE49-F238E27FC236}">
                <a16:creationId xmlns:a16="http://schemas.microsoft.com/office/drawing/2014/main" id="{0B372920-A0E9-D4A6-4C66-0F3CC573CA69}"/>
              </a:ext>
            </a:extLst>
          </p:cNvPr>
          <p:cNvSpPr txBox="1"/>
          <p:nvPr/>
        </p:nvSpPr>
        <p:spPr>
          <a:xfrm>
            <a:off x="6056838" y="2782947"/>
            <a:ext cx="5760000" cy="385608"/>
          </a:xfrm>
          <a:prstGeom prst="rect">
            <a:avLst/>
          </a:prstGeom>
          <a:solidFill>
            <a:srgbClr val="595959"/>
          </a:solidFill>
          <a:ln w="12700" cap="flat" cmpd="sng" algn="ctr">
            <a:noFill/>
            <a:prstDash val="solid"/>
            <a:miter lim="800000"/>
          </a:ln>
          <a:effectLst/>
        </p:spPr>
        <p:txBody>
          <a:bodyPr rtlCol="0" anchor="ct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400" i="0" u="none" strike="noStrike" kern="0" cap="none" spc="0" normalizeH="0" baseline="0">
                <a:ln>
                  <a:noFill/>
                </a:ln>
                <a:solidFill>
                  <a:prstClr val="white"/>
                </a:solidFill>
                <a:effectLst/>
                <a:uLnTx/>
                <a:uFillTx/>
                <a:latin typeface="微軟正黑體" panose="020B0604030504040204" pitchFamily="34" charset="-120"/>
                <a:ea typeface="微軟正黑體" panose="020B0604030504040204" pitchFamily="34" charset="-120"/>
              </a:defRPr>
            </a:lvl1pPr>
          </a:lstStyle>
          <a:p>
            <a:pPr defTabSz="896203"/>
            <a:r>
              <a:rPr lang="zh-TW" altLang="en-US" dirty="0">
                <a:solidFill>
                  <a:schemeClr val="bg1"/>
                </a:solidFill>
              </a:rPr>
              <a:t>國銀中小企業放款情形</a:t>
            </a:r>
            <a:r>
              <a:rPr lang="en-US" altLang="zh-TW" sz="1100" dirty="0">
                <a:solidFill>
                  <a:schemeClr val="bg1"/>
                </a:solidFill>
              </a:rPr>
              <a:t>(2026/1</a:t>
            </a:r>
            <a:r>
              <a:rPr lang="zh-TW" altLang="en-US" sz="1100" dirty="0">
                <a:solidFill>
                  <a:schemeClr val="bg1"/>
                </a:solidFill>
              </a:rPr>
              <a:t>月</a:t>
            </a:r>
            <a:r>
              <a:rPr lang="en-US" altLang="zh-TW" sz="1100" dirty="0">
                <a:solidFill>
                  <a:schemeClr val="bg1"/>
                </a:solidFill>
              </a:rPr>
              <a:t>)</a:t>
            </a:r>
            <a:endParaRPr lang="en-US" altLang="zh-TW" sz="1600" dirty="0">
              <a:solidFill>
                <a:schemeClr val="bg1"/>
              </a:solidFill>
            </a:endParaRPr>
          </a:p>
        </p:txBody>
      </p:sp>
      <p:sp>
        <p:nvSpPr>
          <p:cNvPr id="6" name="文字方塊 5">
            <a:extLst>
              <a:ext uri="{FF2B5EF4-FFF2-40B4-BE49-F238E27FC236}">
                <a16:creationId xmlns:a16="http://schemas.microsoft.com/office/drawing/2014/main" id="{A8391685-EB16-7B85-6BC3-5FE6D0AE191C}"/>
              </a:ext>
            </a:extLst>
          </p:cNvPr>
          <p:cNvSpPr txBox="1"/>
          <p:nvPr/>
        </p:nvSpPr>
        <p:spPr>
          <a:xfrm>
            <a:off x="10150376" y="2937723"/>
            <a:ext cx="2138139" cy="230832"/>
          </a:xfrm>
          <a:prstGeom prst="rect">
            <a:avLst/>
          </a:prstGeom>
          <a:noFill/>
        </p:spPr>
        <p:txBody>
          <a:bodyPr wrap="square">
            <a:spAutoFit/>
          </a:bodyPr>
          <a:lstStyle/>
          <a:p>
            <a:r>
              <a:rPr lang="zh-TW" altLang="en-US" sz="900" dirty="0">
                <a:solidFill>
                  <a:schemeClr val="bg1"/>
                </a:solidFill>
                <a:latin typeface="微軟正黑體" panose="020B0604030504040204" pitchFamily="34" charset="-120"/>
                <a:ea typeface="微軟正黑體" panose="020B0604030504040204" pitchFamily="34" charset="-120"/>
              </a:rPr>
              <a:t>資料來源：金管會、新聞整理</a:t>
            </a:r>
            <a:endParaRPr lang="zh-TW" altLang="en-US" sz="2000" dirty="0">
              <a:solidFill>
                <a:schemeClr val="bg1"/>
              </a:solidFill>
              <a:latin typeface="微軟正黑體" panose="020B0604030504040204" pitchFamily="34" charset="-120"/>
              <a:ea typeface="微軟正黑體" panose="020B0604030504040204" pitchFamily="34" charset="-120"/>
            </a:endParaRPr>
          </a:p>
        </p:txBody>
      </p:sp>
      <p:sp>
        <p:nvSpPr>
          <p:cNvPr id="10" name="投影片編號版面配置區 3">
            <a:extLst>
              <a:ext uri="{FF2B5EF4-FFF2-40B4-BE49-F238E27FC236}">
                <a16:creationId xmlns:a16="http://schemas.microsoft.com/office/drawing/2014/main" id="{414446DF-D031-A2CD-FB25-BCC0A737F964}"/>
              </a:ext>
            </a:extLst>
          </p:cNvPr>
          <p:cNvSpPr txBox="1">
            <a:spLocks/>
          </p:cNvSpPr>
          <p:nvPr/>
        </p:nvSpPr>
        <p:spPr>
          <a:xfrm>
            <a:off x="8439061" y="6173168"/>
            <a:ext cx="2688550" cy="357856"/>
          </a:xfrm>
          <a:prstGeom prst="rect">
            <a:avLst/>
          </a:prstGeom>
        </p:spPr>
        <p:txBody>
          <a:bodyPr/>
          <a:lstStyle>
            <a:defPPr>
              <a:defRPr lang="en-US"/>
            </a:defPPr>
            <a:lvl1pPr algn="l" rtl="0" fontAlgn="base">
              <a:spcBef>
                <a:spcPct val="0"/>
              </a:spcBef>
              <a:spcAft>
                <a:spcPct val="0"/>
              </a:spcAft>
              <a:defRPr sz="4000" b="1" kern="1200">
                <a:solidFill>
                  <a:schemeClr val="tx1"/>
                </a:solidFill>
                <a:latin typeface="Arial" charset="0"/>
                <a:ea typeface="华文楷体" pitchFamily="2" charset="-122"/>
                <a:cs typeface="+mn-cs"/>
              </a:defRPr>
            </a:lvl1pPr>
            <a:lvl2pPr marL="457200" algn="l" rtl="0" fontAlgn="base">
              <a:spcBef>
                <a:spcPct val="0"/>
              </a:spcBef>
              <a:spcAft>
                <a:spcPct val="0"/>
              </a:spcAft>
              <a:defRPr sz="4000" b="1" kern="1200">
                <a:solidFill>
                  <a:schemeClr val="tx1"/>
                </a:solidFill>
                <a:latin typeface="Arial" charset="0"/>
                <a:ea typeface="华文楷体" pitchFamily="2" charset="-122"/>
                <a:cs typeface="+mn-cs"/>
              </a:defRPr>
            </a:lvl2pPr>
            <a:lvl3pPr marL="914400" algn="l" rtl="0" fontAlgn="base">
              <a:spcBef>
                <a:spcPct val="0"/>
              </a:spcBef>
              <a:spcAft>
                <a:spcPct val="0"/>
              </a:spcAft>
              <a:defRPr sz="4000" b="1" kern="1200">
                <a:solidFill>
                  <a:schemeClr val="tx1"/>
                </a:solidFill>
                <a:latin typeface="Arial" charset="0"/>
                <a:ea typeface="华文楷体" pitchFamily="2" charset="-122"/>
                <a:cs typeface="+mn-cs"/>
              </a:defRPr>
            </a:lvl3pPr>
            <a:lvl4pPr marL="1371600" algn="l" rtl="0" fontAlgn="base">
              <a:spcBef>
                <a:spcPct val="0"/>
              </a:spcBef>
              <a:spcAft>
                <a:spcPct val="0"/>
              </a:spcAft>
              <a:defRPr sz="4000" b="1" kern="1200">
                <a:solidFill>
                  <a:schemeClr val="tx1"/>
                </a:solidFill>
                <a:latin typeface="Arial" charset="0"/>
                <a:ea typeface="华文楷体" pitchFamily="2" charset="-122"/>
                <a:cs typeface="+mn-cs"/>
              </a:defRPr>
            </a:lvl4pPr>
            <a:lvl5pPr marL="1828800" algn="l" rtl="0" fontAlgn="base">
              <a:spcBef>
                <a:spcPct val="0"/>
              </a:spcBef>
              <a:spcAft>
                <a:spcPct val="0"/>
              </a:spcAft>
              <a:defRPr sz="4000" b="1" kern="1200">
                <a:solidFill>
                  <a:schemeClr val="tx1"/>
                </a:solidFill>
                <a:latin typeface="Arial" charset="0"/>
                <a:ea typeface="华文楷体" pitchFamily="2" charset="-122"/>
                <a:cs typeface="+mn-cs"/>
              </a:defRPr>
            </a:lvl5pPr>
            <a:lvl6pPr marL="2286000" algn="l" defTabSz="914400" rtl="0" eaLnBrk="1" latinLnBrk="0" hangingPunct="1">
              <a:defRPr sz="4000" b="1" kern="1200">
                <a:solidFill>
                  <a:schemeClr val="tx1"/>
                </a:solidFill>
                <a:latin typeface="Arial" charset="0"/>
                <a:ea typeface="华文楷体" pitchFamily="2" charset="-122"/>
                <a:cs typeface="+mn-cs"/>
              </a:defRPr>
            </a:lvl6pPr>
            <a:lvl7pPr marL="2743200" algn="l" defTabSz="914400" rtl="0" eaLnBrk="1" latinLnBrk="0" hangingPunct="1">
              <a:defRPr sz="4000" b="1" kern="1200">
                <a:solidFill>
                  <a:schemeClr val="tx1"/>
                </a:solidFill>
                <a:latin typeface="Arial" charset="0"/>
                <a:ea typeface="华文楷体" pitchFamily="2" charset="-122"/>
                <a:cs typeface="+mn-cs"/>
              </a:defRPr>
            </a:lvl7pPr>
            <a:lvl8pPr marL="3200400" algn="l" defTabSz="914400" rtl="0" eaLnBrk="1" latinLnBrk="0" hangingPunct="1">
              <a:defRPr sz="4000" b="1" kern="1200">
                <a:solidFill>
                  <a:schemeClr val="tx1"/>
                </a:solidFill>
                <a:latin typeface="Arial" charset="0"/>
                <a:ea typeface="华文楷体" pitchFamily="2" charset="-122"/>
                <a:cs typeface="+mn-cs"/>
              </a:defRPr>
            </a:lvl8pPr>
            <a:lvl9pPr marL="3657600" algn="l" defTabSz="914400" rtl="0" eaLnBrk="1" latinLnBrk="0" hangingPunct="1">
              <a:defRPr sz="4000" b="1" kern="1200">
                <a:solidFill>
                  <a:schemeClr val="tx1"/>
                </a:solidFill>
                <a:latin typeface="Arial" charset="0"/>
                <a:ea typeface="华文楷体" pitchFamily="2" charset="-122"/>
                <a:cs typeface="+mn-cs"/>
              </a:defRPr>
            </a:lvl9pPr>
          </a:lstStyle>
          <a:p>
            <a:endParaRPr lang="zh-TW" altLang="en-US" dirty="0"/>
          </a:p>
        </p:txBody>
      </p:sp>
      <p:graphicFrame>
        <p:nvGraphicFramePr>
          <p:cNvPr id="12" name="表格 11">
            <a:extLst>
              <a:ext uri="{FF2B5EF4-FFF2-40B4-BE49-F238E27FC236}">
                <a16:creationId xmlns:a16="http://schemas.microsoft.com/office/drawing/2014/main" id="{C7D53412-0220-DEFB-F3F0-65CD1B991343}"/>
              </a:ext>
            </a:extLst>
          </p:cNvPr>
          <p:cNvGraphicFramePr>
            <a:graphicFrameLocks noGrp="1"/>
          </p:cNvGraphicFramePr>
          <p:nvPr>
            <p:extLst>
              <p:ext uri="{D42A27DB-BD31-4B8C-83A1-F6EECF244321}">
                <p14:modId xmlns:p14="http://schemas.microsoft.com/office/powerpoint/2010/main" val="4084439753"/>
              </p:ext>
            </p:extLst>
          </p:nvPr>
        </p:nvGraphicFramePr>
        <p:xfrm>
          <a:off x="9072001" y="3228475"/>
          <a:ext cx="2735999" cy="1404012"/>
        </p:xfrm>
        <a:graphic>
          <a:graphicData uri="http://schemas.openxmlformats.org/drawingml/2006/table">
            <a:tbl>
              <a:tblPr/>
              <a:tblGrid>
                <a:gridCol w="434331">
                  <a:extLst>
                    <a:ext uri="{9D8B030D-6E8A-4147-A177-3AD203B41FA5}">
                      <a16:colId xmlns:a16="http://schemas.microsoft.com/office/drawing/2014/main" val="4140024962"/>
                    </a:ext>
                  </a:extLst>
                </a:gridCol>
                <a:gridCol w="1150834">
                  <a:extLst>
                    <a:ext uri="{9D8B030D-6E8A-4147-A177-3AD203B41FA5}">
                      <a16:colId xmlns:a16="http://schemas.microsoft.com/office/drawing/2014/main" val="1178822676"/>
                    </a:ext>
                  </a:extLst>
                </a:gridCol>
                <a:gridCol w="1150834">
                  <a:extLst>
                    <a:ext uri="{9D8B030D-6E8A-4147-A177-3AD203B41FA5}">
                      <a16:colId xmlns:a16="http://schemas.microsoft.com/office/drawing/2014/main" val="3355691668"/>
                    </a:ext>
                  </a:extLst>
                </a:gridCol>
              </a:tblGrid>
              <a:tr h="234002">
                <a:tc>
                  <a:txBody>
                    <a:bodyPr/>
                    <a:lstStyle/>
                    <a:p>
                      <a:pPr algn="ctr">
                        <a:buNone/>
                      </a:pPr>
                      <a:r>
                        <a:rPr lang="en-US" altLang="zh-TW" sz="1050" b="1" dirty="0">
                          <a:latin typeface="微軟正黑體" panose="020B0604030504040204" pitchFamily="34" charset="-120"/>
                          <a:ea typeface="微軟正黑體" panose="020B0604030504040204" pitchFamily="34" charset="-120"/>
                        </a:rPr>
                        <a:t>NO.</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a:buNone/>
                      </a:pPr>
                      <a:r>
                        <a:rPr lang="zh-TW" altLang="en-US" sz="1050" b="1" dirty="0">
                          <a:latin typeface="微軟正黑體" panose="020B0604030504040204" pitchFamily="34" charset="-120"/>
                          <a:ea typeface="微軟正黑體" panose="020B0604030504040204" pitchFamily="34" charset="-120"/>
                        </a:rPr>
                        <a:t>國銀</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a:buNone/>
                      </a:pPr>
                      <a:r>
                        <a:rPr lang="zh-TW" altLang="en-US" sz="1050" b="1" dirty="0">
                          <a:latin typeface="微軟正黑體" panose="020B0604030504040204" pitchFamily="34" charset="-120"/>
                          <a:ea typeface="微軟正黑體" panose="020B0604030504040204" pitchFamily="34" charset="-120"/>
                        </a:rPr>
                        <a:t>單月增額</a:t>
                      </a:r>
                      <a:r>
                        <a:rPr lang="en-US" altLang="zh-TW" sz="1050" b="1" dirty="0">
                          <a:latin typeface="微軟正黑體" panose="020B0604030504040204" pitchFamily="34" charset="-120"/>
                          <a:ea typeface="微軟正黑體" panose="020B0604030504040204" pitchFamily="34" charset="-120"/>
                        </a:rPr>
                        <a:t>(</a:t>
                      </a:r>
                      <a:r>
                        <a:rPr lang="zh-TW" altLang="en-US" sz="1050" b="1" dirty="0">
                          <a:latin typeface="微軟正黑體" panose="020B0604030504040204" pitchFamily="34" charset="-120"/>
                          <a:ea typeface="微軟正黑體" panose="020B0604030504040204" pitchFamily="34" charset="-120"/>
                        </a:rPr>
                        <a:t>億元</a:t>
                      </a:r>
                      <a:r>
                        <a:rPr lang="en-US" altLang="zh-TW" sz="1050" b="1" dirty="0">
                          <a:latin typeface="微軟正黑體" panose="020B0604030504040204" pitchFamily="34" charset="-120"/>
                          <a:ea typeface="微軟正黑體" panose="020B0604030504040204" pitchFamily="34" charset="-120"/>
                        </a:rPr>
                        <a:t>)</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286020830"/>
                  </a:ext>
                </a:extLst>
              </a:tr>
              <a:tr h="234002">
                <a:tc>
                  <a:txBody>
                    <a:bodyPr/>
                    <a:lstStyle/>
                    <a:p>
                      <a:pPr algn="ctr">
                        <a:buNone/>
                      </a:pPr>
                      <a:r>
                        <a:rPr lang="en-US" altLang="zh-TW" sz="1050" b="0">
                          <a:latin typeface="微軟正黑體" panose="020B0604030504040204" pitchFamily="34" charset="-120"/>
                          <a:ea typeface="微軟正黑體" panose="020B0604030504040204" pitchFamily="34" charset="-120"/>
                        </a:rPr>
                        <a:t>1</a:t>
                      </a:r>
                      <a:endParaRPr lang="zh-TW" altLang="en-US" sz="1050" b="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zh-TW" altLang="en-US" sz="1050" b="0" dirty="0">
                          <a:latin typeface="微軟正黑體" panose="020B0604030504040204" pitchFamily="34" charset="-120"/>
                          <a:ea typeface="微軟正黑體" panose="020B0604030504040204" pitchFamily="34" charset="-120"/>
                        </a:rPr>
                        <a:t>台新</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050" b="0" dirty="0">
                          <a:latin typeface="微軟正黑體" panose="020B0604030504040204" pitchFamily="34" charset="-120"/>
                          <a:ea typeface="微軟正黑體" panose="020B0604030504040204" pitchFamily="34" charset="-120"/>
                        </a:rPr>
                        <a:t>228.91</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76262107"/>
                  </a:ext>
                </a:extLst>
              </a:tr>
              <a:tr h="234002">
                <a:tc>
                  <a:txBody>
                    <a:bodyPr/>
                    <a:lstStyle/>
                    <a:p>
                      <a:pPr algn="ctr">
                        <a:buNone/>
                      </a:pPr>
                      <a:r>
                        <a:rPr lang="en-US" altLang="zh-TW" sz="1050" b="0">
                          <a:highlight>
                            <a:srgbClr val="FFFF00"/>
                          </a:highlight>
                          <a:latin typeface="微軟正黑體" panose="020B0604030504040204" pitchFamily="34" charset="-120"/>
                          <a:ea typeface="微軟正黑體" panose="020B0604030504040204" pitchFamily="34" charset="-120"/>
                        </a:rPr>
                        <a:t>2</a:t>
                      </a:r>
                      <a:endParaRPr lang="zh-TW" altLang="en-US" sz="1050" b="0">
                        <a:highlight>
                          <a:srgbClr val="FFFF00"/>
                        </a:highlight>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zh-TW" altLang="en-US" sz="1050" b="0" dirty="0">
                          <a:highlight>
                            <a:srgbClr val="FFFF00"/>
                          </a:highlight>
                          <a:latin typeface="微軟正黑體" panose="020B0604030504040204" pitchFamily="34" charset="-120"/>
                          <a:ea typeface="微軟正黑體" panose="020B0604030504040204" pitchFamily="34" charset="-120"/>
                        </a:rPr>
                        <a:t>永豐</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050" b="0" dirty="0">
                          <a:highlight>
                            <a:srgbClr val="FFFF00"/>
                          </a:highlight>
                          <a:latin typeface="微軟正黑體" panose="020B0604030504040204" pitchFamily="34" charset="-120"/>
                          <a:ea typeface="微軟正黑體" panose="020B0604030504040204" pitchFamily="34" charset="-120"/>
                        </a:rPr>
                        <a:t>200.62</a:t>
                      </a:r>
                      <a:endParaRPr lang="zh-TW" altLang="en-US" sz="1050" b="0" dirty="0">
                        <a:highlight>
                          <a:srgbClr val="FFFF00"/>
                        </a:highlight>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593700836"/>
                  </a:ext>
                </a:extLst>
              </a:tr>
              <a:tr h="234002">
                <a:tc>
                  <a:txBody>
                    <a:bodyPr/>
                    <a:lstStyle/>
                    <a:p>
                      <a:pPr algn="ctr">
                        <a:buNone/>
                      </a:pPr>
                      <a:r>
                        <a:rPr lang="en-US" altLang="zh-TW" sz="1050" b="0" dirty="0">
                          <a:latin typeface="微軟正黑體" panose="020B0604030504040204" pitchFamily="34" charset="-120"/>
                          <a:ea typeface="微軟正黑體" panose="020B0604030504040204" pitchFamily="34" charset="-120"/>
                        </a:rPr>
                        <a:t>3</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zh-TW" altLang="en-US" sz="1050" b="0" i="0" dirty="0">
                          <a:latin typeface="微軟正黑體" panose="020B0604030504040204" pitchFamily="34" charset="-120"/>
                          <a:ea typeface="微軟正黑體" panose="020B0604030504040204" pitchFamily="34" charset="-120"/>
                        </a:rPr>
                        <a:t>遠東</a:t>
                      </a:r>
                      <a:endParaRPr lang="en-US" sz="1050" b="0" i="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050" b="0" dirty="0">
                          <a:latin typeface="微軟正黑體" panose="020B0604030504040204" pitchFamily="34" charset="-120"/>
                          <a:ea typeface="微軟正黑體" panose="020B0604030504040204" pitchFamily="34" charset="-120"/>
                        </a:rPr>
                        <a:t>83.31</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18983443"/>
                  </a:ext>
                </a:extLst>
              </a:tr>
              <a:tr h="234002">
                <a:tc>
                  <a:txBody>
                    <a:bodyPr/>
                    <a:lstStyle/>
                    <a:p>
                      <a:pPr algn="ctr">
                        <a:buNone/>
                      </a:pPr>
                      <a:r>
                        <a:rPr lang="en-US" altLang="zh-TW" sz="1050" b="0" dirty="0">
                          <a:latin typeface="微軟正黑體" panose="020B0604030504040204" pitchFamily="34" charset="-120"/>
                          <a:ea typeface="微軟正黑體" panose="020B0604030504040204" pitchFamily="34" charset="-120"/>
                        </a:rPr>
                        <a:t>4</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zh-TW" altLang="en-US" sz="1050" b="0" dirty="0">
                          <a:latin typeface="微軟正黑體" panose="020B0604030504040204" pitchFamily="34" charset="-120"/>
                          <a:ea typeface="微軟正黑體" panose="020B0604030504040204" pitchFamily="34" charset="-120"/>
                        </a:rPr>
                        <a:t>北富銀</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050" b="0" dirty="0">
                          <a:latin typeface="微軟正黑體" panose="020B0604030504040204" pitchFamily="34" charset="-120"/>
                          <a:ea typeface="微軟正黑體" panose="020B0604030504040204" pitchFamily="34" charset="-120"/>
                        </a:rPr>
                        <a:t>77.11</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82756970"/>
                  </a:ext>
                </a:extLst>
              </a:tr>
              <a:tr h="234002">
                <a:tc>
                  <a:txBody>
                    <a:bodyPr/>
                    <a:lstStyle/>
                    <a:p>
                      <a:pPr algn="ctr">
                        <a:buNone/>
                      </a:pPr>
                      <a:r>
                        <a:rPr lang="en-US" altLang="zh-TW" sz="1050" b="0" dirty="0">
                          <a:latin typeface="微軟正黑體" panose="020B0604030504040204" pitchFamily="34" charset="-120"/>
                          <a:ea typeface="微軟正黑體" panose="020B0604030504040204" pitchFamily="34" charset="-120"/>
                        </a:rPr>
                        <a:t>5</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zh-TW" altLang="en-US" sz="1050" b="0" dirty="0">
                          <a:latin typeface="微軟正黑體" panose="020B0604030504040204" pitchFamily="34" charset="-120"/>
                          <a:ea typeface="微軟正黑體" panose="020B0604030504040204" pitchFamily="34" charset="-120"/>
                        </a:rPr>
                        <a:t>玉山</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050" b="0" dirty="0">
                          <a:latin typeface="微軟正黑體" panose="020B0604030504040204" pitchFamily="34" charset="-120"/>
                          <a:ea typeface="微軟正黑體" panose="020B0604030504040204" pitchFamily="34" charset="-120"/>
                        </a:rPr>
                        <a:t>38.97</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27185622"/>
                  </a:ext>
                </a:extLst>
              </a:tr>
            </a:tbl>
          </a:graphicData>
        </a:graphic>
      </p:graphicFrame>
      <p:graphicFrame>
        <p:nvGraphicFramePr>
          <p:cNvPr id="13" name="表格 12">
            <a:extLst>
              <a:ext uri="{FF2B5EF4-FFF2-40B4-BE49-F238E27FC236}">
                <a16:creationId xmlns:a16="http://schemas.microsoft.com/office/drawing/2014/main" id="{E3A2C76D-77F6-456A-22E9-DBA24FC2746B}"/>
              </a:ext>
            </a:extLst>
          </p:cNvPr>
          <p:cNvGraphicFramePr>
            <a:graphicFrameLocks noGrp="1"/>
          </p:cNvGraphicFramePr>
          <p:nvPr>
            <p:extLst>
              <p:ext uri="{D42A27DB-BD31-4B8C-83A1-F6EECF244321}">
                <p14:modId xmlns:p14="http://schemas.microsoft.com/office/powerpoint/2010/main" val="1100853144"/>
              </p:ext>
            </p:extLst>
          </p:nvPr>
        </p:nvGraphicFramePr>
        <p:xfrm>
          <a:off x="6056838" y="3226129"/>
          <a:ext cx="2895776" cy="1404015"/>
        </p:xfrm>
        <a:graphic>
          <a:graphicData uri="http://schemas.openxmlformats.org/drawingml/2006/table">
            <a:tbl>
              <a:tblPr/>
              <a:tblGrid>
                <a:gridCol w="323586">
                  <a:extLst>
                    <a:ext uri="{9D8B030D-6E8A-4147-A177-3AD203B41FA5}">
                      <a16:colId xmlns:a16="http://schemas.microsoft.com/office/drawing/2014/main" val="4140024962"/>
                    </a:ext>
                  </a:extLst>
                </a:gridCol>
                <a:gridCol w="770788">
                  <a:extLst>
                    <a:ext uri="{9D8B030D-6E8A-4147-A177-3AD203B41FA5}">
                      <a16:colId xmlns:a16="http://schemas.microsoft.com/office/drawing/2014/main" val="1178822676"/>
                    </a:ext>
                  </a:extLst>
                </a:gridCol>
                <a:gridCol w="1038961">
                  <a:extLst>
                    <a:ext uri="{9D8B030D-6E8A-4147-A177-3AD203B41FA5}">
                      <a16:colId xmlns:a16="http://schemas.microsoft.com/office/drawing/2014/main" val="3355691668"/>
                    </a:ext>
                  </a:extLst>
                </a:gridCol>
                <a:gridCol w="762441">
                  <a:extLst>
                    <a:ext uri="{9D8B030D-6E8A-4147-A177-3AD203B41FA5}">
                      <a16:colId xmlns:a16="http://schemas.microsoft.com/office/drawing/2014/main" val="1226053389"/>
                    </a:ext>
                  </a:extLst>
                </a:gridCol>
              </a:tblGrid>
              <a:tr h="231729">
                <a:tc>
                  <a:txBody>
                    <a:bodyPr/>
                    <a:lstStyle/>
                    <a:p>
                      <a:pPr algn="ctr">
                        <a:buNone/>
                      </a:pPr>
                      <a:r>
                        <a:rPr lang="en-US" altLang="zh-TW" sz="1050" b="1" dirty="0">
                          <a:latin typeface="微軟正黑體" panose="020B0604030504040204" pitchFamily="34" charset="-120"/>
                          <a:ea typeface="微軟正黑體" panose="020B0604030504040204" pitchFamily="34" charset="-120"/>
                        </a:rPr>
                        <a:t>NO.</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a:buNone/>
                      </a:pPr>
                      <a:r>
                        <a:rPr lang="zh-TW" altLang="en-US" sz="1050" b="1" dirty="0">
                          <a:latin typeface="微軟正黑體" panose="020B0604030504040204" pitchFamily="34" charset="-120"/>
                          <a:ea typeface="微軟正黑體" panose="020B0604030504040204" pitchFamily="34" charset="-120"/>
                        </a:rPr>
                        <a:t>國銀</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a:buNone/>
                      </a:pPr>
                      <a:r>
                        <a:rPr lang="zh-TW" altLang="en-US" sz="1050" b="1" dirty="0">
                          <a:latin typeface="微軟正黑體" panose="020B0604030504040204" pitchFamily="34" charset="-120"/>
                          <a:ea typeface="微軟正黑體" panose="020B0604030504040204" pitchFamily="34" charset="-120"/>
                        </a:rPr>
                        <a:t>放款總額</a:t>
                      </a:r>
                      <a:r>
                        <a:rPr lang="en-US" altLang="zh-TW" sz="1050" b="1" dirty="0">
                          <a:latin typeface="微軟正黑體" panose="020B0604030504040204" pitchFamily="34" charset="-120"/>
                          <a:ea typeface="微軟正黑體" panose="020B0604030504040204" pitchFamily="34" charset="-120"/>
                        </a:rPr>
                        <a:t>(</a:t>
                      </a:r>
                      <a:r>
                        <a:rPr lang="zh-TW" altLang="en-US" sz="1050" b="1" dirty="0">
                          <a:latin typeface="微軟正黑體" panose="020B0604030504040204" pitchFamily="34" charset="-120"/>
                          <a:ea typeface="微軟正黑體" panose="020B0604030504040204" pitchFamily="34" charset="-120"/>
                        </a:rPr>
                        <a:t>億元</a:t>
                      </a:r>
                      <a:r>
                        <a:rPr lang="en-US" altLang="zh-TW" sz="1050" b="1" dirty="0">
                          <a:latin typeface="微軟正黑體" panose="020B0604030504040204" pitchFamily="34" charset="-120"/>
                          <a:ea typeface="微軟正黑體" panose="020B0604030504040204" pitchFamily="34" charset="-120"/>
                        </a:rPr>
                        <a:t>)</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a:buNone/>
                      </a:pPr>
                      <a:r>
                        <a:rPr lang="zh-TW" altLang="en-US" sz="1050" b="1" dirty="0">
                          <a:latin typeface="微軟正黑體" panose="020B0604030504040204" pitchFamily="34" charset="-120"/>
                          <a:ea typeface="微軟正黑體" panose="020B0604030504040204" pitchFamily="34" charset="-120"/>
                        </a:rPr>
                        <a:t>占比</a:t>
                      </a:r>
                      <a:r>
                        <a:rPr lang="en-US" altLang="zh-TW" sz="1050" b="1" dirty="0">
                          <a:latin typeface="微軟正黑體" panose="020B0604030504040204" pitchFamily="34" charset="-120"/>
                          <a:ea typeface="微軟正黑體" panose="020B0604030504040204" pitchFamily="34" charset="-120"/>
                        </a:rPr>
                        <a:t>(%)</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286020830"/>
                  </a:ext>
                </a:extLst>
              </a:tr>
              <a:tr h="195381">
                <a:tc>
                  <a:txBody>
                    <a:bodyPr/>
                    <a:lstStyle/>
                    <a:p>
                      <a:pPr algn="ctr">
                        <a:buNone/>
                      </a:pPr>
                      <a:r>
                        <a:rPr lang="en-US" altLang="zh-TW" sz="1050" b="0">
                          <a:latin typeface="微軟正黑體" panose="020B0604030504040204" pitchFamily="34" charset="-120"/>
                          <a:ea typeface="微軟正黑體" panose="020B0604030504040204" pitchFamily="34" charset="-120"/>
                        </a:rPr>
                        <a:t>1</a:t>
                      </a:r>
                      <a:endParaRPr lang="zh-TW" altLang="en-US" sz="1050" b="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zh-TW" altLang="en-US" sz="1050" b="0" dirty="0">
                          <a:latin typeface="微軟正黑體" panose="020B0604030504040204" pitchFamily="34" charset="-120"/>
                          <a:ea typeface="微軟正黑體" panose="020B0604030504040204" pitchFamily="34" charset="-120"/>
                        </a:rPr>
                        <a:t>一銀</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050" b="0" dirty="0">
                          <a:latin typeface="微軟正黑體" panose="020B0604030504040204" pitchFamily="34" charset="-120"/>
                          <a:ea typeface="微軟正黑體" panose="020B0604030504040204" pitchFamily="34" charset="-120"/>
                        </a:rPr>
                        <a:t>10,133</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050" b="0" dirty="0">
                          <a:latin typeface="微軟正黑體" panose="020B0604030504040204" pitchFamily="34" charset="-120"/>
                          <a:ea typeface="微軟正黑體" panose="020B0604030504040204" pitchFamily="34" charset="-120"/>
                        </a:rPr>
                        <a:t>9.3</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76262107"/>
                  </a:ext>
                </a:extLst>
              </a:tr>
              <a:tr h="195381">
                <a:tc>
                  <a:txBody>
                    <a:bodyPr/>
                    <a:lstStyle/>
                    <a:p>
                      <a:pPr algn="ctr">
                        <a:buNone/>
                      </a:pPr>
                      <a:r>
                        <a:rPr lang="en-US" altLang="zh-TW" sz="1050" b="0">
                          <a:latin typeface="微軟正黑體" panose="020B0604030504040204" pitchFamily="34" charset="-120"/>
                          <a:ea typeface="微軟正黑體" panose="020B0604030504040204" pitchFamily="34" charset="-120"/>
                        </a:rPr>
                        <a:t>2</a:t>
                      </a:r>
                      <a:endParaRPr lang="zh-TW" altLang="en-US" sz="1050" b="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zh-TW" altLang="en-US" sz="1050" b="0" dirty="0">
                          <a:latin typeface="微軟正黑體" panose="020B0604030504040204" pitchFamily="34" charset="-120"/>
                          <a:ea typeface="微軟正黑體" panose="020B0604030504040204" pitchFamily="34" charset="-120"/>
                        </a:rPr>
                        <a:t>合庫</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050" b="0" dirty="0">
                          <a:latin typeface="微軟正黑體" panose="020B0604030504040204" pitchFamily="34" charset="-120"/>
                          <a:ea typeface="微軟正黑體" panose="020B0604030504040204" pitchFamily="34" charset="-120"/>
                        </a:rPr>
                        <a:t>8,539</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050" b="0" dirty="0">
                          <a:latin typeface="微軟正黑體" panose="020B0604030504040204" pitchFamily="34" charset="-120"/>
                          <a:ea typeface="微軟正黑體" panose="020B0604030504040204" pitchFamily="34" charset="-120"/>
                        </a:rPr>
                        <a:t>7.8</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593700836"/>
                  </a:ext>
                </a:extLst>
              </a:tr>
              <a:tr h="195381">
                <a:tc>
                  <a:txBody>
                    <a:bodyPr/>
                    <a:lstStyle/>
                    <a:p>
                      <a:pPr algn="ctr">
                        <a:buNone/>
                      </a:pPr>
                      <a:r>
                        <a:rPr lang="en-US" altLang="zh-TW" sz="1050" b="0" dirty="0">
                          <a:latin typeface="微軟正黑體" panose="020B0604030504040204" pitchFamily="34" charset="-120"/>
                          <a:ea typeface="微軟正黑體" panose="020B0604030504040204" pitchFamily="34" charset="-120"/>
                        </a:rPr>
                        <a:t>3</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zh-TW" altLang="en-US" sz="1050" b="0" i="0" dirty="0">
                          <a:latin typeface="微軟正黑體" panose="020B0604030504040204" pitchFamily="34" charset="-120"/>
                          <a:ea typeface="微軟正黑體" panose="020B0604030504040204" pitchFamily="34" charset="-120"/>
                        </a:rPr>
                        <a:t>台企銀</a:t>
                      </a:r>
                      <a:endParaRPr lang="en-US" sz="1050" b="0" i="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050" b="0" dirty="0">
                          <a:latin typeface="微軟正黑體" panose="020B0604030504040204" pitchFamily="34" charset="-120"/>
                          <a:ea typeface="微軟正黑體" panose="020B0604030504040204" pitchFamily="34" charset="-120"/>
                        </a:rPr>
                        <a:t>8,199</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050" b="0" dirty="0">
                          <a:latin typeface="微軟正黑體" panose="020B0604030504040204" pitchFamily="34" charset="-120"/>
                          <a:ea typeface="微軟正黑體" panose="020B0604030504040204" pitchFamily="34" charset="-120"/>
                        </a:rPr>
                        <a:t>7.5</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18983443"/>
                  </a:ext>
                </a:extLst>
              </a:tr>
              <a:tr h="195381">
                <a:tc>
                  <a:txBody>
                    <a:bodyPr/>
                    <a:lstStyle/>
                    <a:p>
                      <a:pPr algn="ctr">
                        <a:buNone/>
                      </a:pPr>
                      <a:r>
                        <a:rPr lang="en-US" altLang="zh-TW" sz="1050" b="0" dirty="0">
                          <a:latin typeface="微軟正黑體" panose="020B0604030504040204" pitchFamily="34" charset="-120"/>
                          <a:ea typeface="微軟正黑體" panose="020B0604030504040204" pitchFamily="34" charset="-120"/>
                        </a:rPr>
                        <a:t>4</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zh-TW" altLang="en-US" sz="1050" b="0" dirty="0">
                          <a:latin typeface="微軟正黑體" panose="020B0604030504040204" pitchFamily="34" charset="-120"/>
                          <a:ea typeface="微軟正黑體" panose="020B0604030504040204" pitchFamily="34" charset="-120"/>
                        </a:rPr>
                        <a:t>華南</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050" b="0" dirty="0">
                          <a:latin typeface="微軟正黑體" panose="020B0604030504040204" pitchFamily="34" charset="-120"/>
                          <a:ea typeface="微軟正黑體" panose="020B0604030504040204" pitchFamily="34" charset="-120"/>
                        </a:rPr>
                        <a:t>7,638</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050" b="0" dirty="0">
                          <a:latin typeface="微軟正黑體" panose="020B0604030504040204" pitchFamily="34" charset="-120"/>
                          <a:ea typeface="微軟正黑體" panose="020B0604030504040204" pitchFamily="34" charset="-120"/>
                        </a:rPr>
                        <a:t>7.0</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82756970"/>
                  </a:ext>
                </a:extLst>
              </a:tr>
              <a:tr h="195381">
                <a:tc>
                  <a:txBody>
                    <a:bodyPr/>
                    <a:lstStyle/>
                    <a:p>
                      <a:pPr algn="ctr">
                        <a:buNone/>
                      </a:pPr>
                      <a:r>
                        <a:rPr lang="en-US" altLang="zh-TW" sz="1050" b="0" dirty="0">
                          <a:latin typeface="微軟正黑體" panose="020B0604030504040204" pitchFamily="34" charset="-120"/>
                          <a:ea typeface="微軟正黑體" panose="020B0604030504040204" pitchFamily="34" charset="-120"/>
                        </a:rPr>
                        <a:t>5</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zh-TW" altLang="en-US" sz="1050" b="0" dirty="0">
                          <a:latin typeface="微軟正黑體" panose="020B0604030504040204" pitchFamily="34" charset="-120"/>
                          <a:ea typeface="微軟正黑體" panose="020B0604030504040204" pitchFamily="34" charset="-120"/>
                        </a:rPr>
                        <a:t>兆豐</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050" b="0" dirty="0">
                          <a:latin typeface="微軟正黑體" panose="020B0604030504040204" pitchFamily="34" charset="-120"/>
                          <a:ea typeface="微軟正黑體" panose="020B0604030504040204" pitchFamily="34" charset="-120"/>
                        </a:rPr>
                        <a:t>7,425</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050" b="0" dirty="0">
                          <a:latin typeface="微軟正黑體" panose="020B0604030504040204" pitchFamily="34" charset="-120"/>
                          <a:ea typeface="微軟正黑體" panose="020B0604030504040204" pitchFamily="34" charset="-120"/>
                        </a:rPr>
                        <a:t>6.8</a:t>
                      </a:r>
                      <a:endParaRPr lang="zh-TW" altLang="en-US" sz="1050" b="0" dirty="0">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27185622"/>
                  </a:ext>
                </a:extLst>
              </a:tr>
              <a:tr h="195381">
                <a:tc>
                  <a:txBody>
                    <a:bodyPr/>
                    <a:lstStyle/>
                    <a:p>
                      <a:pPr algn="ctr">
                        <a:buNone/>
                      </a:pPr>
                      <a:r>
                        <a:rPr lang="en-US" altLang="zh-TW" sz="1050" b="0" dirty="0">
                          <a:highlight>
                            <a:srgbClr val="FFFF00"/>
                          </a:highlight>
                          <a:latin typeface="微軟正黑體" panose="020B0604030504040204" pitchFamily="34" charset="-120"/>
                          <a:ea typeface="微軟正黑體" panose="020B0604030504040204" pitchFamily="34" charset="-120"/>
                        </a:rPr>
                        <a:t>11</a:t>
                      </a:r>
                      <a:endParaRPr lang="zh-TW" altLang="en-US" sz="1050" b="0" dirty="0">
                        <a:highlight>
                          <a:srgbClr val="FFFF00"/>
                        </a:highlight>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zh-TW" altLang="en-US" sz="1050" b="0" dirty="0">
                          <a:highlight>
                            <a:srgbClr val="FFFF00"/>
                          </a:highlight>
                          <a:latin typeface="微軟正黑體" panose="020B0604030504040204" pitchFamily="34" charset="-120"/>
                          <a:ea typeface="微軟正黑體" panose="020B0604030504040204" pitchFamily="34" charset="-120"/>
                        </a:rPr>
                        <a:t>永豐</a:t>
                      </a: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050" b="0" dirty="0">
                          <a:highlight>
                            <a:srgbClr val="FFFF00"/>
                          </a:highlight>
                          <a:latin typeface="微軟正黑體" panose="020B0604030504040204" pitchFamily="34" charset="-120"/>
                          <a:ea typeface="微軟正黑體" panose="020B0604030504040204" pitchFamily="34" charset="-120"/>
                        </a:rPr>
                        <a:t>4,507</a:t>
                      </a:r>
                      <a:endParaRPr lang="zh-TW" altLang="en-US" sz="1050" b="0" dirty="0">
                        <a:highlight>
                          <a:srgbClr val="FFFF00"/>
                        </a:highlight>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buNone/>
                      </a:pPr>
                      <a:r>
                        <a:rPr lang="en-US" altLang="zh-TW" sz="1050" b="0" dirty="0">
                          <a:highlight>
                            <a:srgbClr val="FFFF00"/>
                          </a:highlight>
                          <a:latin typeface="微軟正黑體" panose="020B0604030504040204" pitchFamily="34" charset="-120"/>
                          <a:ea typeface="微軟正黑體" panose="020B0604030504040204" pitchFamily="34" charset="-120"/>
                        </a:rPr>
                        <a:t>4.1</a:t>
                      </a:r>
                      <a:endParaRPr lang="zh-TW" altLang="en-US" sz="1050" b="0" dirty="0">
                        <a:highlight>
                          <a:srgbClr val="FFFF00"/>
                        </a:highlight>
                        <a:latin typeface="微軟正黑體" panose="020B0604030504040204" pitchFamily="34" charset="-120"/>
                        <a:ea typeface="微軟正黑體" panose="020B0604030504040204" pitchFamily="34" charset="-120"/>
                      </a:endParaRPr>
                    </a:p>
                  </a:txBody>
                  <a:tcPr marL="31065" marR="31065" marT="15532" marB="15532"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488539833"/>
                  </a:ext>
                </a:extLst>
              </a:tr>
            </a:tbl>
          </a:graphicData>
        </a:graphic>
      </p:graphicFrame>
      <p:graphicFrame>
        <p:nvGraphicFramePr>
          <p:cNvPr id="14" name="圖表 13">
            <a:extLst>
              <a:ext uri="{FF2B5EF4-FFF2-40B4-BE49-F238E27FC236}">
                <a16:creationId xmlns:a16="http://schemas.microsoft.com/office/drawing/2014/main" id="{CE517299-BE52-EBB3-CBC4-6278A9DD0211}"/>
              </a:ext>
            </a:extLst>
          </p:cNvPr>
          <p:cNvGraphicFramePr>
            <a:graphicFrameLocks/>
          </p:cNvGraphicFramePr>
          <p:nvPr>
            <p:extLst>
              <p:ext uri="{D42A27DB-BD31-4B8C-83A1-F6EECF244321}">
                <p14:modId xmlns:p14="http://schemas.microsoft.com/office/powerpoint/2010/main" val="1314703872"/>
              </p:ext>
            </p:extLst>
          </p:nvPr>
        </p:nvGraphicFramePr>
        <p:xfrm>
          <a:off x="6010275" y="4679699"/>
          <a:ext cx="5759999" cy="194618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7321884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EBE7793-7312-FE65-969E-21EF5B68862E}"/>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4371D501-1532-2806-6400-2DD9CAC775EF}"/>
              </a:ext>
            </a:extLst>
          </p:cNvPr>
          <p:cNvSpPr txBox="1"/>
          <p:nvPr/>
        </p:nvSpPr>
        <p:spPr>
          <a:xfrm>
            <a:off x="311919" y="314805"/>
            <a:ext cx="6120779" cy="396919"/>
          </a:xfrm>
          <a:prstGeom prst="rect">
            <a:avLst/>
          </a:prstGeom>
          <a:solidFill>
            <a:schemeClr val="accent3">
              <a:lumMod val="20000"/>
              <a:lumOff val="80000"/>
            </a:schemeClr>
          </a:solidFill>
          <a:ln w="6350" cap="flat" cmpd="sng" algn="ctr">
            <a:solidFill>
              <a:schemeClr val="accent3">
                <a:lumMod val="20000"/>
                <a:lumOff val="80000"/>
              </a:schemeClr>
            </a:solidFill>
            <a:prstDash val="solid"/>
            <a:miter lim="800000"/>
          </a:ln>
          <a:effectLst/>
        </p:spPr>
        <p:txBody>
          <a:bodyPr wrap="square">
            <a:noAutofit/>
          </a:bodyPr>
          <a:lstStyle>
            <a:defPPr>
              <a:defRPr lang="en-US"/>
            </a:defPPr>
            <a:lvl1pPr marR="0" lvl="0" indent="0">
              <a:lnSpc>
                <a:spcPct val="100000"/>
              </a:lnSpc>
              <a:spcBef>
                <a:spcPts val="0"/>
              </a:spcBef>
              <a:spcAft>
                <a:spcPts val="0"/>
              </a:spcAft>
              <a:buClrTx/>
              <a:buSzTx/>
              <a:buFontTx/>
              <a:buNone/>
              <a:tabLst/>
              <a:defRPr kumimoji="0" sz="2000" i="0" u="none" strike="noStrike" cap="none" spc="0" normalizeH="0" baseline="0">
                <a:ln>
                  <a:noFill/>
                </a:ln>
                <a:effectLst/>
                <a:uLnTx/>
                <a:uFillTx/>
                <a:latin typeface="微軟正黑體" panose="020B0604030504040204" pitchFamily="34" charset="-120"/>
                <a:ea typeface="微軟正黑體" panose="020B0604030504040204" pitchFamily="34" charset="-120"/>
              </a:defRPr>
            </a:lvl1pPr>
          </a:lstStyle>
          <a:p>
            <a:pPr algn="l" fontAlgn="base"/>
            <a:r>
              <a:rPr lang="zh-TW" altLang="en-US" b="1" i="0" dirty="0">
                <a:solidFill>
                  <a:srgbClr val="303030"/>
                </a:solidFill>
                <a:effectLst/>
              </a:rPr>
              <a:t>免盯匯率！台新銀行換日圓、澳幣、歐元天天都優惠</a:t>
            </a:r>
          </a:p>
        </p:txBody>
      </p:sp>
      <p:sp>
        <p:nvSpPr>
          <p:cNvPr id="2" name="文字方塊 1">
            <a:extLst>
              <a:ext uri="{FF2B5EF4-FFF2-40B4-BE49-F238E27FC236}">
                <a16:creationId xmlns:a16="http://schemas.microsoft.com/office/drawing/2014/main" id="{0DF32E4F-2274-5EB5-D788-A07EB0345D08}"/>
              </a:ext>
            </a:extLst>
          </p:cNvPr>
          <p:cNvSpPr txBox="1"/>
          <p:nvPr/>
        </p:nvSpPr>
        <p:spPr>
          <a:xfrm>
            <a:off x="144000" y="864000"/>
            <a:ext cx="5760000" cy="5471486"/>
          </a:xfrm>
          <a:prstGeom prst="rect">
            <a:avLst/>
          </a:prstGeom>
          <a:solidFill>
            <a:sysClr val="window" lastClr="FFFFFF"/>
          </a:solidFill>
          <a:ln w="12700" cap="flat" cmpd="sng" algn="ctr">
            <a:solidFill>
              <a:schemeClr val="accent3">
                <a:lumMod val="75000"/>
              </a:schemeClr>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TW" altLang="en-US" b="0" dirty="0"/>
              <a:t>隨著春季旅遊旺季到來，三月日本櫻花季與四月歐洲、澳洲旅遊需求逐步升溫，不少民眾開始規劃出國行程。</a:t>
            </a:r>
            <a:r>
              <a:rPr lang="zh-TW" altLang="en-US" dirty="0">
                <a:solidFill>
                  <a:srgbClr val="C00000"/>
                </a:solidFill>
              </a:rPr>
              <a:t>為協助民眾提前準備旅遊外幣，台新銀行自</a:t>
            </a:r>
            <a:r>
              <a:rPr lang="en-US" altLang="zh-TW" dirty="0">
                <a:solidFill>
                  <a:srgbClr val="C00000"/>
                </a:solidFill>
              </a:rPr>
              <a:t>3</a:t>
            </a:r>
            <a:r>
              <a:rPr lang="zh-TW" altLang="en-US" dirty="0">
                <a:solidFill>
                  <a:srgbClr val="C00000"/>
                </a:solidFill>
              </a:rPr>
              <a:t>月</a:t>
            </a:r>
            <a:r>
              <a:rPr lang="en-US" altLang="zh-TW" dirty="0">
                <a:solidFill>
                  <a:srgbClr val="C00000"/>
                </a:solidFill>
              </a:rPr>
              <a:t>16</a:t>
            </a:r>
            <a:r>
              <a:rPr lang="zh-TW" altLang="en-US" dirty="0">
                <a:solidFill>
                  <a:srgbClr val="C00000"/>
                </a:solidFill>
              </a:rPr>
              <a:t>日至</a:t>
            </a:r>
            <a:r>
              <a:rPr lang="en-US" altLang="zh-TW" dirty="0">
                <a:solidFill>
                  <a:srgbClr val="C00000"/>
                </a:solidFill>
              </a:rPr>
              <a:t>4</a:t>
            </a:r>
            <a:r>
              <a:rPr lang="zh-TW" altLang="en-US" dirty="0">
                <a:solidFill>
                  <a:srgbClr val="C00000"/>
                </a:solidFill>
              </a:rPr>
              <a:t>月</a:t>
            </a:r>
            <a:r>
              <a:rPr lang="en-US" altLang="zh-TW" dirty="0">
                <a:solidFill>
                  <a:srgbClr val="C00000"/>
                </a:solidFill>
              </a:rPr>
              <a:t>30</a:t>
            </a:r>
            <a:r>
              <a:rPr lang="zh-TW" altLang="en-US" dirty="0">
                <a:solidFill>
                  <a:srgbClr val="C00000"/>
                </a:solidFill>
              </a:rPr>
              <a:t>日推出外幣換匯限時加碼優惠，讓民眾天天換匯、天天有優惠</a:t>
            </a:r>
            <a:r>
              <a:rPr lang="zh-TW" altLang="en-US" b="0" dirty="0"/>
              <a:t>！</a:t>
            </a:r>
          </a:p>
          <a:p>
            <a:r>
              <a:rPr lang="zh-TW" altLang="en-US" b="0" dirty="0"/>
              <a:t>台新銀行表示，</a:t>
            </a:r>
            <a:r>
              <a:rPr lang="zh-TW" altLang="en-US" dirty="0">
                <a:solidFill>
                  <a:srgbClr val="0070C0"/>
                </a:solidFill>
              </a:rPr>
              <a:t>因應春季旅遊需求增加回饋廣大客戶，民眾可於活動期間每個營業日透過台新銀行網路銀行、行動銀行，以新臺幣兌換日圓、澳幣或歐元，享匯率減分優惠，讓出國規劃旅費更具彈性與效率</a:t>
            </a:r>
            <a:r>
              <a:rPr lang="zh-TW" altLang="en-US" b="0" dirty="0"/>
              <a:t>。</a:t>
            </a:r>
          </a:p>
          <a:p>
            <a:r>
              <a:rPr lang="zh-TW" altLang="en-US" b="0" dirty="0"/>
              <a:t>匯市方面，</a:t>
            </a:r>
            <a:r>
              <a:rPr lang="zh-TW" altLang="en-US" dirty="0">
                <a:solidFill>
                  <a:srgbClr val="0070C0"/>
                </a:solidFill>
              </a:rPr>
              <a:t>目前日圓匯率又來到相對低檔水位，市場分析日本央行未來可能有升息規劃，代表便宜日圓未來出現的機率可能下降，民眾不妨可趁此機會多儲備一些日圓</a:t>
            </a:r>
            <a:r>
              <a:rPr lang="zh-TW" altLang="en-US" b="0" dirty="0"/>
              <a:t>，為接下來的櫻花祭、楓葉季、溫泉季準備。以換匯日圓</a:t>
            </a:r>
            <a:r>
              <a:rPr lang="en-US" altLang="zh-TW" b="0" dirty="0"/>
              <a:t>50</a:t>
            </a:r>
            <a:r>
              <a:rPr lang="zh-TW" altLang="en-US" b="0" dirty="0"/>
              <a:t>萬元舉例，透過台新銀行換匯活動，約可省下日圓</a:t>
            </a:r>
            <a:r>
              <a:rPr lang="en-US" altLang="zh-TW" b="0" dirty="0"/>
              <a:t>1,600</a:t>
            </a:r>
            <a:r>
              <a:rPr lang="zh-TW" altLang="en-US" b="0" dirty="0"/>
              <a:t>元，相當於一碗暖心又美味的日本拉麵！</a:t>
            </a:r>
            <a:r>
              <a:rPr lang="zh-TW" altLang="en-US" dirty="0">
                <a:solidFill>
                  <a:srgbClr val="0070C0"/>
                </a:solidFill>
              </a:rPr>
              <a:t>澳幣及歐元的價位雖沒有日圓來得甜蜜，市場仍期待澳洲央行升息，帶動後續澳幣走勢。若有澳洲留學、歐洲旅遊規劃或期待澳幣升值帶來獲利的民眾，可趁優惠活動多多換匯，提前布局</a:t>
            </a:r>
            <a:r>
              <a:rPr lang="zh-TW" altLang="en-US" b="0" dirty="0"/>
              <a:t>。</a:t>
            </a:r>
          </a:p>
          <a:p>
            <a:r>
              <a:rPr lang="zh-TW" altLang="en-US" b="0" dirty="0"/>
              <a:t> </a:t>
            </a:r>
          </a:p>
          <a:p>
            <a:pPr fontAlgn="auto">
              <a:spcBef>
                <a:spcPts val="300"/>
              </a:spcBef>
              <a:spcAft>
                <a:spcPts val="0"/>
              </a:spcAft>
            </a:pPr>
            <a:endParaRPr lang="zh-TW" altLang="en-US" b="0" dirty="0">
              <a:solidFill>
                <a:prstClr val="black"/>
              </a:solidFill>
            </a:endParaRPr>
          </a:p>
          <a:p>
            <a:pPr fontAlgn="auto">
              <a:spcBef>
                <a:spcPts val="300"/>
              </a:spcBef>
              <a:spcAft>
                <a:spcPts val="0"/>
              </a:spcAft>
            </a:pPr>
            <a:endParaRPr lang="zh-TW" altLang="en-US" b="0" dirty="0">
              <a:solidFill>
                <a:prstClr val="black"/>
              </a:solidFill>
            </a:endParaRPr>
          </a:p>
        </p:txBody>
      </p:sp>
      <p:sp>
        <p:nvSpPr>
          <p:cNvPr id="4" name="文字方塊 3">
            <a:extLst>
              <a:ext uri="{FF2B5EF4-FFF2-40B4-BE49-F238E27FC236}">
                <a16:creationId xmlns:a16="http://schemas.microsoft.com/office/drawing/2014/main" id="{0FED2438-20CC-672A-37A7-302074ECB5D5}"/>
              </a:ext>
            </a:extLst>
          </p:cNvPr>
          <p:cNvSpPr txBox="1"/>
          <p:nvPr/>
        </p:nvSpPr>
        <p:spPr>
          <a:xfrm>
            <a:off x="6048000" y="864003"/>
            <a:ext cx="5760000" cy="1974889"/>
          </a:xfrm>
          <a:prstGeom prst="rect">
            <a:avLst/>
          </a:prstGeom>
          <a:solidFill>
            <a:sysClr val="window" lastClr="FFFFFF"/>
          </a:solidFill>
          <a:ln w="12700" cap="flat" cmpd="sng" algn="ctr">
            <a:solidFill>
              <a:schemeClr val="accent3">
                <a:lumMod val="75000"/>
              </a:schemeClr>
            </a:solidFill>
            <a:prstDash val="solid"/>
            <a:miter lim="800000"/>
          </a:ln>
          <a:effectLst/>
        </p:spPr>
        <p:txBody>
          <a:bodyPr wrap="square" lIns="36000" tIns="36000" rIns="36000" bIns="36000" anchor="t">
            <a:noAutofit/>
          </a:bodyPr>
          <a:lstStyle>
            <a:defPPr>
              <a:defRPr lang="zh-TW"/>
            </a:defPPr>
            <a:lvl1pPr algn="just" fontAlgn="base">
              <a:lnSpc>
                <a:spcPct val="150000"/>
              </a:lnSpc>
              <a:defRPr sz="1400">
                <a:solidFill>
                  <a:srgbClr val="000000"/>
                </a:solidFill>
                <a:latin typeface="微軟正黑體" panose="020B0604030504040204" pitchFamily="34" charset="-120"/>
                <a:ea typeface="微軟正黑體" panose="020B0604030504040204" pitchFamily="34" charset="-12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TW" altLang="en-US" b="0" dirty="0"/>
              <a:t>台新銀行進一步指出，透過數位化外匯服務搭配換匯優惠，民眾不僅可享有更優惠的換匯價格，也能更便利地管理外幣資金，從容迎接春季海外旅遊熱潮。另</a:t>
            </a:r>
            <a:r>
              <a:rPr lang="zh-TW" altLang="en-US" dirty="0">
                <a:solidFill>
                  <a:srgbClr val="0070C0"/>
                </a:solidFill>
              </a:rPr>
              <a:t>建議民眾善用數位金融工具，例如透過行動銀行設定外幣匯率到價通知或匯率高低點推播，即可即時掌握匯率變化；同時也可利用定期定額預約換匯服務，透過分批自動換匯方式平均成本，更輕鬆規劃海外旅遊資金</a:t>
            </a:r>
            <a:r>
              <a:rPr lang="zh-TW" altLang="en-US" b="0" dirty="0"/>
              <a:t>。</a:t>
            </a:r>
          </a:p>
        </p:txBody>
      </p:sp>
      <p:sp>
        <p:nvSpPr>
          <p:cNvPr id="11" name="矩形 10">
            <a:extLst>
              <a:ext uri="{FF2B5EF4-FFF2-40B4-BE49-F238E27FC236}">
                <a16:creationId xmlns:a16="http://schemas.microsoft.com/office/drawing/2014/main" id="{20ED9121-7FD7-3603-05D9-9F235EE38C18}"/>
              </a:ext>
            </a:extLst>
          </p:cNvPr>
          <p:cNvSpPr/>
          <p:nvPr/>
        </p:nvSpPr>
        <p:spPr>
          <a:xfrm>
            <a:off x="6432698" y="469730"/>
            <a:ext cx="2071401"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Arial" panose="020B0604020202020204" pitchFamily="34" charset="0"/>
                <a:ea typeface="微軟正黑體" panose="020B0604030504040204" pitchFamily="34" charset="-120"/>
                <a:cs typeface="+mn-cs"/>
              </a:rPr>
              <a:t>2026/03/23</a:t>
            </a:r>
            <a:r>
              <a:rPr kumimoji="0" lang="zh-TW" altLang="en-US" sz="1200" b="0" i="0" u="none" strike="noStrike" kern="1200" cap="none" spc="0" normalizeH="0" baseline="0" noProof="0" dirty="0">
                <a:ln>
                  <a:noFill/>
                </a:ln>
                <a:solidFill>
                  <a:prstClr val="black"/>
                </a:solidFill>
                <a:effectLst/>
                <a:uLnTx/>
                <a:uFillTx/>
                <a:latin typeface="Arial" panose="020B0604020202020204" pitchFamily="34" charset="0"/>
                <a:ea typeface="微軟正黑體" panose="020B0604030504040204" pitchFamily="34" charset="-120"/>
                <a:cs typeface="+mn-cs"/>
              </a:rPr>
              <a:t> 台新銀行新聞稿</a:t>
            </a:r>
          </a:p>
        </p:txBody>
      </p:sp>
    </p:spTree>
    <p:extLst>
      <p:ext uri="{BB962C8B-B14F-4D97-AF65-F5344CB8AC3E}">
        <p14:creationId xmlns:p14="http://schemas.microsoft.com/office/powerpoint/2010/main" val="2695678900"/>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4478&quot;/&gt;&lt;partner val=&quot;536&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 val=&quot;.&quot;&gt;.&lt;/m_chDecimalSymbol&gt;&lt;m_nGroupingDigits val=&quot;3&quot;/&gt;&lt;m_chGroupingSymbol val=&quot;,&quot;&gt;,&lt;/m_chGroupingSymbol&gt;&lt;/m_precDefault&gt;&lt;/CDefaultPrec&gt;&lt;/root&gt;"/>
  <p:tag name="THINKCELLUNDODONOTDELETE" val="1474"/>
</p:tagLst>
</file>

<file path=ppt/theme/theme1.xml><?xml version="1.0" encoding="utf-8"?>
<a:theme xmlns:a="http://schemas.openxmlformats.org/drawingml/2006/main" name="Universal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niversal Template">
      <a:majorFont>
        <a:latin typeface="Arial"/>
        <a:ea typeface=""/>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Universal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niversal Template">
      <a:majorFont>
        <a:latin typeface="Arial"/>
        <a:ea typeface=""/>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34367</TotalTime>
  <Words>6384</Words>
  <Application>Microsoft Office PowerPoint</Application>
  <PresentationFormat>自訂</PresentationFormat>
  <Paragraphs>350</Paragraphs>
  <Slides>11</Slides>
  <Notes>11</Notes>
  <HiddenSlides>3</HiddenSlides>
  <MMClips>0</MMClips>
  <ScaleCrop>false</ScaleCrop>
  <HeadingPairs>
    <vt:vector size="6" baseType="variant">
      <vt:variant>
        <vt:lpstr>使用字型</vt:lpstr>
      </vt:variant>
      <vt:variant>
        <vt:i4>7</vt:i4>
      </vt:variant>
      <vt:variant>
        <vt:lpstr>佈景主題</vt:lpstr>
      </vt:variant>
      <vt:variant>
        <vt:i4>2</vt:i4>
      </vt:variant>
      <vt:variant>
        <vt:lpstr>投影片標題</vt:lpstr>
      </vt:variant>
      <vt:variant>
        <vt:i4>11</vt:i4>
      </vt:variant>
    </vt:vector>
  </HeadingPairs>
  <TitlesOfParts>
    <vt:vector size="20" baseType="lpstr">
      <vt:lpstr>Microsoft YaHei UI</vt:lpstr>
      <vt:lpstr>Noto Sans TC</vt:lpstr>
      <vt:lpstr>system-ui</vt:lpstr>
      <vt:lpstr>微軟正黑體</vt:lpstr>
      <vt:lpstr>Arial</vt:lpstr>
      <vt:lpstr>Times New Roman</vt:lpstr>
      <vt:lpstr>Wingdings</vt:lpstr>
      <vt:lpstr>Universal Template</vt:lpstr>
      <vt:lpstr>1_Universal Template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Corporate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Administrator</dc:creator>
  <cp:keywords>Message Universal Template A4</cp:keywords>
  <dc:description>Version 1.1</dc:description>
  <cp:lastModifiedBy>峻州 李</cp:lastModifiedBy>
  <cp:revision>1903</cp:revision>
  <cp:lastPrinted>2025-11-28T10:18:11Z</cp:lastPrinted>
  <dcterms:created xsi:type="dcterms:W3CDTF">2005-10-04T01:34:02Z</dcterms:created>
  <dcterms:modified xsi:type="dcterms:W3CDTF">2026-04-25T13:39:32Z</dcterms:modified>
  <cp:category>POT - A4</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Universal Objects">
    <vt:bool>true</vt:bool>
  </property>
  <property fmtid="{D5CDD505-2E9C-101B-9397-08002B2CF9AE}" pid="3" name="McKPaperSize">
    <vt:lpwstr>A4</vt:lpwstr>
  </property>
  <property fmtid="{D5CDD505-2E9C-101B-9397-08002B2CF9AE}" pid="4" name="NotesPageLayout">
    <vt:lpwstr>Message</vt:lpwstr>
  </property>
  <property fmtid="{D5CDD505-2E9C-101B-9397-08002B2CF9AE}" pid="5" name="Event">
    <vt:lpwstr>12th Integration Office Meeting</vt:lpwstr>
  </property>
  <property fmtid="{D5CDD505-2E9C-101B-9397-08002B2CF9AE}" pid="6" name="Delivery Date">
    <vt:lpwstr>December 21, 2005</vt:lpwstr>
  </property>
  <property fmtid="{D5CDD505-2E9C-101B-9397-08002B2CF9AE}" pid="7" name="DocIDinTitle">
    <vt:bool>true</vt:bool>
  </property>
  <property fmtid="{D5CDD505-2E9C-101B-9397-08002B2CF9AE}" pid="8" name="DocIDinSlide">
    <vt:bool>true</vt:bool>
  </property>
  <property fmtid="{D5CDD505-2E9C-101B-9397-08002B2CF9AE}" pid="9" name="DocIDPosition">
    <vt:i4>0</vt:i4>
  </property>
  <property fmtid="{D5CDD505-2E9C-101B-9397-08002B2CF9AE}" pid="10" name="DocID">
    <vt:lpwstr>‹footer›</vt:lpwstr>
  </property>
  <property fmtid="{D5CDD505-2E9C-101B-9397-08002B2CF9AE}" pid="11" name="SWOTitle">
    <vt:lpwstr>Open:20051102 STC v6</vt:lpwstr>
  </property>
  <property fmtid="{D5CDD505-2E9C-101B-9397-08002B2CF9AE}" pid="12" name="Title">
    <vt:lpwstr>Title</vt:lpwstr>
  </property>
  <property fmtid="{D5CDD505-2E9C-101B-9397-08002B2CF9AE}" pid="13" name="Final">
    <vt:bool>true</vt:bool>
  </property>
</Properties>
</file>